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42"/>
  </p:notesMasterIdLst>
  <p:sldIdLst>
    <p:sldId id="256" r:id="rId3"/>
    <p:sldId id="4882" r:id="rId4"/>
    <p:sldId id="257" r:id="rId5"/>
    <p:sldId id="4935" r:id="rId6"/>
    <p:sldId id="4934" r:id="rId7"/>
    <p:sldId id="4936" r:id="rId8"/>
    <p:sldId id="4937" r:id="rId9"/>
    <p:sldId id="4938" r:id="rId10"/>
    <p:sldId id="4925" r:id="rId11"/>
    <p:sldId id="4890" r:id="rId12"/>
    <p:sldId id="4897" r:id="rId13"/>
    <p:sldId id="4926" r:id="rId14"/>
    <p:sldId id="4900" r:id="rId15"/>
    <p:sldId id="4901" r:id="rId16"/>
    <p:sldId id="4939" r:id="rId17"/>
    <p:sldId id="4940" r:id="rId18"/>
    <p:sldId id="4907" r:id="rId19"/>
    <p:sldId id="4908" r:id="rId20"/>
    <p:sldId id="4909" r:id="rId21"/>
    <p:sldId id="4910" r:id="rId22"/>
    <p:sldId id="4911" r:id="rId23"/>
    <p:sldId id="4902" r:id="rId24"/>
    <p:sldId id="4912" r:id="rId25"/>
    <p:sldId id="269" r:id="rId26"/>
    <p:sldId id="27910" r:id="rId27"/>
    <p:sldId id="4913" r:id="rId28"/>
    <p:sldId id="275" r:id="rId29"/>
    <p:sldId id="27911" r:id="rId30"/>
    <p:sldId id="27902" r:id="rId31"/>
    <p:sldId id="27900" r:id="rId32"/>
    <p:sldId id="27905" r:id="rId33"/>
    <p:sldId id="27904" r:id="rId34"/>
    <p:sldId id="27906" r:id="rId35"/>
    <p:sldId id="27907" r:id="rId36"/>
    <p:sldId id="27908" r:id="rId37"/>
    <p:sldId id="27909" r:id="rId38"/>
    <p:sldId id="4914" r:id="rId39"/>
    <p:sldId id="4878" r:id="rId40"/>
    <p:sldId id="4906" r:id="rId41"/>
  </p:sldIdLst>
  <p:sldSz cx="18288000" cy="10287000"/>
  <p:notesSz cx="6858000" cy="9144000"/>
  <p:embeddedFontLst>
    <p:embeddedFont>
      <p:font typeface="Aptos Narrow" panose="020B0004020202020204" pitchFamily="34" charset="0"/>
      <p:regular r:id="rId43"/>
      <p:bold r:id="rId44"/>
      <p:italic r:id="rId45"/>
      <p:boldItalic r:id="rId46"/>
    </p:embeddedFont>
    <p:embeddedFont>
      <p:font typeface="Trebuchet MS" panose="020B0603020202020204" pitchFamily="34" charset="0"/>
      <p:regular r:id="rId47"/>
      <p:bold r:id="rId48"/>
      <p:italic r:id="rId49"/>
      <p:boldItalic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D7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7" d="100"/>
          <a:sy n="57" d="100"/>
        </p:scale>
        <p:origin x="483"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3884AB-205F-463F-87C3-F76A7C553793}" type="datetimeFigureOut">
              <a:rPr lang="en-IN" smtClean="0"/>
              <a:t>15/09/26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1E747D-109B-4DF5-94D2-43DD93B5D05D}" type="slidenum">
              <a:rPr lang="en-IN" smtClean="0"/>
              <a:t>‹#›</a:t>
            </a:fld>
            <a:endParaRPr lang="en-IN"/>
          </a:p>
        </p:txBody>
      </p:sp>
    </p:spTree>
    <p:extLst>
      <p:ext uri="{BB962C8B-B14F-4D97-AF65-F5344CB8AC3E}">
        <p14:creationId xmlns:p14="http://schemas.microsoft.com/office/powerpoint/2010/main" val="146256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774A1-2D14-6764-5F4F-E35AD23D4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8B86B-80BF-8D9B-927D-F5B30FDDAB6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07ACF01-D933-C2B6-2129-C63A0E70C14B}"/>
              </a:ext>
            </a:extLst>
          </p:cNvPr>
          <p:cNvSpPr>
            <a:spLocks noGrp="1"/>
          </p:cNvSpPr>
          <p:nvPr>
            <p:ph type="body" idx="1"/>
          </p:nvPr>
        </p:nvSpPr>
        <p:spPr/>
        <p:txBody>
          <a:bodyPr/>
          <a:lstStyle/>
          <a:p>
            <a:r>
              <a:rPr lang="en-US" dirty="0"/>
              <a:t>Keep this slide crisp. The message is: we convert waterproofing from a product choice into an integrated building-envelope strategy.</a:t>
            </a:r>
          </a:p>
        </p:txBody>
      </p:sp>
      <p:sp>
        <p:nvSpPr>
          <p:cNvPr id="4" name="Slide Number Placeholder 3">
            <a:extLst>
              <a:ext uri="{FF2B5EF4-FFF2-40B4-BE49-F238E27FC236}">
                <a16:creationId xmlns:a16="http://schemas.microsoft.com/office/drawing/2014/main" id="{8133D352-572F-4C14-735C-ACD4A50FD3F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3216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FCF42-B8E0-40EE-3D46-C1357FA0B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44785-FB69-EDF8-66BB-4D89D00E073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1306598-1D5A-2CA2-1B91-D1D9304A4B96}"/>
              </a:ext>
            </a:extLst>
          </p:cNvPr>
          <p:cNvSpPr>
            <a:spLocks noGrp="1"/>
          </p:cNvSpPr>
          <p:nvPr>
            <p:ph type="body" idx="1"/>
          </p:nvPr>
        </p:nvSpPr>
        <p:spPr/>
        <p:txBody>
          <a:bodyPr/>
          <a:lstStyle/>
          <a:p>
            <a:r>
              <a:rPr lang="en-US" dirty="0"/>
              <a:t>Keep this slide crisp. The message is: we convert waterproofing from a product choice into an integrated building-envelope strategy.</a:t>
            </a:r>
          </a:p>
        </p:txBody>
      </p:sp>
      <p:sp>
        <p:nvSpPr>
          <p:cNvPr id="4" name="Slide Number Placeholder 3">
            <a:extLst>
              <a:ext uri="{FF2B5EF4-FFF2-40B4-BE49-F238E27FC236}">
                <a16:creationId xmlns:a16="http://schemas.microsoft.com/office/drawing/2014/main" id="{C8A418A2-68B6-E120-597C-95F11164588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52187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265A1-2EC1-F6C5-F90B-F5660BC49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91BA6-31EB-E806-5724-0C978A27130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CB0C6C9-C0AB-07BE-EA11-846F392DB7FE}"/>
              </a:ext>
            </a:extLst>
          </p:cNvPr>
          <p:cNvSpPr>
            <a:spLocks noGrp="1"/>
          </p:cNvSpPr>
          <p:nvPr>
            <p:ph type="body" idx="1"/>
          </p:nvPr>
        </p:nvSpPr>
        <p:spPr/>
        <p:txBody>
          <a:bodyPr/>
          <a:lstStyle/>
          <a:p>
            <a:r>
              <a:rPr lang="en-US" dirty="0"/>
              <a:t>Keep this slide crisp. The message is: we convert waterproofing from a product choice into an integrated building-envelope strategy.</a:t>
            </a:r>
          </a:p>
        </p:txBody>
      </p:sp>
      <p:sp>
        <p:nvSpPr>
          <p:cNvPr id="4" name="Slide Number Placeholder 3">
            <a:extLst>
              <a:ext uri="{FF2B5EF4-FFF2-40B4-BE49-F238E27FC236}">
                <a16:creationId xmlns:a16="http://schemas.microsoft.com/office/drawing/2014/main" id="{B24BCD3A-9F84-75D9-6C4E-B527D635953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442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9938E-8466-FF11-B3F5-8B601A80D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E684F-89C9-EC13-1862-E44D41840C0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0C7A30C-3921-B206-C258-4130CF844420}"/>
              </a:ext>
            </a:extLst>
          </p:cNvPr>
          <p:cNvSpPr>
            <a:spLocks noGrp="1"/>
          </p:cNvSpPr>
          <p:nvPr>
            <p:ph type="body" idx="1"/>
          </p:nvPr>
        </p:nvSpPr>
        <p:spPr/>
        <p:txBody>
          <a:bodyPr/>
          <a:lstStyle/>
          <a:p>
            <a:r>
              <a:rPr lang="en-US" dirty="0"/>
              <a:t>Keep this slide crisp. The message is: we convert waterproofing from a product choice into an integrated building-envelope strategy.</a:t>
            </a:r>
          </a:p>
        </p:txBody>
      </p:sp>
      <p:sp>
        <p:nvSpPr>
          <p:cNvPr id="4" name="Slide Number Placeholder 3">
            <a:extLst>
              <a:ext uri="{FF2B5EF4-FFF2-40B4-BE49-F238E27FC236}">
                <a16:creationId xmlns:a16="http://schemas.microsoft.com/office/drawing/2014/main" id="{E79F1BBE-3D66-DC28-CCDB-4243D65D4BD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2327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E747D-109B-4DF5-94D2-43DD93B5D05D}"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2854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3F68-C374-802C-5E6E-D230FC6AE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9AF8F-9494-294B-D668-D099D12C2D9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C22C256-F7C8-D732-1259-84FF6443E8A4}"/>
              </a:ext>
            </a:extLst>
          </p:cNvPr>
          <p:cNvSpPr>
            <a:spLocks noGrp="1"/>
          </p:cNvSpPr>
          <p:nvPr>
            <p:ph type="body" idx="1"/>
          </p:nvPr>
        </p:nvSpPr>
        <p:spPr/>
        <p:txBody>
          <a:bodyPr/>
          <a:lstStyle/>
          <a:p>
            <a:r>
              <a:rPr lang="en-US" dirty="0"/>
              <a:t>Keep this slide crisp. The message is: we convert waterproofing from a product choice into an integrated building-envelope strategy.</a:t>
            </a:r>
          </a:p>
        </p:txBody>
      </p:sp>
      <p:sp>
        <p:nvSpPr>
          <p:cNvPr id="4" name="Slide Number Placeholder 3">
            <a:extLst>
              <a:ext uri="{FF2B5EF4-FFF2-40B4-BE49-F238E27FC236}">
                <a16:creationId xmlns:a16="http://schemas.microsoft.com/office/drawing/2014/main" id="{F49CFAF2-407D-7C5F-6D42-FBFC805BAD5D}"/>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03107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6F2E5-3885-C90E-42D1-EBF44A58E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C4234-D0F2-B238-53FF-DAA1142F05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D3D14C-E135-AF2F-3926-76C30EA56C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C7892E-C6A2-8C6B-44B9-93D24573DE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E747D-109B-4DF5-94D2-43DD93B5D05D}"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93708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was revised using the first slide points while retaining the infographic look and image assets from the second slide. All revised labels are editable text boxes.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D5364-7D97-46B8-A9BA-93ED2BC978F9}" type="slidenum">
              <a:rPr lang="en-IN" smtClean="0"/>
              <a:t>22</a:t>
            </a:fld>
            <a:endParaRPr lang="en-IN"/>
          </a:p>
        </p:txBody>
      </p:sp>
    </p:spTree>
    <p:extLst>
      <p:ext uri="{BB962C8B-B14F-4D97-AF65-F5344CB8AC3E}">
        <p14:creationId xmlns:p14="http://schemas.microsoft.com/office/powerpoint/2010/main" val="3342947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7E446-1E0A-3890-AC33-30745DD98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7AA21-945F-D372-CBE7-885B80DE6B6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476BADB-F6F9-94BB-AE20-E384B7754C23}"/>
              </a:ext>
            </a:extLst>
          </p:cNvPr>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a:extLst>
              <a:ext uri="{FF2B5EF4-FFF2-40B4-BE49-F238E27FC236}">
                <a16:creationId xmlns:a16="http://schemas.microsoft.com/office/drawing/2014/main" id="{C3C49C51-5C3F-2A78-A50B-B7A1038C8A38}"/>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298507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Position the personal credibility. This is a major differentiator and should not be understated.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Use this slide to build trust. Avoid sounding like a contractor; frame your track record as the reason you understand both design intent and site failure risk.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C9BD6-25BC-9F1B-9E9A-EEA250DAF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C9810-DF26-6FF0-58E6-CA41DF63085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61B6690-C137-C463-B830-5B887995BB33}"/>
              </a:ext>
            </a:extLst>
          </p:cNvPr>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a:extLst>
              <a:ext uri="{FF2B5EF4-FFF2-40B4-BE49-F238E27FC236}">
                <a16:creationId xmlns:a16="http://schemas.microsoft.com/office/drawing/2014/main" id="{7C578FAC-28C6-726D-5E0B-10F9726A9646}"/>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614683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3A3B9-8EF0-EC8C-5946-5B504FA2E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DD652-45C2-79FC-A121-0F18168A479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FF5FB5E-1D06-AFCD-23C7-1D19B6E8697E}"/>
              </a:ext>
            </a:extLst>
          </p:cNvPr>
          <p:cNvSpPr>
            <a:spLocks noGrp="1"/>
          </p:cNvSpPr>
          <p:nvPr>
            <p:ph type="body" idx="1"/>
          </p:nvPr>
        </p:nvSpPr>
        <p:spPr/>
        <p:txBody>
          <a:bodyPr/>
          <a:lstStyle/>
          <a:p>
            <a:r>
              <a:rPr lang="en-US" dirty="0"/>
              <a:t>Position the personal credibility. This is a major differentiator and should not be understated.</a:t>
            </a:r>
          </a:p>
        </p:txBody>
      </p:sp>
      <p:sp>
        <p:nvSpPr>
          <p:cNvPr id="4" name="Slide Number Placeholder 3">
            <a:extLst>
              <a:ext uri="{FF2B5EF4-FFF2-40B4-BE49-F238E27FC236}">
                <a16:creationId xmlns:a16="http://schemas.microsoft.com/office/drawing/2014/main" id="{C1019CCC-4996-F17D-5D2A-E626EC30F32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108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D415B-4FE6-B9A7-E1AC-673698AB4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8B895-2782-5EBC-62D4-1B48E7F1D8E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39C83E3-2D39-0CEB-B8B9-630A5A7BDBCF}"/>
              </a:ext>
            </a:extLst>
          </p:cNvPr>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a:extLst>
              <a:ext uri="{FF2B5EF4-FFF2-40B4-BE49-F238E27FC236}">
                <a16:creationId xmlns:a16="http://schemas.microsoft.com/office/drawing/2014/main" id="{951F9BE9-D034-FB14-BE5D-CDA37F3266D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1473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26871-69CC-4598-61B3-674BDEFCF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7C9E9-C64F-F0AF-FB05-624AA251931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F5EC263-B3C5-85AF-AEB1-557854EBDD88}"/>
              </a:ext>
            </a:extLst>
          </p:cNvPr>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a:extLst>
              <a:ext uri="{FF2B5EF4-FFF2-40B4-BE49-F238E27FC236}">
                <a16:creationId xmlns:a16="http://schemas.microsoft.com/office/drawing/2014/main" id="{5E5A6D8A-B3D6-3E0F-B773-6C8B453483B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3780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BABF8-DA47-F1E8-881D-F4A083AF04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C495A-9BA6-4EFA-B802-F2DFA00CED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5013391-343B-E73D-B352-C8375A10CA3A}"/>
              </a:ext>
            </a:extLst>
          </p:cNvPr>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a:extLst>
              <a:ext uri="{FF2B5EF4-FFF2-40B4-BE49-F238E27FC236}">
                <a16:creationId xmlns:a16="http://schemas.microsoft.com/office/drawing/2014/main" id="{7AA83FCF-2B54-A925-64BC-C9C58477F38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16036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0F30F-0A5C-779C-2BA2-2A55B75D9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E8A18-E33C-9422-BEDB-DFFFC4A2C66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5BA1B62-751D-C76E-43E4-5398E5AC5627}"/>
              </a:ext>
            </a:extLst>
          </p:cNvPr>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a:extLst>
              <a:ext uri="{FF2B5EF4-FFF2-40B4-BE49-F238E27FC236}">
                <a16:creationId xmlns:a16="http://schemas.microsoft.com/office/drawing/2014/main" id="{4B7A29E5-A8C5-2009-CD9E-DAC8DBD98C0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0474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E15E0-9B77-A440-1074-05ABA2892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A946E-91AD-AE3F-4B4F-B61F03F194F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C8F9DC5-18E7-1D78-A55D-E42482A605E5}"/>
              </a:ext>
            </a:extLst>
          </p:cNvPr>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a:extLst>
              <a:ext uri="{FF2B5EF4-FFF2-40B4-BE49-F238E27FC236}">
                <a16:creationId xmlns:a16="http://schemas.microsoft.com/office/drawing/2014/main" id="{F7605915-A76D-B0A6-7718-FD666269616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1324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DB4B6-577A-63DF-2259-F5BA0F7FE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0D562-1D2E-468E-FEF3-DBDB7DEACD4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F7FA9EA-41C9-4C25-AC52-3EE77F4AD19B}"/>
              </a:ext>
            </a:extLst>
          </p:cNvPr>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a:extLst>
              <a:ext uri="{FF2B5EF4-FFF2-40B4-BE49-F238E27FC236}">
                <a16:creationId xmlns:a16="http://schemas.microsoft.com/office/drawing/2014/main" id="{7EDDF9B1-4184-73CC-44A4-93D7FD13276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82919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990C6-01D5-8297-1089-1D91AAD70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32E41-D139-7EEB-0F95-B54CAA73C27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8290630-F7FC-E190-D44B-FAAC5374F612}"/>
              </a:ext>
            </a:extLst>
          </p:cNvPr>
          <p:cNvSpPr>
            <a:spLocks noGrp="1"/>
          </p:cNvSpPr>
          <p:nvPr>
            <p:ph type="body" idx="1"/>
          </p:nvPr>
        </p:nvSpPr>
        <p:spPr/>
        <p:txBody>
          <a:bodyPr/>
          <a:lstStyle/>
          <a:p>
            <a:r>
              <a:rPr lang="en-US" dirty="0"/>
              <a:t>The independence message is crucial. Vendors can support with product data, but they cannot replace project-wide performance specification and neutral comparison.</a:t>
            </a:r>
          </a:p>
        </p:txBody>
      </p:sp>
      <p:sp>
        <p:nvSpPr>
          <p:cNvPr id="4" name="Slide Number Placeholder 3">
            <a:extLst>
              <a:ext uri="{FF2B5EF4-FFF2-40B4-BE49-F238E27FC236}">
                <a16:creationId xmlns:a16="http://schemas.microsoft.com/office/drawing/2014/main" id="{DEF2EF56-614F-5D64-FEEE-56D50A03CB0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6306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5227D-3991-FE60-053B-208BD189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ECECB-57A6-8268-0127-4DD3C71067C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6CC070-9234-EB66-4CC9-B42D3A011627}"/>
              </a:ext>
            </a:extLst>
          </p:cNvPr>
          <p:cNvSpPr>
            <a:spLocks noGrp="1"/>
          </p:cNvSpPr>
          <p:nvPr>
            <p:ph type="body" idx="1"/>
          </p:nvPr>
        </p:nvSpPr>
        <p:spPr/>
        <p:txBody>
          <a:bodyPr/>
          <a:lstStyle/>
          <a:p>
            <a:r>
              <a:rPr lang="en-US" dirty="0"/>
              <a:t>Keep this as a reference slide. If the client wants source backup, you can provide the detailed research memo separately.</a:t>
            </a:r>
          </a:p>
        </p:txBody>
      </p:sp>
      <p:sp>
        <p:nvSpPr>
          <p:cNvPr id="4" name="Slide Number Placeholder 3">
            <a:extLst>
              <a:ext uri="{FF2B5EF4-FFF2-40B4-BE49-F238E27FC236}">
                <a16:creationId xmlns:a16="http://schemas.microsoft.com/office/drawing/2014/main" id="{14BC38FC-6B96-D287-959D-6C3597B0FC31}"/>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1128701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2362C-874B-6D7E-2869-D4306BBF2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A8083-2FDD-F0F8-F01D-538BEA47732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4A21549-14A8-2FA6-C6FD-E620EBE295FC}"/>
              </a:ext>
            </a:extLst>
          </p:cNvPr>
          <p:cNvSpPr>
            <a:spLocks noGrp="1"/>
          </p:cNvSpPr>
          <p:nvPr>
            <p:ph type="body" idx="1"/>
          </p:nvPr>
        </p:nvSpPr>
        <p:spPr/>
        <p:txBody>
          <a:bodyPr/>
          <a:lstStyle/>
          <a:p>
            <a:r>
              <a:rPr lang="en-US" dirty="0"/>
              <a:t>Keep this as a reference slide. If the client wants source backup, you can provide the detailed research memo separately.</a:t>
            </a:r>
          </a:p>
        </p:txBody>
      </p:sp>
      <p:sp>
        <p:nvSpPr>
          <p:cNvPr id="4" name="Slide Number Placeholder 3">
            <a:extLst>
              <a:ext uri="{FF2B5EF4-FFF2-40B4-BE49-F238E27FC236}">
                <a16:creationId xmlns:a16="http://schemas.microsoft.com/office/drawing/2014/main" id="{A9F4043B-F821-40F3-78BD-E231C31AA642}"/>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124645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794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491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F2B7BE-0368-48B7-BC8B-02917FEFDC6D}" type="datetime1">
              <a:rPr lang="en-US" smtClean="0"/>
              <a:t>9/15/26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47931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A14ED-B049-36B9-E9D6-9399A618F405}"/>
              </a:ext>
            </a:extLst>
          </p:cNvPr>
          <p:cNvSpPr>
            <a:spLocks noGrp="1"/>
          </p:cNvSpPr>
          <p:nvPr>
            <p:ph type="title" hasCustomPrompt="1"/>
          </p:nvPr>
        </p:nvSpPr>
        <p:spPr>
          <a:xfrm>
            <a:off x="1257300" y="1"/>
            <a:ext cx="15773400" cy="1988345"/>
          </a:xfrm>
        </p:spPr>
        <p:txBody>
          <a:bodyPr/>
          <a:lstStyle>
            <a:lvl1pPr>
              <a:defRPr b="1">
                <a:latin typeface="Arial" panose="020B0604020202020204" pitchFamily="34" charset="0"/>
                <a:cs typeface="Arial" panose="020B0604020202020204" pitchFamily="34" charset="0"/>
              </a:defRPr>
            </a:lvl1pPr>
          </a:lstStyle>
          <a:p>
            <a:r>
              <a:rPr lang="en-GB" dirty="0"/>
              <a:t>Click to edit Content slide</a:t>
            </a:r>
            <a:endParaRPr lang="en-US" dirty="0"/>
          </a:p>
        </p:txBody>
      </p:sp>
      <p:sp>
        <p:nvSpPr>
          <p:cNvPr id="3" name="Content Placeholder 2">
            <a:extLst>
              <a:ext uri="{FF2B5EF4-FFF2-40B4-BE49-F238E27FC236}">
                <a16:creationId xmlns:a16="http://schemas.microsoft.com/office/drawing/2014/main" id="{5617C266-0A7B-289D-733E-0A98FB45D371}"/>
              </a:ext>
            </a:extLst>
          </p:cNvPr>
          <p:cNvSpPr>
            <a:spLocks noGrp="1"/>
          </p:cNvSpPr>
          <p:nvPr>
            <p:ph idx="1" hasCustomPrompt="1"/>
          </p:nvPr>
        </p:nvSpPr>
        <p:spPr>
          <a:xfrm>
            <a:off x="1257300" y="2189797"/>
            <a:ext cx="15773400" cy="652700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GB" dirty="0"/>
              <a:t>Click to edit Content slide</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55831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94D20C4-D876-BA5B-942A-978B43D117A7}"/>
              </a:ext>
            </a:extLst>
          </p:cNvPr>
          <p:cNvSpPr>
            <a:spLocks noGrp="1"/>
          </p:cNvSpPr>
          <p:nvPr>
            <p:ph type="pic" sz="quarter" idx="13"/>
          </p:nvPr>
        </p:nvSpPr>
        <p:spPr>
          <a:xfrm>
            <a:off x="11910349" y="0"/>
            <a:ext cx="5060867" cy="6389226"/>
          </a:xfrm>
          <a:custGeom>
            <a:avLst/>
            <a:gdLst>
              <a:gd name="connsiteX0" fmla="*/ 0 w 3373911"/>
              <a:gd name="connsiteY0" fmla="*/ 0 h 4348572"/>
              <a:gd name="connsiteX1" fmla="*/ 3373911 w 3373911"/>
              <a:gd name="connsiteY1" fmla="*/ 0 h 4348572"/>
              <a:gd name="connsiteX2" fmla="*/ 3373911 w 3373911"/>
              <a:gd name="connsiteY2" fmla="*/ 4046708 h 4348572"/>
              <a:gd name="connsiteX3" fmla="*/ 3072047 w 3373911"/>
              <a:gd name="connsiteY3" fmla="*/ 4348572 h 4348572"/>
              <a:gd name="connsiteX4" fmla="*/ 301864 w 3373911"/>
              <a:gd name="connsiteY4" fmla="*/ 4348572 h 4348572"/>
              <a:gd name="connsiteX5" fmla="*/ 0 w 3373911"/>
              <a:gd name="connsiteY5" fmla="*/ 4046708 h 4348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3911" h="4348572">
                <a:moveTo>
                  <a:pt x="0" y="0"/>
                </a:moveTo>
                <a:lnTo>
                  <a:pt x="3373911" y="0"/>
                </a:lnTo>
                <a:lnTo>
                  <a:pt x="3373911" y="4046708"/>
                </a:lnTo>
                <a:cubicBezTo>
                  <a:pt x="3373911" y="4213423"/>
                  <a:pt x="3238762" y="4348572"/>
                  <a:pt x="3072047" y="4348572"/>
                </a:cubicBezTo>
                <a:lnTo>
                  <a:pt x="301864" y="4348572"/>
                </a:lnTo>
                <a:cubicBezTo>
                  <a:pt x="135149" y="4348572"/>
                  <a:pt x="0" y="4213423"/>
                  <a:pt x="0" y="4046708"/>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83298631-0C1C-BAEB-B40C-1603A4D79386}"/>
              </a:ext>
            </a:extLst>
          </p:cNvPr>
          <p:cNvSpPr>
            <a:spLocks noGrp="1"/>
          </p:cNvSpPr>
          <p:nvPr>
            <p:ph type="pic" sz="quarter" idx="14"/>
          </p:nvPr>
        </p:nvSpPr>
        <p:spPr>
          <a:xfrm>
            <a:off x="1441049" y="6111435"/>
            <a:ext cx="5060865" cy="4175568"/>
          </a:xfrm>
          <a:custGeom>
            <a:avLst/>
            <a:gdLst>
              <a:gd name="connsiteX0" fmla="*/ 287685 w 3373910"/>
              <a:gd name="connsiteY0" fmla="*/ 0 h 2359373"/>
              <a:gd name="connsiteX1" fmla="*/ 3086225 w 3373910"/>
              <a:gd name="connsiteY1" fmla="*/ 0 h 2359373"/>
              <a:gd name="connsiteX2" fmla="*/ 3373910 w 3373910"/>
              <a:gd name="connsiteY2" fmla="*/ 287685 h 2359373"/>
              <a:gd name="connsiteX3" fmla="*/ 3373910 w 3373910"/>
              <a:gd name="connsiteY3" fmla="*/ 2359373 h 2359373"/>
              <a:gd name="connsiteX4" fmla="*/ 0 w 3373910"/>
              <a:gd name="connsiteY4" fmla="*/ 2359373 h 2359373"/>
              <a:gd name="connsiteX5" fmla="*/ 0 w 3373910"/>
              <a:gd name="connsiteY5" fmla="*/ 287685 h 2359373"/>
              <a:gd name="connsiteX6" fmla="*/ 287685 w 3373910"/>
              <a:gd name="connsiteY6" fmla="*/ 0 h 235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73910" h="2359373">
                <a:moveTo>
                  <a:pt x="287685" y="0"/>
                </a:moveTo>
                <a:lnTo>
                  <a:pt x="3086225" y="0"/>
                </a:lnTo>
                <a:cubicBezTo>
                  <a:pt x="3245109" y="0"/>
                  <a:pt x="3373910" y="128801"/>
                  <a:pt x="3373910" y="287685"/>
                </a:cubicBezTo>
                <a:lnTo>
                  <a:pt x="3373910" y="2359373"/>
                </a:lnTo>
                <a:lnTo>
                  <a:pt x="0" y="2359373"/>
                </a:lnTo>
                <a:lnTo>
                  <a:pt x="0" y="287685"/>
                </a:lnTo>
                <a:cubicBezTo>
                  <a:pt x="0" y="128801"/>
                  <a:pt x="128801" y="0"/>
                  <a:pt x="28768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80214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00392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sldNum="0" hdr="0" ftr="0" dt="0"/>
  <p:txStyles>
    <p:titleStyle>
      <a:lvl1pPr algn="ctr" defTabSz="1371600" rtl="0" eaLnBrk="1" latinLnBrk="0" hangingPunct="1">
        <a:spcBef>
          <a:spcPct val="0"/>
        </a:spcBef>
        <a:buNone/>
        <a:defRPr sz="6600" kern="1200">
          <a:solidFill>
            <a:schemeClr val="tx1"/>
          </a:solidFill>
          <a:latin typeface="+mj-lt"/>
          <a:ea typeface="+mj-ea"/>
          <a:cs typeface="+mj-cs"/>
        </a:defRPr>
      </a:lvl1pPr>
    </p:titleStyle>
    <p:bodyStyle>
      <a:lvl1pPr marL="514350" indent="-514350" algn="l" defTabSz="1371600" rtl="0" eaLnBrk="1" latinLnBrk="0" hangingPunct="1">
        <a:spcBef>
          <a:spcPct val="20000"/>
        </a:spcBef>
        <a:buFont typeface="Arial" pitchFamily="34" charset="0"/>
        <a:buChar char="•"/>
        <a:defRPr sz="4800" kern="1200">
          <a:solidFill>
            <a:schemeClr val="tx1"/>
          </a:solidFill>
          <a:latin typeface="+mn-lt"/>
          <a:ea typeface="+mn-ea"/>
          <a:cs typeface="+mn-cs"/>
        </a:defRPr>
      </a:lvl1pPr>
      <a:lvl2pPr marL="1114425" indent="-428625" algn="l" defTabSz="1371600" rtl="0" eaLnBrk="1" latinLnBrk="0" hangingPunct="1">
        <a:spcBef>
          <a:spcPct val="20000"/>
        </a:spcBef>
        <a:buFont typeface="Arial" pitchFamily="34" charset="0"/>
        <a:buChar char="–"/>
        <a:defRPr sz="4200" kern="1200">
          <a:solidFill>
            <a:schemeClr val="tx1"/>
          </a:solidFill>
          <a:latin typeface="+mn-lt"/>
          <a:ea typeface="+mn-ea"/>
          <a:cs typeface="+mn-cs"/>
        </a:defRPr>
      </a:lvl2pPr>
      <a:lvl3pPr marL="1714500" indent="-342900" algn="l" defTabSz="1371600" rtl="0" eaLnBrk="1" latinLnBrk="0" hangingPunct="1">
        <a:spcBef>
          <a:spcPct val="20000"/>
        </a:spcBef>
        <a:buFont typeface="Arial" pitchFamily="34" charset="0"/>
        <a:buChar char="•"/>
        <a:defRPr sz="3600" kern="1200">
          <a:solidFill>
            <a:schemeClr val="tx1"/>
          </a:solidFill>
          <a:latin typeface="+mn-lt"/>
          <a:ea typeface="+mn-ea"/>
          <a:cs typeface="+mn-cs"/>
        </a:defRPr>
      </a:lvl3pPr>
      <a:lvl4pPr marL="24003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4pPr>
      <a:lvl5pPr marL="30861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5pPr>
      <a:lvl6pPr marL="37719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6pPr>
      <a:lvl7pPr marL="44577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7pPr>
      <a:lvl8pPr marL="51435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8pPr>
      <a:lvl9pPr marL="58293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1.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pn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17.png"/><Relationship Id="rId18" Type="http://schemas.openxmlformats.org/officeDocument/2006/relationships/image" Target="../media/image1.png"/><Relationship Id="rId3" Type="http://schemas.openxmlformats.org/officeDocument/2006/relationships/image" Target="../media/image11.png"/><Relationship Id="rId7" Type="http://schemas.openxmlformats.org/officeDocument/2006/relationships/image" Target="../media/image14.png"/><Relationship Id="rId12" Type="http://schemas.microsoft.com/office/2007/relationships/hdphoto" Target="../media/hdphoto6.wdp"/><Relationship Id="rId17" Type="http://schemas.openxmlformats.org/officeDocument/2006/relationships/image" Target="../media/image19.jpeg"/><Relationship Id="rId2" Type="http://schemas.openxmlformats.org/officeDocument/2006/relationships/notesSlide" Target="../notesSlides/notesSlide9.xml"/><Relationship Id="rId16" Type="http://schemas.openxmlformats.org/officeDocument/2006/relationships/hyperlink" Target="https://www.grupopuma.com/en-WW/products/family/one-coat-mortars-en" TargetMode="External"/><Relationship Id="rId1" Type="http://schemas.openxmlformats.org/officeDocument/2006/relationships/slideLayout" Target="../slideLayouts/slideLayout14.xml"/><Relationship Id="rId6" Type="http://schemas.microsoft.com/office/2007/relationships/hdphoto" Target="../media/hdphoto3.wdp"/><Relationship Id="rId11" Type="http://schemas.openxmlformats.org/officeDocument/2006/relationships/image" Target="../media/image16.jpeg"/><Relationship Id="rId5" Type="http://schemas.openxmlformats.org/officeDocument/2006/relationships/image" Target="../media/image13.png"/><Relationship Id="rId15" Type="http://schemas.microsoft.com/office/2007/relationships/hdphoto" Target="../media/hdphoto7.wdp"/><Relationship Id="rId10" Type="http://schemas.microsoft.com/office/2007/relationships/hdphoto" Target="../media/hdphoto5.wdp"/><Relationship Id="rId4" Type="http://schemas.openxmlformats.org/officeDocument/2006/relationships/image" Target="../media/image12.png"/><Relationship Id="rId9" Type="http://schemas.openxmlformats.org/officeDocument/2006/relationships/image" Target="../media/image15.png"/><Relationship Id="rId1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0.png"/><Relationship Id="rId9" Type="http://schemas.openxmlformats.org/officeDocument/2006/relationships/image" Target="../media/image36.png"/></Relationships>
</file>

<file path=ppt/slides/_rels/slide3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png"/><Relationship Id="rId7"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hyperlink" Target="mailto:mehul@envadure.com"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linkedin.com/in/mehul-parikh-4714457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90500"/>
            <a:chOff x="0" y="0"/>
            <a:chExt cx="4816593" cy="884197"/>
          </a:xfrm>
        </p:grpSpPr>
        <p:sp>
          <p:nvSpPr>
            <p:cNvPr id="3" name="Freeform 3"/>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4" name="TextBox 4"/>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5" name="Group 5"/>
          <p:cNvGrpSpPr/>
          <p:nvPr/>
        </p:nvGrpSpPr>
        <p:grpSpPr>
          <a:xfrm rot="-10800000">
            <a:off x="-1447800" y="-8209"/>
            <a:ext cx="3810000" cy="387116"/>
            <a:chOff x="0" y="0"/>
            <a:chExt cx="24122064" cy="6379210"/>
          </a:xfrm>
        </p:grpSpPr>
        <p:sp>
          <p:nvSpPr>
            <p:cNvPr id="6" name="Freeform 6"/>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9" name="Freeform 7">
            <a:extLst>
              <a:ext uri="{FF2B5EF4-FFF2-40B4-BE49-F238E27FC236}">
                <a16:creationId xmlns:a16="http://schemas.microsoft.com/office/drawing/2014/main" id="{C0C9F466-B4BC-C9FE-4BCE-1E581E84F845}"/>
              </a:ext>
            </a:extLst>
          </p:cNvPr>
          <p:cNvSpPr/>
          <p:nvPr/>
        </p:nvSpPr>
        <p:spPr>
          <a:xfrm>
            <a:off x="3810000" y="3086100"/>
            <a:ext cx="10210800" cy="38862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2"/>
            <a:stretch>
              <a:fillRect t="-103246" b="-111314"/>
            </a:stretch>
          </a:blipFill>
        </p:spPr>
        <p:txBody>
          <a:bodyPr/>
          <a:lstStyle/>
          <a:p>
            <a:endParaRPr lang="en-IN"/>
          </a:p>
        </p:txBody>
      </p:sp>
      <p:sp>
        <p:nvSpPr>
          <p:cNvPr id="11" name="TextBox 10">
            <a:extLst>
              <a:ext uri="{FF2B5EF4-FFF2-40B4-BE49-F238E27FC236}">
                <a16:creationId xmlns:a16="http://schemas.microsoft.com/office/drawing/2014/main" id="{50105E1F-BA13-D58C-0FEE-4B4C05F25AD6}"/>
              </a:ext>
            </a:extLst>
          </p:cNvPr>
          <p:cNvSpPr txBox="1"/>
          <p:nvPr/>
        </p:nvSpPr>
        <p:spPr>
          <a:xfrm>
            <a:off x="990600" y="9334500"/>
            <a:ext cx="2028504" cy="461665"/>
          </a:xfrm>
          <a:prstGeom prst="rect">
            <a:avLst/>
          </a:prstGeom>
          <a:effectLst>
            <a:glow rad="139700">
              <a:schemeClr val="accent1">
                <a:satMod val="175000"/>
                <a:alpha val="40000"/>
              </a:schemeClr>
            </a:glow>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wrap="none" rtlCol="0">
            <a:spAutoFit/>
          </a:bodyPr>
          <a:lstStyle/>
          <a:p>
            <a:r>
              <a:rPr lang="en-IN" sz="2400" b="1" dirty="0"/>
              <a:t>Mehul Parikh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a:extLst>
            <a:ext uri="{FF2B5EF4-FFF2-40B4-BE49-F238E27FC236}">
              <a16:creationId xmlns:a16="http://schemas.microsoft.com/office/drawing/2014/main" id="{2469AE06-F4E9-1E7E-5D0B-8AEB02BB4AA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AAE9FF-7372-EFC3-A5F8-59EFB2129F5B}"/>
              </a:ext>
            </a:extLst>
          </p:cNvPr>
          <p:cNvGrpSpPr/>
          <p:nvPr/>
        </p:nvGrpSpPr>
        <p:grpSpPr>
          <a:xfrm>
            <a:off x="0" y="0"/>
            <a:ext cx="18288000" cy="190500"/>
            <a:chOff x="0" y="0"/>
            <a:chExt cx="4816593" cy="884197"/>
          </a:xfrm>
        </p:grpSpPr>
        <p:sp>
          <p:nvSpPr>
            <p:cNvPr id="3" name="Freeform 3">
              <a:extLst>
                <a:ext uri="{FF2B5EF4-FFF2-40B4-BE49-F238E27FC236}">
                  <a16:creationId xmlns:a16="http://schemas.microsoft.com/office/drawing/2014/main" id="{08B3D313-E55D-5153-A852-A6475EE02EFC}"/>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4" name="TextBox 4">
              <a:extLst>
                <a:ext uri="{FF2B5EF4-FFF2-40B4-BE49-F238E27FC236}">
                  <a16:creationId xmlns:a16="http://schemas.microsoft.com/office/drawing/2014/main" id="{781F8EF9-AE2B-85C3-58DE-565DBA8B1408}"/>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5" name="Group 5">
            <a:extLst>
              <a:ext uri="{FF2B5EF4-FFF2-40B4-BE49-F238E27FC236}">
                <a16:creationId xmlns:a16="http://schemas.microsoft.com/office/drawing/2014/main" id="{B726D2DB-4304-9C2B-5553-88CE2BD4F9E5}"/>
              </a:ext>
            </a:extLst>
          </p:cNvPr>
          <p:cNvGrpSpPr/>
          <p:nvPr/>
        </p:nvGrpSpPr>
        <p:grpSpPr>
          <a:xfrm rot="-10800000">
            <a:off x="-1447800" y="-8209"/>
            <a:ext cx="3810000" cy="387116"/>
            <a:chOff x="0" y="0"/>
            <a:chExt cx="24122064" cy="6379210"/>
          </a:xfrm>
        </p:grpSpPr>
        <p:sp>
          <p:nvSpPr>
            <p:cNvPr id="6" name="Freeform 6">
              <a:extLst>
                <a:ext uri="{FF2B5EF4-FFF2-40B4-BE49-F238E27FC236}">
                  <a16:creationId xmlns:a16="http://schemas.microsoft.com/office/drawing/2014/main" id="{4C01800F-598D-5AAE-9BFB-EF8212AAFBE2}"/>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7" name="Freeform 7">
            <a:extLst>
              <a:ext uri="{FF2B5EF4-FFF2-40B4-BE49-F238E27FC236}">
                <a16:creationId xmlns:a16="http://schemas.microsoft.com/office/drawing/2014/main" id="{0AA71615-EB4F-343E-35CC-CB63A6794E41}"/>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2"/>
            <a:stretch>
              <a:fillRect t="-103246" b="-111314"/>
            </a:stretch>
          </a:blipFill>
        </p:spPr>
        <p:txBody>
          <a:bodyPr/>
          <a:lstStyle/>
          <a:p>
            <a:endParaRPr lang="en-IN"/>
          </a:p>
        </p:txBody>
      </p:sp>
      <p:sp>
        <p:nvSpPr>
          <p:cNvPr id="9" name="Text 0">
            <a:extLst>
              <a:ext uri="{FF2B5EF4-FFF2-40B4-BE49-F238E27FC236}">
                <a16:creationId xmlns:a16="http://schemas.microsoft.com/office/drawing/2014/main" id="{79491F89-2CB6-41FA-4FEA-4C0BD54719C2}"/>
              </a:ext>
            </a:extLst>
          </p:cNvPr>
          <p:cNvSpPr/>
          <p:nvPr/>
        </p:nvSpPr>
        <p:spPr>
          <a:xfrm>
            <a:off x="1143000" y="1485900"/>
            <a:ext cx="15801363" cy="7620000"/>
          </a:xfrm>
          <a:prstGeom prst="rect">
            <a:avLst/>
          </a:prstGeom>
          <a:noFill/>
          <a:ln/>
        </p:spPr>
        <p:txBody>
          <a:bodyPr wrap="square" lIns="0" tIns="0" rIns="0" bIns="0" rtlCol="0" anchor="ctr"/>
          <a:lstStyle/>
          <a:p>
            <a:r>
              <a:rPr lang="en-IN" sz="3600" b="1" dirty="0"/>
              <a:t>Our Core Positioning : </a:t>
            </a:r>
          </a:p>
          <a:p>
            <a:endParaRPr lang="en-IN" sz="3600" b="1" dirty="0"/>
          </a:p>
          <a:p>
            <a:r>
              <a:rPr lang="en-IN" sz="3200" b="1" dirty="0" err="1"/>
              <a:t>EnvaDure</a:t>
            </a:r>
            <a:r>
              <a:rPr lang="en-IN" sz="3200" b="1" dirty="0"/>
              <a:t> is the premier, brand-agnostic technical advisory translating complex building science into highly customized, environmentally synced waterproofing specifications for desired structural durability &amp; optimized asset life cycle value.</a:t>
            </a:r>
            <a:endParaRPr lang="en-IN" sz="3200" dirty="0"/>
          </a:p>
          <a:p>
            <a:endParaRPr lang="en-IN" sz="3600" b="1" dirty="0"/>
          </a:p>
          <a:p>
            <a:r>
              <a:rPr lang="en-IN" sz="3600" b="1" dirty="0"/>
              <a:t>Strategic Pillars of </a:t>
            </a:r>
            <a:r>
              <a:rPr lang="en-IN" sz="3600" b="1" dirty="0" err="1"/>
              <a:t>EnvaDure’s</a:t>
            </a:r>
            <a:r>
              <a:rPr lang="en-IN" sz="3600" b="1" dirty="0"/>
              <a:t> Neutrality :</a:t>
            </a:r>
          </a:p>
          <a:p>
            <a:endParaRPr lang="en-IN" sz="3600" b="1" dirty="0"/>
          </a:p>
          <a:p>
            <a:pPr lvl="1"/>
            <a:r>
              <a:rPr lang="en-IN" sz="3200" b="1" dirty="0"/>
              <a:t>Unlike typical specification routes, We operate on radical brand neutrality. </a:t>
            </a:r>
          </a:p>
          <a:p>
            <a:pPr lvl="1"/>
            <a:endParaRPr lang="en-IN" sz="3200" b="1" dirty="0"/>
          </a:p>
          <a:p>
            <a:pPr lvl="1"/>
            <a:r>
              <a:rPr lang="en-IN" sz="3200" b="1" dirty="0"/>
              <a:t>We do not sell waterproofing products , We engineer risk out of the structure. </a:t>
            </a:r>
          </a:p>
          <a:p>
            <a:pPr lvl="1"/>
            <a:endParaRPr lang="en-IN" sz="3200" b="1" dirty="0"/>
          </a:p>
          <a:p>
            <a:pPr lvl="1"/>
            <a:r>
              <a:rPr lang="en-IN" sz="3200" b="1" dirty="0"/>
              <a:t>Our allegiance is solely to the structure, maintaining balance between project owner’s   interests and environment</a:t>
            </a:r>
            <a:r>
              <a:rPr lang="en-IN" sz="3200" dirty="0"/>
              <a:t>.</a:t>
            </a:r>
          </a:p>
        </p:txBody>
      </p:sp>
      <p:sp>
        <p:nvSpPr>
          <p:cNvPr id="13" name="Arrow: Notched Right 12">
            <a:extLst>
              <a:ext uri="{FF2B5EF4-FFF2-40B4-BE49-F238E27FC236}">
                <a16:creationId xmlns:a16="http://schemas.microsoft.com/office/drawing/2014/main" id="{43AB564E-98EE-6A93-5963-60FCD6A910DA}"/>
              </a:ext>
            </a:extLst>
          </p:cNvPr>
          <p:cNvSpPr/>
          <p:nvPr/>
        </p:nvSpPr>
        <p:spPr>
          <a:xfrm>
            <a:off x="1050022" y="5972432"/>
            <a:ext cx="457200" cy="533400"/>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Notched Right 14">
            <a:extLst>
              <a:ext uri="{FF2B5EF4-FFF2-40B4-BE49-F238E27FC236}">
                <a16:creationId xmlns:a16="http://schemas.microsoft.com/office/drawing/2014/main" id="{37BF3833-C53C-8359-00A8-E52F7D794617}"/>
              </a:ext>
            </a:extLst>
          </p:cNvPr>
          <p:cNvSpPr/>
          <p:nvPr/>
        </p:nvSpPr>
        <p:spPr>
          <a:xfrm>
            <a:off x="1050022" y="6903348"/>
            <a:ext cx="457200" cy="533400"/>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Notched Right 16">
            <a:extLst>
              <a:ext uri="{FF2B5EF4-FFF2-40B4-BE49-F238E27FC236}">
                <a16:creationId xmlns:a16="http://schemas.microsoft.com/office/drawing/2014/main" id="{3E38B8E3-1134-6F46-4CC3-4361829BF74C}"/>
              </a:ext>
            </a:extLst>
          </p:cNvPr>
          <p:cNvSpPr/>
          <p:nvPr/>
        </p:nvSpPr>
        <p:spPr>
          <a:xfrm>
            <a:off x="1038837" y="7878306"/>
            <a:ext cx="457200" cy="533400"/>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74780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71451"/>
            <a:chOff x="0" y="0"/>
            <a:chExt cx="4816593" cy="884197"/>
          </a:xfrm>
        </p:grpSpPr>
        <p:sp>
          <p:nvSpPr>
            <p:cNvPr id="3" name="Freeform 3"/>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endParaRPr lang="en-IN"/>
            </a:p>
          </p:txBody>
        </p:sp>
        <p:sp>
          <p:nvSpPr>
            <p:cNvPr id="4" name="TextBox 4"/>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sp>
        <p:nvSpPr>
          <p:cNvPr id="7" name="Freeform 7"/>
          <p:cNvSpPr/>
          <p:nvPr/>
        </p:nvSpPr>
        <p:spPr>
          <a:xfrm>
            <a:off x="15468600" y="378908"/>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2"/>
            <a:stretch>
              <a:fillRect l="-5471" t="-83780" r="-5471" b="-82911"/>
            </a:stretch>
          </a:blipFill>
        </p:spPr>
        <p:txBody>
          <a:bodyPr/>
          <a:lstStyle/>
          <a:p>
            <a:endParaRPr lang="en-IN"/>
          </a:p>
        </p:txBody>
      </p:sp>
      <p:grpSp>
        <p:nvGrpSpPr>
          <p:cNvPr id="10" name="Group 5"/>
          <p:cNvGrpSpPr/>
          <p:nvPr/>
        </p:nvGrpSpPr>
        <p:grpSpPr>
          <a:xfrm rot="-10800000">
            <a:off x="-1447800" y="-8209"/>
            <a:ext cx="3810000" cy="387116"/>
            <a:chOff x="0" y="0"/>
            <a:chExt cx="24122064" cy="6379210"/>
          </a:xfrm>
          <a:solidFill>
            <a:srgbClr val="3AD7D0"/>
          </a:solidFill>
        </p:grpSpPr>
        <p:sp>
          <p:nvSpPr>
            <p:cNvPr id="11" name="Freeform 6"/>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endParaRPr lang="en-IN"/>
            </a:p>
          </p:txBody>
        </p:sp>
      </p:grpSp>
      <p:sp>
        <p:nvSpPr>
          <p:cNvPr id="6" name="Text 0">
            <a:extLst>
              <a:ext uri="{FF2B5EF4-FFF2-40B4-BE49-F238E27FC236}">
                <a16:creationId xmlns:a16="http://schemas.microsoft.com/office/drawing/2014/main" id="{75B5FDB0-2DFE-9194-489A-797EA1B3AB52}"/>
              </a:ext>
            </a:extLst>
          </p:cNvPr>
          <p:cNvSpPr/>
          <p:nvPr/>
        </p:nvSpPr>
        <p:spPr>
          <a:xfrm>
            <a:off x="822958" y="4366260"/>
            <a:ext cx="12938761" cy="777240"/>
          </a:xfrm>
          <a:prstGeom prst="rect">
            <a:avLst/>
          </a:prstGeom>
          <a:noFill/>
          <a:ln/>
        </p:spPr>
        <p:txBody>
          <a:bodyPr wrap="square" lIns="0" tIns="0" rIns="0" bIns="0" rtlCol="0" anchor="ctr"/>
          <a:lstStyle/>
          <a:p>
            <a:pPr marL="0" indent="0">
              <a:buNone/>
            </a:pPr>
            <a:r>
              <a:rPr lang="en-US" sz="3200" b="1" dirty="0">
                <a:solidFill>
                  <a:srgbClr val="FFFFFF"/>
                </a:solidFill>
                <a:latin typeface="Aptos Display" pitchFamily="34" charset="0"/>
                <a:ea typeface="Aptos Display" pitchFamily="34" charset="-122"/>
                <a:cs typeface="Aptos Display" pitchFamily="34" charset="-120"/>
              </a:rPr>
              <a:t>Why do project owners need a specialist waterproofing consultant ?</a:t>
            </a:r>
            <a:endParaRPr lang="en-US" sz="3200" dirty="0"/>
          </a:p>
        </p:txBody>
      </p:sp>
      <p:sp>
        <p:nvSpPr>
          <p:cNvPr id="9" name="Shape 1">
            <a:extLst>
              <a:ext uri="{FF2B5EF4-FFF2-40B4-BE49-F238E27FC236}">
                <a16:creationId xmlns:a16="http://schemas.microsoft.com/office/drawing/2014/main" id="{8F6E0E42-60A5-D1F0-2FAD-20E364476974}"/>
              </a:ext>
            </a:extLst>
          </p:cNvPr>
          <p:cNvSpPr/>
          <p:nvPr/>
        </p:nvSpPr>
        <p:spPr>
          <a:xfrm flipV="1">
            <a:off x="777239" y="5252801"/>
            <a:ext cx="4206242" cy="7620"/>
          </a:xfrm>
          <a:prstGeom prst="line">
            <a:avLst/>
          </a:prstGeom>
          <a:noFill/>
          <a:ln w="38100">
            <a:solidFill>
              <a:srgbClr val="0E7C7B"/>
            </a:solidFill>
            <a:prstDash val="solid"/>
          </a:ln>
        </p:spPr>
        <p:txBody>
          <a:bodyPr/>
          <a:lstStyle/>
          <a:p>
            <a:endParaRPr b="1" dirty="0"/>
          </a:p>
        </p:txBody>
      </p:sp>
      <p:sp>
        <p:nvSpPr>
          <p:cNvPr id="13" name="Text 2">
            <a:extLst>
              <a:ext uri="{FF2B5EF4-FFF2-40B4-BE49-F238E27FC236}">
                <a16:creationId xmlns:a16="http://schemas.microsoft.com/office/drawing/2014/main" id="{84516B9D-C162-25E5-7A10-BD10B7E8D8C7}"/>
              </a:ext>
            </a:extLst>
          </p:cNvPr>
          <p:cNvSpPr/>
          <p:nvPr/>
        </p:nvSpPr>
        <p:spPr>
          <a:xfrm>
            <a:off x="802406" y="5792767"/>
            <a:ext cx="17290970" cy="640080"/>
          </a:xfrm>
          <a:prstGeom prst="rect">
            <a:avLst/>
          </a:prstGeom>
          <a:noFill/>
          <a:ln/>
        </p:spPr>
        <p:txBody>
          <a:bodyPr wrap="square" lIns="0" tIns="0" rIns="0" bIns="0" rtlCol="0" anchor="ctr"/>
          <a:lstStyle/>
          <a:p>
            <a:pPr marL="0" indent="0">
              <a:buNone/>
            </a:pPr>
            <a:r>
              <a:rPr lang="en-US" sz="2400" b="1" dirty="0">
                <a:solidFill>
                  <a:srgbClr val="B8C1C3"/>
                </a:solidFill>
                <a:latin typeface="Aptos" pitchFamily="34" charset="0"/>
                <a:ea typeface="Aptos" pitchFamily="34" charset="-122"/>
                <a:cs typeface="Aptos" pitchFamily="34" charset="-120"/>
              </a:rPr>
              <a:t>Building Codes may not always mandate,  but now increasingly recommend specialist-level guidance in system design.</a:t>
            </a:r>
            <a:endParaRPr lang="en-US" sz="2400" b="1"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978F5-88DB-C090-495A-8A13DDC3CF3D}"/>
            </a:ext>
          </a:extLst>
        </p:cNvPr>
        <p:cNvGrpSpPr/>
        <p:nvPr/>
      </p:nvGrpSpPr>
      <p:grpSpPr>
        <a:xfrm>
          <a:off x="0" y="0"/>
          <a:ext cx="0" cy="0"/>
          <a:chOff x="0" y="0"/>
          <a:chExt cx="0" cy="0"/>
        </a:xfrm>
      </p:grpSpPr>
      <p:sp>
        <p:nvSpPr>
          <p:cNvPr id="6" name="Shape 4">
            <a:extLst>
              <a:ext uri="{FF2B5EF4-FFF2-40B4-BE49-F238E27FC236}">
                <a16:creationId xmlns:a16="http://schemas.microsoft.com/office/drawing/2014/main" id="{474DC71D-C2AB-214A-25CE-D002B2FD2E93}"/>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a:extLst>
              <a:ext uri="{FF2B5EF4-FFF2-40B4-BE49-F238E27FC236}">
                <a16:creationId xmlns:a16="http://schemas.microsoft.com/office/drawing/2014/main" id="{A2ACF467-1C42-BB5C-AFF2-63FB07521186}"/>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13716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pic>
        <p:nvPicPr>
          <p:cNvPr id="9" name="Picture 8" descr="A vertical village by the city - Singapore Property News">
            <a:extLst>
              <a:ext uri="{FF2B5EF4-FFF2-40B4-BE49-F238E27FC236}">
                <a16:creationId xmlns:a16="http://schemas.microsoft.com/office/drawing/2014/main" id="{63C2123B-8E53-4B38-907F-29969725286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85800" y="871003"/>
            <a:ext cx="12131040" cy="8795003"/>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2F7ABC9-1FFB-57FB-7609-1AF994D8F354}"/>
              </a:ext>
            </a:extLst>
          </p:cNvPr>
          <p:cNvSpPr txBox="1"/>
          <p:nvPr/>
        </p:nvSpPr>
        <p:spPr>
          <a:xfrm>
            <a:off x="13487396" y="4686300"/>
            <a:ext cx="4800600" cy="133882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2700" b="1" i="1" u="none" strike="noStrike" kern="1200" cap="none" spc="0" normalizeH="0" baseline="0" noProof="0" dirty="0">
                <a:ln>
                  <a:noFill/>
                </a:ln>
                <a:solidFill>
                  <a:srgbClr val="4472C4"/>
                </a:solidFill>
                <a:effectLst/>
                <a:uLnTx/>
                <a:uFillTx/>
                <a:latin typeface="Aptos"/>
                <a:ea typeface="+mn-ea"/>
                <a:cs typeface="+mn-cs"/>
              </a:rPr>
              <a:t>Modern Architecture. </a:t>
            </a:r>
          </a:p>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2700" b="1" i="1" u="none" strike="noStrike" kern="1200" cap="none" spc="0" normalizeH="0" baseline="0" noProof="0" dirty="0">
                <a:ln>
                  <a:noFill/>
                </a:ln>
                <a:solidFill>
                  <a:srgbClr val="4472C4"/>
                </a:solidFill>
                <a:effectLst/>
                <a:uLnTx/>
                <a:uFillTx/>
                <a:latin typeface="Aptos"/>
                <a:ea typeface="+mn-ea"/>
                <a:cs typeface="+mn-cs"/>
              </a:rPr>
              <a:t>Increasing Structural Complexities.</a:t>
            </a:r>
            <a:endParaRPr kumimoji="0" lang="en-IN" sz="2700" b="1" i="1" u="none" strike="noStrike" kern="1200" cap="none" spc="0" normalizeH="0" baseline="0" noProof="0" dirty="0">
              <a:ln>
                <a:noFill/>
              </a:ln>
              <a:solidFill>
                <a:srgbClr val="4472C4"/>
              </a:solidFill>
              <a:effectLst/>
              <a:uLnTx/>
              <a:uFillTx/>
              <a:latin typeface="Aptos"/>
              <a:ea typeface="+mn-ea"/>
              <a:cs typeface="+mn-cs"/>
            </a:endParaRPr>
          </a:p>
        </p:txBody>
      </p:sp>
      <p:sp>
        <p:nvSpPr>
          <p:cNvPr id="4" name="TextBox 3">
            <a:extLst>
              <a:ext uri="{FF2B5EF4-FFF2-40B4-BE49-F238E27FC236}">
                <a16:creationId xmlns:a16="http://schemas.microsoft.com/office/drawing/2014/main" id="{27ACF76D-A4A0-5C1B-B876-116F8E540F56}"/>
              </a:ext>
            </a:extLst>
          </p:cNvPr>
          <p:cNvSpPr txBox="1"/>
          <p:nvPr/>
        </p:nvSpPr>
        <p:spPr>
          <a:xfrm>
            <a:off x="15216186" y="9755851"/>
            <a:ext cx="5943600" cy="323165"/>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prstClr val="white"/>
                </a:solidFill>
                <a:effectLst/>
                <a:uLnTx/>
                <a:uFillTx/>
                <a:latin typeface="Aptos"/>
                <a:ea typeface="+mn-ea"/>
                <a:cs typeface="+mn-cs"/>
              </a:rPr>
              <a:t>For Representation purpose Only</a:t>
            </a:r>
            <a:endParaRPr kumimoji="0" lang="en-IN" sz="1500" b="0" i="1" u="none" strike="noStrike" kern="1200" cap="none" spc="0" normalizeH="0" baseline="0" noProof="0" dirty="0">
              <a:ln>
                <a:noFill/>
              </a:ln>
              <a:solidFill>
                <a:prstClr val="white"/>
              </a:solidFill>
              <a:effectLst/>
              <a:uLnTx/>
              <a:uFillTx/>
              <a:latin typeface="Aptos"/>
              <a:ea typeface="+mn-ea"/>
              <a:cs typeface="+mn-cs"/>
            </a:endParaRPr>
          </a:p>
        </p:txBody>
      </p:sp>
      <p:sp>
        <p:nvSpPr>
          <p:cNvPr id="19" name="Freeform 7">
            <a:extLst>
              <a:ext uri="{FF2B5EF4-FFF2-40B4-BE49-F238E27FC236}">
                <a16:creationId xmlns:a16="http://schemas.microsoft.com/office/drawing/2014/main" id="{1A384FED-4475-538E-1D35-6312747C3C13}"/>
              </a:ext>
            </a:extLst>
          </p:cNvPr>
          <p:cNvSpPr/>
          <p:nvPr/>
        </p:nvSpPr>
        <p:spPr>
          <a:xfrm>
            <a:off x="15496868" y="289211"/>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4"/>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grpSp>
        <p:nvGrpSpPr>
          <p:cNvPr id="2" name="Group 2">
            <a:extLst>
              <a:ext uri="{FF2B5EF4-FFF2-40B4-BE49-F238E27FC236}">
                <a16:creationId xmlns:a16="http://schemas.microsoft.com/office/drawing/2014/main" id="{E07419B4-C5C2-CE7C-A2D3-107453AA31DA}"/>
              </a:ext>
            </a:extLst>
          </p:cNvPr>
          <p:cNvGrpSpPr/>
          <p:nvPr/>
        </p:nvGrpSpPr>
        <p:grpSpPr>
          <a:xfrm>
            <a:off x="0" y="0"/>
            <a:ext cx="18288000" cy="190500"/>
            <a:chOff x="0" y="0"/>
            <a:chExt cx="4816593" cy="884197"/>
          </a:xfrm>
        </p:grpSpPr>
        <p:sp>
          <p:nvSpPr>
            <p:cNvPr id="3" name="Freeform 3">
              <a:extLst>
                <a:ext uri="{FF2B5EF4-FFF2-40B4-BE49-F238E27FC236}">
                  <a16:creationId xmlns:a16="http://schemas.microsoft.com/office/drawing/2014/main" id="{784785DF-C404-B9C0-4797-0A79B193E9CE}"/>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Box 4">
              <a:extLst>
                <a:ext uri="{FF2B5EF4-FFF2-40B4-BE49-F238E27FC236}">
                  <a16:creationId xmlns:a16="http://schemas.microsoft.com/office/drawing/2014/main" id="{144AF7CC-F8B6-35AD-0F40-1BEF715FFEEE}"/>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grpSp>
      <p:grpSp>
        <p:nvGrpSpPr>
          <p:cNvPr id="18" name="Group 5">
            <a:extLst>
              <a:ext uri="{FF2B5EF4-FFF2-40B4-BE49-F238E27FC236}">
                <a16:creationId xmlns:a16="http://schemas.microsoft.com/office/drawing/2014/main" id="{E581C5F9-B001-B9AF-7FFC-F0A23F9EC958}"/>
              </a:ext>
            </a:extLst>
          </p:cNvPr>
          <p:cNvGrpSpPr/>
          <p:nvPr/>
        </p:nvGrpSpPr>
        <p:grpSpPr>
          <a:xfrm rot="-10800000">
            <a:off x="-1447800" y="-8209"/>
            <a:ext cx="3810000" cy="387116"/>
            <a:chOff x="0" y="0"/>
            <a:chExt cx="24122064" cy="6379210"/>
          </a:xfrm>
        </p:grpSpPr>
        <p:sp>
          <p:nvSpPr>
            <p:cNvPr id="20" name="Freeform 6">
              <a:extLst>
                <a:ext uri="{FF2B5EF4-FFF2-40B4-BE49-F238E27FC236}">
                  <a16:creationId xmlns:a16="http://schemas.microsoft.com/office/drawing/2014/main" id="{BAEE37DC-3EAD-DDAC-09BE-FF6B314ADC30}"/>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grpSp>
    </p:spTree>
    <p:extLst>
      <p:ext uri="{BB962C8B-B14F-4D97-AF65-F5344CB8AC3E}">
        <p14:creationId xmlns:p14="http://schemas.microsoft.com/office/powerpoint/2010/main" val="33265269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B3220-1EAF-12F7-04F8-727FAD0C42D8}"/>
            </a:ext>
          </a:extLst>
        </p:cNvPr>
        <p:cNvGrpSpPr/>
        <p:nvPr/>
      </p:nvGrpSpPr>
      <p:grpSpPr>
        <a:xfrm>
          <a:off x="0" y="0"/>
          <a:ext cx="0" cy="0"/>
          <a:chOff x="0" y="0"/>
          <a:chExt cx="0" cy="0"/>
        </a:xfrm>
      </p:grpSpPr>
      <p:sp>
        <p:nvSpPr>
          <p:cNvPr id="6" name="Shape 4">
            <a:extLst>
              <a:ext uri="{FF2B5EF4-FFF2-40B4-BE49-F238E27FC236}">
                <a16:creationId xmlns:a16="http://schemas.microsoft.com/office/drawing/2014/main" id="{835FA8D2-8F76-34B7-298F-377289A14CFD}"/>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a:extLst>
              <a:ext uri="{FF2B5EF4-FFF2-40B4-BE49-F238E27FC236}">
                <a16:creationId xmlns:a16="http://schemas.microsoft.com/office/drawing/2014/main" id="{151C9B37-05CF-9DFF-AFAF-F03F91DF67AE}"/>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13716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pic>
        <p:nvPicPr>
          <p:cNvPr id="5" name="Picture 4">
            <a:extLst>
              <a:ext uri="{FF2B5EF4-FFF2-40B4-BE49-F238E27FC236}">
                <a16:creationId xmlns:a16="http://schemas.microsoft.com/office/drawing/2014/main" id="{74C307C5-AC90-5BAC-29A9-353B1F79B9D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t="50159"/>
          <a:stretch/>
        </p:blipFill>
        <p:spPr bwMode="auto">
          <a:xfrm>
            <a:off x="8015564" y="4017820"/>
            <a:ext cx="10272437" cy="633932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a:extLst>
              <a:ext uri="{FF2B5EF4-FFF2-40B4-BE49-F238E27FC236}">
                <a16:creationId xmlns:a16="http://schemas.microsoft.com/office/drawing/2014/main" id="{DC994591-8252-38CA-DE28-8167D1FE075D}"/>
              </a:ext>
            </a:extLst>
          </p:cNvPr>
          <p:cNvSpPr txBox="1"/>
          <p:nvPr/>
        </p:nvSpPr>
        <p:spPr>
          <a:xfrm>
            <a:off x="10010282" y="1693151"/>
            <a:ext cx="7991969" cy="507831"/>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2700" b="1" i="1" u="none" strike="noStrike" kern="1200" cap="none" spc="0" normalizeH="0" baseline="0" noProof="0" dirty="0">
                <a:ln>
                  <a:noFill/>
                </a:ln>
                <a:solidFill>
                  <a:srgbClr val="4472C4"/>
                </a:solidFill>
                <a:effectLst/>
                <a:uLnTx/>
                <a:uFillTx/>
                <a:latin typeface="Aptos"/>
                <a:ea typeface="+mn-ea"/>
                <a:cs typeface="+mn-cs"/>
              </a:rPr>
              <a:t>Roofs are Getting Larger and More Complex</a:t>
            </a:r>
            <a:endParaRPr kumimoji="0" lang="en-IN" sz="2700" b="1" i="1" u="none" strike="noStrike" kern="1200" cap="none" spc="0" normalizeH="0" baseline="0" noProof="0" dirty="0">
              <a:ln>
                <a:noFill/>
              </a:ln>
              <a:solidFill>
                <a:srgbClr val="4472C4"/>
              </a:solidFill>
              <a:effectLst/>
              <a:uLnTx/>
              <a:uFillTx/>
              <a:latin typeface="Aptos"/>
              <a:ea typeface="+mn-ea"/>
              <a:cs typeface="+mn-cs"/>
            </a:endParaRPr>
          </a:p>
        </p:txBody>
      </p:sp>
      <p:sp>
        <p:nvSpPr>
          <p:cNvPr id="11" name="TextBox 10">
            <a:extLst>
              <a:ext uri="{FF2B5EF4-FFF2-40B4-BE49-F238E27FC236}">
                <a16:creationId xmlns:a16="http://schemas.microsoft.com/office/drawing/2014/main" id="{21D5E5A6-0FF5-0C45-D877-5110C1E536E1}"/>
              </a:ext>
            </a:extLst>
          </p:cNvPr>
          <p:cNvSpPr txBox="1"/>
          <p:nvPr/>
        </p:nvSpPr>
        <p:spPr>
          <a:xfrm>
            <a:off x="654191" y="8787720"/>
            <a:ext cx="7118209" cy="507831"/>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2700" b="1" i="1" u="none" strike="noStrike" kern="1200" cap="none" spc="0" normalizeH="0" baseline="0" noProof="0" dirty="0">
                <a:ln>
                  <a:noFill/>
                </a:ln>
                <a:solidFill>
                  <a:srgbClr val="70AD47">
                    <a:lumMod val="75000"/>
                  </a:srgbClr>
                </a:solidFill>
                <a:effectLst/>
                <a:uLnTx/>
                <a:uFillTx/>
                <a:latin typeface="Aptos"/>
                <a:ea typeface="+mn-ea"/>
                <a:cs typeface="+mn-cs"/>
              </a:rPr>
              <a:t>Multi-Functional Podiums &amp; Basements…..</a:t>
            </a:r>
            <a:endParaRPr kumimoji="0" lang="en-IN" sz="2700" b="1" i="1" u="none" strike="noStrike" kern="1200" cap="none" spc="0" normalizeH="0" baseline="0" noProof="0" dirty="0">
              <a:ln>
                <a:noFill/>
              </a:ln>
              <a:solidFill>
                <a:srgbClr val="70AD47">
                  <a:lumMod val="75000"/>
                </a:srgbClr>
              </a:solidFill>
              <a:effectLst/>
              <a:uLnTx/>
              <a:uFillTx/>
              <a:latin typeface="Aptos"/>
              <a:ea typeface="+mn-ea"/>
              <a:cs typeface="+mn-cs"/>
            </a:endParaRPr>
          </a:p>
        </p:txBody>
      </p:sp>
      <p:sp>
        <p:nvSpPr>
          <p:cNvPr id="4" name="TextBox 3">
            <a:extLst>
              <a:ext uri="{FF2B5EF4-FFF2-40B4-BE49-F238E27FC236}">
                <a16:creationId xmlns:a16="http://schemas.microsoft.com/office/drawing/2014/main" id="{1ED1A079-5019-832B-9575-E44D903BEA7F}"/>
              </a:ext>
            </a:extLst>
          </p:cNvPr>
          <p:cNvSpPr txBox="1"/>
          <p:nvPr/>
        </p:nvSpPr>
        <p:spPr>
          <a:xfrm>
            <a:off x="15216186" y="9755851"/>
            <a:ext cx="5943600" cy="323165"/>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prstClr val="white"/>
                </a:solidFill>
                <a:effectLst/>
                <a:uLnTx/>
                <a:uFillTx/>
                <a:latin typeface="Aptos"/>
                <a:ea typeface="+mn-ea"/>
                <a:cs typeface="+mn-cs"/>
              </a:rPr>
              <a:t>For Representation purpose Only</a:t>
            </a:r>
            <a:endParaRPr kumimoji="0" lang="en-IN" sz="1500" b="0" i="1" u="none" strike="noStrike" kern="1200" cap="none" spc="0" normalizeH="0" baseline="0" noProof="0" dirty="0">
              <a:ln>
                <a:noFill/>
              </a:ln>
              <a:solidFill>
                <a:prstClr val="white"/>
              </a:solidFill>
              <a:effectLst/>
              <a:uLnTx/>
              <a:uFillTx/>
              <a:latin typeface="Aptos"/>
              <a:ea typeface="+mn-ea"/>
              <a:cs typeface="+mn-cs"/>
            </a:endParaRPr>
          </a:p>
        </p:txBody>
      </p:sp>
      <p:sp>
        <p:nvSpPr>
          <p:cNvPr id="19" name="Freeform 7">
            <a:extLst>
              <a:ext uri="{FF2B5EF4-FFF2-40B4-BE49-F238E27FC236}">
                <a16:creationId xmlns:a16="http://schemas.microsoft.com/office/drawing/2014/main" id="{D3683860-2846-1341-5EBB-8235D8D65B4A}"/>
              </a:ext>
            </a:extLst>
          </p:cNvPr>
          <p:cNvSpPr/>
          <p:nvPr/>
        </p:nvSpPr>
        <p:spPr>
          <a:xfrm>
            <a:off x="15496868" y="289211"/>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5"/>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grpSp>
        <p:nvGrpSpPr>
          <p:cNvPr id="2" name="Group 2">
            <a:extLst>
              <a:ext uri="{FF2B5EF4-FFF2-40B4-BE49-F238E27FC236}">
                <a16:creationId xmlns:a16="http://schemas.microsoft.com/office/drawing/2014/main" id="{91F66C27-4661-22AC-86D8-D67F77324032}"/>
              </a:ext>
            </a:extLst>
          </p:cNvPr>
          <p:cNvGrpSpPr/>
          <p:nvPr/>
        </p:nvGrpSpPr>
        <p:grpSpPr>
          <a:xfrm>
            <a:off x="0" y="0"/>
            <a:ext cx="18288000" cy="190500"/>
            <a:chOff x="0" y="0"/>
            <a:chExt cx="4816593" cy="884197"/>
          </a:xfrm>
        </p:grpSpPr>
        <p:sp>
          <p:nvSpPr>
            <p:cNvPr id="3" name="Freeform 3">
              <a:extLst>
                <a:ext uri="{FF2B5EF4-FFF2-40B4-BE49-F238E27FC236}">
                  <a16:creationId xmlns:a16="http://schemas.microsoft.com/office/drawing/2014/main" id="{AAF336C0-8AE3-F96F-7DFE-DDD82127E0BA}"/>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Box 4">
              <a:extLst>
                <a:ext uri="{FF2B5EF4-FFF2-40B4-BE49-F238E27FC236}">
                  <a16:creationId xmlns:a16="http://schemas.microsoft.com/office/drawing/2014/main" id="{4BA03746-73E7-97DD-2739-57F7DB0F8B27}"/>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grpSp>
      <p:grpSp>
        <p:nvGrpSpPr>
          <p:cNvPr id="18" name="Group 5">
            <a:extLst>
              <a:ext uri="{FF2B5EF4-FFF2-40B4-BE49-F238E27FC236}">
                <a16:creationId xmlns:a16="http://schemas.microsoft.com/office/drawing/2014/main" id="{23113B51-8486-46D2-8590-8ECD3D1B04B2}"/>
              </a:ext>
            </a:extLst>
          </p:cNvPr>
          <p:cNvGrpSpPr/>
          <p:nvPr/>
        </p:nvGrpSpPr>
        <p:grpSpPr>
          <a:xfrm rot="-10800000">
            <a:off x="-1447800" y="-8209"/>
            <a:ext cx="3810000" cy="387116"/>
            <a:chOff x="0" y="0"/>
            <a:chExt cx="24122064" cy="6379210"/>
          </a:xfrm>
        </p:grpSpPr>
        <p:sp>
          <p:nvSpPr>
            <p:cNvPr id="20" name="Freeform 6">
              <a:extLst>
                <a:ext uri="{FF2B5EF4-FFF2-40B4-BE49-F238E27FC236}">
                  <a16:creationId xmlns:a16="http://schemas.microsoft.com/office/drawing/2014/main" id="{02209947-DE16-A11C-4F8D-017BF63BBE49}"/>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grpSp>
      <p:pic>
        <p:nvPicPr>
          <p:cNvPr id="12" name="Picture 11">
            <a:extLst>
              <a:ext uri="{FF2B5EF4-FFF2-40B4-BE49-F238E27FC236}">
                <a16:creationId xmlns:a16="http://schemas.microsoft.com/office/drawing/2014/main" id="{40954707-DA73-55E2-98C5-1FCB58861DC0}"/>
              </a:ext>
            </a:extLst>
          </p:cNvPr>
          <p:cNvPicPr>
            <a:picLocks noChangeAspect="1"/>
          </p:cNvPicPr>
          <p:nvPr/>
        </p:nvPicPr>
        <p:blipFill>
          <a:blip r:embed="rId6"/>
          <a:stretch>
            <a:fillRect/>
          </a:stretch>
        </p:blipFill>
        <p:spPr>
          <a:xfrm>
            <a:off x="555442" y="1034563"/>
            <a:ext cx="8283758" cy="5489086"/>
          </a:xfrm>
          <a:prstGeom prst="rect">
            <a:avLst/>
          </a:prstGeom>
        </p:spPr>
      </p:pic>
    </p:spTree>
    <p:extLst>
      <p:ext uri="{BB962C8B-B14F-4D97-AF65-F5344CB8AC3E}">
        <p14:creationId xmlns:p14="http://schemas.microsoft.com/office/powerpoint/2010/main" val="39488924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71451"/>
            <a:chOff x="0" y="0"/>
            <a:chExt cx="4816593" cy="884197"/>
          </a:xfrm>
        </p:grpSpPr>
        <p:sp>
          <p:nvSpPr>
            <p:cNvPr id="3" name="Freeform 3"/>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p:cNvSpPr/>
          <p:nvPr/>
        </p:nvSpPr>
        <p:spPr>
          <a:xfrm>
            <a:off x="15468600" y="378908"/>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2"/>
            <a:stretch>
              <a:fillRect l="-5471" t="-83780" r="-5471" b="-8291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5"/>
          <p:cNvGrpSpPr/>
          <p:nvPr/>
        </p:nvGrpSpPr>
        <p:grpSpPr>
          <a:xfrm rot="-10800000">
            <a:off x="-1447800" y="-8209"/>
            <a:ext cx="3810000" cy="387116"/>
            <a:chOff x="0" y="0"/>
            <a:chExt cx="24122064" cy="6379210"/>
          </a:xfrm>
          <a:solidFill>
            <a:srgbClr val="3AD7D0"/>
          </a:solidFill>
        </p:grpSpPr>
        <p:sp>
          <p:nvSpPr>
            <p:cNvPr id="11" name="Freeform 6"/>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 0">
            <a:extLst>
              <a:ext uri="{FF2B5EF4-FFF2-40B4-BE49-F238E27FC236}">
                <a16:creationId xmlns:a16="http://schemas.microsoft.com/office/drawing/2014/main" id="{75B5FDB0-2DFE-9194-489A-797EA1B3AB52}"/>
              </a:ext>
            </a:extLst>
          </p:cNvPr>
          <p:cNvSpPr/>
          <p:nvPr/>
        </p:nvSpPr>
        <p:spPr>
          <a:xfrm>
            <a:off x="716277" y="4686300"/>
            <a:ext cx="16855442"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a:ea typeface="Aptos Display" pitchFamily="34" charset="-122"/>
                <a:cs typeface="Aptos Display" pitchFamily="34" charset="-120"/>
              </a:rPr>
              <a:t>But Why </a:t>
            </a:r>
            <a:r>
              <a:rPr kumimoji="0" lang="en-IN" sz="3200" b="1" i="0" u="none" strike="noStrike" kern="1200" cap="none" spc="0" normalizeH="0" baseline="0" noProof="0" dirty="0">
                <a:ln>
                  <a:noFill/>
                </a:ln>
                <a:solidFill>
                  <a:prstClr val="white"/>
                </a:solidFill>
                <a:effectLst/>
                <a:uLnTx/>
                <a:uFillTx/>
                <a:latin typeface="Calibri"/>
                <a:ea typeface="Aptos Display" pitchFamily="34" charset="-122"/>
                <a:cs typeface="Aptos Display" pitchFamily="34" charset="-120"/>
              </a:rPr>
              <a:t>A</a:t>
            </a:r>
            <a:r>
              <a:rPr kumimoji="0" lang="en-IN" sz="3200" b="1" i="0" u="none" strike="noStrike" kern="1200" cap="none" spc="0" normalizeH="0" baseline="0" noProof="0" dirty="0">
                <a:ln>
                  <a:noFill/>
                </a:ln>
                <a:solidFill>
                  <a:prstClr val="white"/>
                </a:solidFill>
                <a:effectLst/>
                <a:uLnTx/>
                <a:uFillTx/>
                <a:latin typeface="Calibri"/>
                <a:ea typeface="+mn-ea"/>
                <a:cs typeface="+mn-cs"/>
              </a:rPr>
              <a:t>re We Building 21st-century Structures Using 20th-century Specifications…..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Calibri"/>
                <a:ea typeface="+mn-ea"/>
                <a:cs typeface="+mn-cs"/>
              </a:rPr>
              <a:t>And In A Fundamentally Altered Climate ?</a:t>
            </a:r>
          </a:p>
        </p:txBody>
      </p:sp>
      <p:sp>
        <p:nvSpPr>
          <p:cNvPr id="9" name="Shape 1">
            <a:extLst>
              <a:ext uri="{FF2B5EF4-FFF2-40B4-BE49-F238E27FC236}">
                <a16:creationId xmlns:a16="http://schemas.microsoft.com/office/drawing/2014/main" id="{8F6E0E42-60A5-D1F0-2FAD-20E364476974}"/>
              </a:ext>
            </a:extLst>
          </p:cNvPr>
          <p:cNvSpPr/>
          <p:nvPr/>
        </p:nvSpPr>
        <p:spPr>
          <a:xfrm flipV="1">
            <a:off x="762000" y="6210300"/>
            <a:ext cx="4206242" cy="7620"/>
          </a:xfrm>
          <a:prstGeom prst="line">
            <a:avLst/>
          </a:prstGeom>
          <a:noFill/>
          <a:ln w="38100">
            <a:solidFill>
              <a:srgbClr val="0E7C7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2727E-86CC-7802-62BD-83AADCD10F81}"/>
            </a:ext>
          </a:extLst>
        </p:cNvPr>
        <p:cNvGrpSpPr/>
        <p:nvPr/>
      </p:nvGrpSpPr>
      <p:grpSpPr>
        <a:xfrm>
          <a:off x="0" y="0"/>
          <a:ext cx="0" cy="0"/>
          <a:chOff x="0" y="0"/>
          <a:chExt cx="0" cy="0"/>
        </a:xfrm>
      </p:grpSpPr>
      <p:sp>
        <p:nvSpPr>
          <p:cNvPr id="6" name="Shape 4">
            <a:extLst>
              <a:ext uri="{FF2B5EF4-FFF2-40B4-BE49-F238E27FC236}">
                <a16:creationId xmlns:a16="http://schemas.microsoft.com/office/drawing/2014/main" id="{37957422-D4F7-5D6E-1ACB-BE6CB2F11A95}"/>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a:extLst>
              <a:ext uri="{FF2B5EF4-FFF2-40B4-BE49-F238E27FC236}">
                <a16:creationId xmlns:a16="http://schemas.microsoft.com/office/drawing/2014/main" id="{B6CD6029-6D6C-9B06-8188-01E418E401E2}"/>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pic>
        <p:nvPicPr>
          <p:cNvPr id="4" name="Picture 5" descr="untitledGLOBE ON FIRE.bmp">
            <a:extLst>
              <a:ext uri="{FF2B5EF4-FFF2-40B4-BE49-F238E27FC236}">
                <a16:creationId xmlns:a16="http://schemas.microsoft.com/office/drawing/2014/main" id="{728CFECB-83E0-E0CB-2901-3BB410483758}"/>
              </a:ext>
            </a:extLst>
          </p:cNvPr>
          <p:cNvPicPr>
            <a:picLocks noChangeAspect="1"/>
          </p:cNvPicPr>
          <p:nvPr/>
        </p:nvPicPr>
        <p:blipFill>
          <a:blip r:embed="rId3" cstate="print"/>
          <a:srcRect/>
          <a:stretch>
            <a:fillRect/>
          </a:stretch>
        </p:blipFill>
        <p:spPr bwMode="auto">
          <a:xfrm>
            <a:off x="7856185" y="2168214"/>
            <a:ext cx="9938290" cy="7139840"/>
          </a:xfrm>
          <a:prstGeom prst="rect">
            <a:avLst/>
          </a:prstGeom>
          <a:noFill/>
          <a:ln w="9525">
            <a:noFill/>
            <a:miter lim="800000"/>
            <a:headEnd/>
            <a:tailEnd/>
          </a:ln>
        </p:spPr>
      </p:pic>
      <p:sp>
        <p:nvSpPr>
          <p:cNvPr id="5" name="Rectangle 12">
            <a:extLst>
              <a:ext uri="{FF2B5EF4-FFF2-40B4-BE49-F238E27FC236}">
                <a16:creationId xmlns:a16="http://schemas.microsoft.com/office/drawing/2014/main" id="{0B3BD17E-864A-06D6-4213-B0F0ACDA52BA}"/>
              </a:ext>
            </a:extLst>
          </p:cNvPr>
          <p:cNvSpPr>
            <a:spLocks noChangeArrowheads="1"/>
          </p:cNvSpPr>
          <p:nvPr/>
        </p:nvSpPr>
        <p:spPr bwMode="auto">
          <a:xfrm>
            <a:off x="381000" y="2168221"/>
            <a:ext cx="7162800" cy="7139840"/>
          </a:xfrm>
          <a:prstGeom prst="rect">
            <a:avLst/>
          </a:prstGeom>
          <a:solidFill>
            <a:schemeClr val="accent2">
              <a:lumMod val="40000"/>
              <a:lumOff val="60000"/>
            </a:schemeClr>
          </a:solidFill>
          <a:ln w="9525">
            <a:noFill/>
            <a:miter lim="800000"/>
            <a:headEnd/>
            <a:tailEnd/>
          </a:ln>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0070C0"/>
                </a:solidFill>
                <a:effectLst/>
                <a:uLnTx/>
                <a:uFillTx/>
                <a:latin typeface="Aptos"/>
                <a:ea typeface="ＭＳ Ｐゴシック" charset="-128"/>
                <a:cs typeface="Interstate"/>
              </a:rPr>
              <a:t>India Experienced a 15 fold Increase in Extreme Heat Wave Days Across          Mar- May &amp; Jun-Sept Past 3 Decades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70C0"/>
                </a:solidFill>
                <a:effectLst/>
                <a:uLnTx/>
                <a:uFillTx/>
                <a:latin typeface="Aptos"/>
                <a:ea typeface="ＭＳ Ｐゴシック" charset="-128"/>
                <a:cs typeface="Interstate"/>
              </a:rPr>
              <a:t> </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0070C0"/>
                </a:solidFill>
                <a:effectLst/>
                <a:uLnTx/>
                <a:uFillTx/>
                <a:latin typeface="Aptos"/>
                <a:ea typeface="ＭＳ Ｐゴシック" charset="-128"/>
                <a:cs typeface="Interstate"/>
              </a:rPr>
              <a:t>1.4 X times Rise in Extreme Rainfall Events in Last 5 Years</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2800" b="1" i="0" u="none" strike="noStrike" kern="1200" cap="none" spc="0" normalizeH="0" baseline="0" noProof="0" dirty="0">
              <a:ln>
                <a:noFill/>
              </a:ln>
              <a:solidFill>
                <a:srgbClr val="0070C0"/>
              </a:solidFill>
              <a:effectLst/>
              <a:uLnTx/>
              <a:uFillTx/>
              <a:latin typeface="Aptos"/>
              <a:ea typeface="ＭＳ Ｐゴシック" charset="-128"/>
              <a:cs typeface="Interstate"/>
            </a:endParaRP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800" b="1" i="0" u="none" strike="noStrike" kern="1200" cap="none" spc="0" normalizeH="0" baseline="0" noProof="0" dirty="0">
                <a:ln>
                  <a:noFill/>
                </a:ln>
                <a:solidFill>
                  <a:srgbClr val="0070C0"/>
                </a:solidFill>
                <a:effectLst/>
                <a:uLnTx/>
                <a:uFillTx/>
                <a:latin typeface="Aptos"/>
                <a:ea typeface="+mn-ea"/>
                <a:cs typeface="+mn-cs"/>
              </a:rPr>
              <a:t>4 – 7 x increase in heatwave days by 2050 can be potentially experienced by major Indian cities</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2800" b="1" i="0" u="none" strike="noStrike" kern="1200" cap="none" spc="0" normalizeH="0" baseline="0" noProof="0" dirty="0">
              <a:ln>
                <a:noFill/>
              </a:ln>
              <a:solidFill>
                <a:srgbClr val="0070C0"/>
              </a:solidFill>
              <a:effectLst/>
              <a:uLnTx/>
              <a:uFillTx/>
              <a:latin typeface="Aptos"/>
              <a:ea typeface="ＭＳ Ｐゴシック" charset="-128"/>
              <a:cs typeface="Interstate"/>
            </a:endParaRPr>
          </a:p>
        </p:txBody>
      </p:sp>
      <p:sp>
        <p:nvSpPr>
          <p:cNvPr id="9" name="TextBox 8">
            <a:extLst>
              <a:ext uri="{FF2B5EF4-FFF2-40B4-BE49-F238E27FC236}">
                <a16:creationId xmlns:a16="http://schemas.microsoft.com/office/drawing/2014/main" id="{C4E5E759-58EC-1D49-6736-B18A9E98935C}"/>
              </a:ext>
            </a:extLst>
          </p:cNvPr>
          <p:cNvSpPr txBox="1"/>
          <p:nvPr/>
        </p:nvSpPr>
        <p:spPr>
          <a:xfrm>
            <a:off x="3733800" y="1210503"/>
            <a:ext cx="1637321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ED7D31"/>
                </a:solidFill>
                <a:effectLst/>
                <a:uLnTx/>
                <a:uFillTx/>
                <a:latin typeface="Aptos"/>
                <a:ea typeface="+mn-ea"/>
                <a:cs typeface="+mn-cs"/>
              </a:rPr>
              <a:t>Let’s See What The Climate Is Throwing At Our Structures  </a:t>
            </a:r>
          </a:p>
        </p:txBody>
      </p:sp>
      <p:sp>
        <p:nvSpPr>
          <p:cNvPr id="11" name="Freeform 7">
            <a:extLst>
              <a:ext uri="{FF2B5EF4-FFF2-40B4-BE49-F238E27FC236}">
                <a16:creationId xmlns:a16="http://schemas.microsoft.com/office/drawing/2014/main" id="{C5BA715F-686E-3C00-42A0-A3AEE1ECE19C}"/>
              </a:ext>
            </a:extLst>
          </p:cNvPr>
          <p:cNvSpPr/>
          <p:nvPr/>
        </p:nvSpPr>
        <p:spPr>
          <a:xfrm>
            <a:off x="15636240" y="260604"/>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4"/>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grpSp>
        <p:nvGrpSpPr>
          <p:cNvPr id="12" name="Group 2">
            <a:extLst>
              <a:ext uri="{FF2B5EF4-FFF2-40B4-BE49-F238E27FC236}">
                <a16:creationId xmlns:a16="http://schemas.microsoft.com/office/drawing/2014/main" id="{DC25EAA9-FAB7-CE67-22E7-28B6C9E4AA03}"/>
              </a:ext>
            </a:extLst>
          </p:cNvPr>
          <p:cNvGrpSpPr/>
          <p:nvPr/>
        </p:nvGrpSpPr>
        <p:grpSpPr>
          <a:xfrm>
            <a:off x="0" y="0"/>
            <a:ext cx="18288000" cy="190500"/>
            <a:chOff x="0" y="0"/>
            <a:chExt cx="4816593" cy="884197"/>
          </a:xfrm>
        </p:grpSpPr>
        <p:sp>
          <p:nvSpPr>
            <p:cNvPr id="13" name="Freeform 3">
              <a:extLst>
                <a:ext uri="{FF2B5EF4-FFF2-40B4-BE49-F238E27FC236}">
                  <a16:creationId xmlns:a16="http://schemas.microsoft.com/office/drawing/2014/main" id="{686440B9-5167-65C4-C845-670ADE785B22}"/>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Box 4">
              <a:extLst>
                <a:ext uri="{FF2B5EF4-FFF2-40B4-BE49-F238E27FC236}">
                  <a16:creationId xmlns:a16="http://schemas.microsoft.com/office/drawing/2014/main" id="{43F02ED4-AA1E-54E6-2C99-B00F76121066}"/>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grpSp>
      <p:grpSp>
        <p:nvGrpSpPr>
          <p:cNvPr id="15" name="Group 5">
            <a:extLst>
              <a:ext uri="{FF2B5EF4-FFF2-40B4-BE49-F238E27FC236}">
                <a16:creationId xmlns:a16="http://schemas.microsoft.com/office/drawing/2014/main" id="{362EF9BC-53EC-EC7F-66A8-41EB3E1ADFEE}"/>
              </a:ext>
            </a:extLst>
          </p:cNvPr>
          <p:cNvGrpSpPr/>
          <p:nvPr/>
        </p:nvGrpSpPr>
        <p:grpSpPr>
          <a:xfrm rot="-10800000">
            <a:off x="-1447800" y="-8209"/>
            <a:ext cx="3810000" cy="387116"/>
            <a:chOff x="0" y="0"/>
            <a:chExt cx="24122064" cy="6379210"/>
          </a:xfrm>
        </p:grpSpPr>
        <p:sp>
          <p:nvSpPr>
            <p:cNvPr id="16" name="Freeform 6">
              <a:extLst>
                <a:ext uri="{FF2B5EF4-FFF2-40B4-BE49-F238E27FC236}">
                  <a16:creationId xmlns:a16="http://schemas.microsoft.com/office/drawing/2014/main" id="{D8D723AE-7B9C-1B86-17D3-E74428AA0F73}"/>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grpSp>
      <p:sp>
        <p:nvSpPr>
          <p:cNvPr id="2" name="TextBox 1">
            <a:extLst>
              <a:ext uri="{FF2B5EF4-FFF2-40B4-BE49-F238E27FC236}">
                <a16:creationId xmlns:a16="http://schemas.microsoft.com/office/drawing/2014/main" id="{2B60B465-64DC-0B18-96AE-FD138D7CAA6D}"/>
              </a:ext>
            </a:extLst>
          </p:cNvPr>
          <p:cNvSpPr txBox="1"/>
          <p:nvPr/>
        </p:nvSpPr>
        <p:spPr>
          <a:xfrm>
            <a:off x="914400" y="9820656"/>
            <a:ext cx="79508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a:ea typeface="+mn-ea"/>
                <a:cs typeface="+mn-cs"/>
              </a:rPr>
              <a:t>Source : Deloitte &amp; </a:t>
            </a:r>
            <a:r>
              <a:rPr kumimoji="0" lang="en-US" sz="1800" b="1" i="0" u="none" strike="noStrike" kern="1200" cap="none" spc="0" normalizeH="0" baseline="0" noProof="0" dirty="0" err="1">
                <a:ln>
                  <a:noFill/>
                </a:ln>
                <a:solidFill>
                  <a:prstClr val="black"/>
                </a:solidFill>
                <a:effectLst/>
                <a:uLnTx/>
                <a:uFillTx/>
                <a:latin typeface="Aptos"/>
                <a:ea typeface="+mn-ea"/>
                <a:cs typeface="+mn-cs"/>
              </a:rPr>
              <a:t>Rainmatter</a:t>
            </a:r>
            <a:r>
              <a:rPr kumimoji="0" lang="en-US" sz="1800" b="1" i="0" u="none" strike="noStrike" kern="1200" cap="none" spc="0" normalizeH="0" baseline="0" noProof="0" dirty="0">
                <a:ln>
                  <a:noFill/>
                </a:ln>
                <a:solidFill>
                  <a:prstClr val="black"/>
                </a:solidFill>
                <a:effectLst/>
                <a:uLnTx/>
                <a:uFillTx/>
                <a:latin typeface="Aptos"/>
                <a:ea typeface="+mn-ea"/>
                <a:cs typeface="+mn-cs"/>
              </a:rPr>
              <a:t> – State of Climate Response in India Report </a:t>
            </a:r>
            <a:endParaRPr kumimoji="0" lang="en-IN" sz="1800" b="1"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30441418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F2660-FC7D-D1ED-F0AC-D10936BFFBE9}"/>
            </a:ext>
          </a:extLst>
        </p:cNvPr>
        <p:cNvGrpSpPr/>
        <p:nvPr/>
      </p:nvGrpSpPr>
      <p:grpSpPr>
        <a:xfrm>
          <a:off x="0" y="0"/>
          <a:ext cx="0" cy="0"/>
          <a:chOff x="0" y="0"/>
          <a:chExt cx="0" cy="0"/>
        </a:xfrm>
      </p:grpSpPr>
      <p:sp>
        <p:nvSpPr>
          <p:cNvPr id="6" name="Shape 4">
            <a:extLst>
              <a:ext uri="{FF2B5EF4-FFF2-40B4-BE49-F238E27FC236}">
                <a16:creationId xmlns:a16="http://schemas.microsoft.com/office/drawing/2014/main" id="{D5B5D6C1-8DFA-5E6E-5515-14D856DBC587}"/>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a:extLst>
              <a:ext uri="{FF2B5EF4-FFF2-40B4-BE49-F238E27FC236}">
                <a16:creationId xmlns:a16="http://schemas.microsoft.com/office/drawing/2014/main" id="{376074BD-07DB-EA28-7B85-2DE663C6A964}"/>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pic>
        <p:nvPicPr>
          <p:cNvPr id="4" name="Picture 5" descr="untitledGLOBE ON FIRE.bmp">
            <a:extLst>
              <a:ext uri="{FF2B5EF4-FFF2-40B4-BE49-F238E27FC236}">
                <a16:creationId xmlns:a16="http://schemas.microsoft.com/office/drawing/2014/main" id="{AF8EFF72-B694-5764-75E3-23255B0D9871}"/>
              </a:ext>
            </a:extLst>
          </p:cNvPr>
          <p:cNvPicPr>
            <a:picLocks noChangeAspect="1"/>
          </p:cNvPicPr>
          <p:nvPr/>
        </p:nvPicPr>
        <p:blipFill>
          <a:blip r:embed="rId3" cstate="print"/>
          <a:srcRect/>
          <a:stretch>
            <a:fillRect/>
          </a:stretch>
        </p:blipFill>
        <p:spPr bwMode="auto">
          <a:xfrm>
            <a:off x="8839200" y="1716417"/>
            <a:ext cx="9134038" cy="6658703"/>
          </a:xfrm>
          <a:prstGeom prst="rect">
            <a:avLst/>
          </a:prstGeom>
          <a:noFill/>
          <a:ln w="9525">
            <a:noFill/>
            <a:miter lim="800000"/>
            <a:headEnd/>
            <a:tailEnd/>
          </a:ln>
        </p:spPr>
      </p:pic>
      <p:sp>
        <p:nvSpPr>
          <p:cNvPr id="19" name="Rectangle 12">
            <a:extLst>
              <a:ext uri="{FF2B5EF4-FFF2-40B4-BE49-F238E27FC236}">
                <a16:creationId xmlns:a16="http://schemas.microsoft.com/office/drawing/2014/main" id="{A767868B-5CF9-7E01-161D-994809905055}"/>
              </a:ext>
            </a:extLst>
          </p:cNvPr>
          <p:cNvSpPr>
            <a:spLocks noChangeArrowheads="1"/>
          </p:cNvSpPr>
          <p:nvPr/>
        </p:nvSpPr>
        <p:spPr bwMode="auto">
          <a:xfrm>
            <a:off x="152400" y="1714711"/>
            <a:ext cx="8458200" cy="6660413"/>
          </a:xfrm>
          <a:prstGeom prst="rect">
            <a:avLst/>
          </a:prstGeom>
          <a:solidFill>
            <a:schemeClr val="bg2">
              <a:lumMod val="75000"/>
            </a:schemeClr>
          </a:solidFill>
          <a:ln w="9525">
            <a:noFill/>
            <a:miter lim="800000"/>
            <a:headEnd/>
            <a:tailEnd/>
          </a:ln>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00"/>
                </a:solidFill>
                <a:effectLst/>
                <a:uLnTx/>
                <a:uFillTx/>
                <a:latin typeface="Aptos"/>
                <a:ea typeface="ＭＳ Ｐゴシック" charset="-128"/>
                <a:cs typeface="Interstate"/>
              </a:rPr>
              <a:t>So While India is Building More than Every Other Country in the World ,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00"/>
                </a:solidFill>
                <a:effectLst/>
                <a:uLnTx/>
                <a:uFillTx/>
                <a:latin typeface="Aptos"/>
                <a:ea typeface="ＭＳ Ｐゴシック" charset="-128"/>
                <a:cs typeface="Interstate"/>
              </a:rPr>
              <a:t>Except US and China….</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3600" b="1" i="0" u="none" strike="noStrike" kern="1200" cap="none" spc="0" normalizeH="0" baseline="0" noProof="0" dirty="0">
              <a:ln>
                <a:noFill/>
              </a:ln>
              <a:solidFill>
                <a:srgbClr val="FFFF00"/>
              </a:solidFill>
              <a:effectLst/>
              <a:uLnTx/>
              <a:uFillTx/>
              <a:latin typeface="Aptos"/>
              <a:ea typeface="ＭＳ Ｐゴシック" charset="-128"/>
              <a:cs typeface="Interstate"/>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3600" b="1" i="0" u="none" strike="noStrike" kern="1200" cap="none" spc="0" normalizeH="0" baseline="0" noProof="0" dirty="0">
              <a:ln>
                <a:noFill/>
              </a:ln>
              <a:solidFill>
                <a:srgbClr val="FFFF00"/>
              </a:solidFill>
              <a:effectLst/>
              <a:uLnTx/>
              <a:uFillTx/>
              <a:latin typeface="Aptos"/>
              <a:ea typeface="ＭＳ Ｐゴシック" charset="-128"/>
              <a:cs typeface="Interstate"/>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00"/>
                </a:solidFill>
                <a:effectLst/>
                <a:uLnTx/>
                <a:uFillTx/>
                <a:latin typeface="Aptos"/>
                <a:ea typeface="ＭＳ Ｐゴシック" charset="-128"/>
                <a:cs typeface="Interstate"/>
              </a:rPr>
              <a:t>The Question for us is -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00"/>
                </a:solidFill>
                <a:effectLst/>
                <a:uLnTx/>
                <a:uFillTx/>
                <a:latin typeface="Aptos"/>
                <a:ea typeface="ＭＳ Ｐゴシック" charset="-128"/>
                <a:cs typeface="Interstate"/>
              </a:rPr>
              <a:t>How do we build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00"/>
                </a:solidFill>
                <a:effectLst/>
                <a:uLnTx/>
                <a:uFillTx/>
                <a:latin typeface="Aptos"/>
                <a:ea typeface="ＭＳ Ｐゴシック" charset="-128"/>
                <a:cs typeface="Interstate"/>
              </a:rPr>
              <a:t>Leak Free…Sustainable Structures ?</a:t>
            </a:r>
          </a:p>
        </p:txBody>
      </p:sp>
      <p:grpSp>
        <p:nvGrpSpPr>
          <p:cNvPr id="2" name="Group 2">
            <a:extLst>
              <a:ext uri="{FF2B5EF4-FFF2-40B4-BE49-F238E27FC236}">
                <a16:creationId xmlns:a16="http://schemas.microsoft.com/office/drawing/2014/main" id="{51B4CB2A-A395-98B4-FBFD-E845699C5AC7}"/>
              </a:ext>
            </a:extLst>
          </p:cNvPr>
          <p:cNvGrpSpPr/>
          <p:nvPr/>
        </p:nvGrpSpPr>
        <p:grpSpPr>
          <a:xfrm>
            <a:off x="0" y="0"/>
            <a:ext cx="18288000" cy="190500"/>
            <a:chOff x="0" y="0"/>
            <a:chExt cx="4816593" cy="884197"/>
          </a:xfrm>
        </p:grpSpPr>
        <p:sp>
          <p:nvSpPr>
            <p:cNvPr id="3" name="Freeform 3">
              <a:extLst>
                <a:ext uri="{FF2B5EF4-FFF2-40B4-BE49-F238E27FC236}">
                  <a16:creationId xmlns:a16="http://schemas.microsoft.com/office/drawing/2014/main" id="{F96EE598-5EDC-4D62-F42C-E4FEC68F559D}"/>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Box 4">
              <a:extLst>
                <a:ext uri="{FF2B5EF4-FFF2-40B4-BE49-F238E27FC236}">
                  <a16:creationId xmlns:a16="http://schemas.microsoft.com/office/drawing/2014/main" id="{32786A34-E545-361E-ED3B-1145ED7310ED}"/>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grpSp>
      <p:sp>
        <p:nvSpPr>
          <p:cNvPr id="12" name="Freeform 7">
            <a:extLst>
              <a:ext uri="{FF2B5EF4-FFF2-40B4-BE49-F238E27FC236}">
                <a16:creationId xmlns:a16="http://schemas.microsoft.com/office/drawing/2014/main" id="{CB352E21-663D-34B7-450F-350BA1DA1DC9}"/>
              </a:ext>
            </a:extLst>
          </p:cNvPr>
          <p:cNvSpPr/>
          <p:nvPr/>
        </p:nvSpPr>
        <p:spPr>
          <a:xfrm>
            <a:off x="15588876" y="300227"/>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4"/>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grpSp>
        <p:nvGrpSpPr>
          <p:cNvPr id="13" name="Group 5">
            <a:extLst>
              <a:ext uri="{FF2B5EF4-FFF2-40B4-BE49-F238E27FC236}">
                <a16:creationId xmlns:a16="http://schemas.microsoft.com/office/drawing/2014/main" id="{7C82EC69-F9A6-2D1F-9F14-06C62C73CD77}"/>
              </a:ext>
            </a:extLst>
          </p:cNvPr>
          <p:cNvGrpSpPr/>
          <p:nvPr/>
        </p:nvGrpSpPr>
        <p:grpSpPr>
          <a:xfrm rot="-10800000">
            <a:off x="-1447800" y="-8209"/>
            <a:ext cx="3810000" cy="387116"/>
            <a:chOff x="0" y="0"/>
            <a:chExt cx="24122064" cy="6379210"/>
          </a:xfrm>
        </p:grpSpPr>
        <p:sp>
          <p:nvSpPr>
            <p:cNvPr id="14" name="Freeform 6">
              <a:extLst>
                <a:ext uri="{FF2B5EF4-FFF2-40B4-BE49-F238E27FC236}">
                  <a16:creationId xmlns:a16="http://schemas.microsoft.com/office/drawing/2014/main" id="{45A01261-B3CF-4C78-E961-F687AFB81A5B}"/>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grpSp>
    </p:spTree>
    <p:extLst>
      <p:ext uri="{BB962C8B-B14F-4D97-AF65-F5344CB8AC3E}">
        <p14:creationId xmlns:p14="http://schemas.microsoft.com/office/powerpoint/2010/main" val="19170644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4189E23-55B6-B2AB-950C-049D830417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F4E04D-B967-AFD4-71B0-D5D192EE071B}"/>
              </a:ext>
            </a:extLst>
          </p:cNvPr>
          <p:cNvGrpSpPr/>
          <p:nvPr/>
        </p:nvGrpSpPr>
        <p:grpSpPr>
          <a:xfrm>
            <a:off x="0" y="0"/>
            <a:ext cx="18288000" cy="171451"/>
            <a:chOff x="0" y="0"/>
            <a:chExt cx="4816593" cy="884197"/>
          </a:xfrm>
        </p:grpSpPr>
        <p:sp>
          <p:nvSpPr>
            <p:cNvPr id="3" name="Freeform 3">
              <a:extLst>
                <a:ext uri="{FF2B5EF4-FFF2-40B4-BE49-F238E27FC236}">
                  <a16:creationId xmlns:a16="http://schemas.microsoft.com/office/drawing/2014/main" id="{2C2DAFB6-6EA5-0961-8486-26405838677E}"/>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0801ECD6-8964-B904-07B6-7DADA2726F4D}"/>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a:extLst>
              <a:ext uri="{FF2B5EF4-FFF2-40B4-BE49-F238E27FC236}">
                <a16:creationId xmlns:a16="http://schemas.microsoft.com/office/drawing/2014/main" id="{FA9B235B-AC8B-2574-8897-E9283FE791E1}"/>
              </a:ext>
            </a:extLst>
          </p:cNvPr>
          <p:cNvSpPr/>
          <p:nvPr/>
        </p:nvSpPr>
        <p:spPr>
          <a:xfrm>
            <a:off x="15697200" y="185349"/>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3"/>
            <a:stretch>
              <a:fillRect l="-5471" t="-83780" r="-5471" b="-8291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5">
            <a:extLst>
              <a:ext uri="{FF2B5EF4-FFF2-40B4-BE49-F238E27FC236}">
                <a16:creationId xmlns:a16="http://schemas.microsoft.com/office/drawing/2014/main" id="{F206C9A5-185E-7417-839C-58AD3779E9B0}"/>
              </a:ext>
            </a:extLst>
          </p:cNvPr>
          <p:cNvGrpSpPr/>
          <p:nvPr/>
        </p:nvGrpSpPr>
        <p:grpSpPr>
          <a:xfrm rot="-10800000">
            <a:off x="-1447800" y="-8209"/>
            <a:ext cx="3810000" cy="387116"/>
            <a:chOff x="0" y="0"/>
            <a:chExt cx="24122064" cy="6379210"/>
          </a:xfrm>
          <a:solidFill>
            <a:srgbClr val="3AD7D0"/>
          </a:solidFill>
        </p:grpSpPr>
        <p:sp>
          <p:nvSpPr>
            <p:cNvPr id="11" name="Freeform 6">
              <a:extLst>
                <a:ext uri="{FF2B5EF4-FFF2-40B4-BE49-F238E27FC236}">
                  <a16:creationId xmlns:a16="http://schemas.microsoft.com/office/drawing/2014/main" id="{08F90708-1D11-60F1-67A0-ACEBCF231DD9}"/>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 0">
            <a:extLst>
              <a:ext uri="{FF2B5EF4-FFF2-40B4-BE49-F238E27FC236}">
                <a16:creationId xmlns:a16="http://schemas.microsoft.com/office/drawing/2014/main" id="{6E5A1D3E-931B-D181-267B-E256E821AE55}"/>
              </a:ext>
            </a:extLst>
          </p:cNvPr>
          <p:cNvSpPr/>
          <p:nvPr/>
        </p:nvSpPr>
        <p:spPr>
          <a:xfrm>
            <a:off x="371912" y="1805190"/>
            <a:ext cx="17382688" cy="739890"/>
          </a:xfrm>
          <a:prstGeom prst="rect">
            <a:avLst/>
          </a:prstGeom>
          <a:noFill/>
          <a:ln/>
        </p:spPr>
        <p:txBody>
          <a:bodyPr wrap="square" lIns="0" tIns="0" rIns="0" bIns="0"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a:ea typeface="Aptos Display" pitchFamily="34" charset="-122"/>
                <a:cs typeface="Aptos Display" pitchFamily="34" charset="-120"/>
              </a:rPr>
              <a:t>For Most Indians, A Building’s Design &amp; Construction Is Not Experienced Through Landmark Projects, But Unfortunately Often Through :</a:t>
            </a:r>
            <a:endParaRPr kumimoji="0" lang="en-IN" sz="3200" b="1"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hape 1">
            <a:extLst>
              <a:ext uri="{FF2B5EF4-FFF2-40B4-BE49-F238E27FC236}">
                <a16:creationId xmlns:a16="http://schemas.microsoft.com/office/drawing/2014/main" id="{22D8B0AE-5F2A-2FFB-4615-A35EFD9CD979}"/>
              </a:ext>
            </a:extLst>
          </p:cNvPr>
          <p:cNvSpPr/>
          <p:nvPr/>
        </p:nvSpPr>
        <p:spPr>
          <a:xfrm flipV="1">
            <a:off x="381000" y="3160278"/>
            <a:ext cx="4206242" cy="7620"/>
          </a:xfrm>
          <a:prstGeom prst="line">
            <a:avLst/>
          </a:prstGeom>
          <a:noFill/>
          <a:ln w="38100">
            <a:solidFill>
              <a:srgbClr val="0E7C7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 2">
            <a:extLst>
              <a:ext uri="{FF2B5EF4-FFF2-40B4-BE49-F238E27FC236}">
                <a16:creationId xmlns:a16="http://schemas.microsoft.com/office/drawing/2014/main" id="{E676A1C9-2097-ABFC-F5EB-D34AB8A7C1CB}"/>
              </a:ext>
            </a:extLst>
          </p:cNvPr>
          <p:cNvSpPr/>
          <p:nvPr/>
        </p:nvSpPr>
        <p:spPr>
          <a:xfrm>
            <a:off x="381000" y="3238500"/>
            <a:ext cx="17290970" cy="5326380"/>
          </a:xfrm>
          <a:prstGeom prst="rect">
            <a:avLst/>
          </a:prstGeom>
          <a:noFill/>
          <a:ln/>
        </p:spPr>
        <p:txBody>
          <a:bodyPr wrap="square" lIns="0" tIns="0" rIns="0" bIns="0"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92D050"/>
              </a:solidFill>
              <a:effectLst/>
              <a:uLnTx/>
              <a:uFillTx/>
              <a:latin typeface="Aptos" pitchFamily="34" charset="0"/>
              <a:ea typeface="Aptos" pitchFamily="34" charset="-122"/>
              <a:cs typeface="Aptos" pitchFamily="34" charset="-120"/>
            </a:endParaRP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a:ln>
                  <a:noFill/>
                </a:ln>
                <a:solidFill>
                  <a:srgbClr val="92D050"/>
                </a:solidFill>
                <a:effectLst/>
                <a:uLnTx/>
                <a:uFillTx/>
                <a:latin typeface="Aptos" pitchFamily="34" charset="0"/>
                <a:ea typeface="Aptos" pitchFamily="34" charset="-122"/>
                <a:cs typeface="Aptos" pitchFamily="34" charset="-120"/>
              </a:rPr>
              <a:t>Leaking roofs resulting in fear of not wanting to buy a top floor apartment, </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a:ln>
                  <a:noFill/>
                </a:ln>
                <a:solidFill>
                  <a:srgbClr val="92D050"/>
                </a:solidFill>
                <a:effectLst/>
                <a:uLnTx/>
                <a:uFillTx/>
                <a:latin typeface="Aptos" pitchFamily="34" charset="0"/>
                <a:ea typeface="Aptos" pitchFamily="34" charset="-122"/>
                <a:cs typeface="Aptos" pitchFamily="34" charset="-120"/>
              </a:rPr>
              <a:t>Fearing to create usable spaces other than car parks in basements, </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a:ln>
                  <a:noFill/>
                </a:ln>
                <a:solidFill>
                  <a:srgbClr val="92D050"/>
                </a:solidFill>
                <a:effectLst/>
                <a:uLnTx/>
                <a:uFillTx/>
                <a:latin typeface="Aptos" pitchFamily="34" charset="0"/>
                <a:ea typeface="Aptos" pitchFamily="34" charset="-122"/>
                <a:cs typeface="Aptos" pitchFamily="34" charset="-120"/>
              </a:rPr>
              <a:t>Uncomfortably hot homes or offices that aren’t well insulated or ventilated, </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a:ln>
                  <a:noFill/>
                </a:ln>
                <a:solidFill>
                  <a:srgbClr val="92D050"/>
                </a:solidFill>
                <a:effectLst/>
                <a:uLnTx/>
                <a:uFillTx/>
                <a:latin typeface="Aptos" pitchFamily="34" charset="0"/>
                <a:ea typeface="Aptos" pitchFamily="34" charset="-122"/>
                <a:cs typeface="Aptos" pitchFamily="34" charset="-120"/>
              </a:rPr>
              <a:t>Dampness from external walls that spoil interior finishes , </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a:ln>
                  <a:noFill/>
                </a:ln>
                <a:solidFill>
                  <a:srgbClr val="92D050"/>
                </a:solidFill>
                <a:effectLst/>
                <a:uLnTx/>
                <a:uFillTx/>
                <a:latin typeface="Aptos" pitchFamily="34" charset="0"/>
                <a:ea typeface="Aptos" pitchFamily="34" charset="-122"/>
                <a:cs typeface="Aptos" pitchFamily="34" charset="-120"/>
              </a:rPr>
              <a:t>Dark dingy unsafe feeling car parks, etc. </a:t>
            </a:r>
          </a:p>
        </p:txBody>
      </p:sp>
    </p:spTree>
    <p:extLst>
      <p:ext uri="{BB962C8B-B14F-4D97-AF65-F5344CB8AC3E}">
        <p14:creationId xmlns:p14="http://schemas.microsoft.com/office/powerpoint/2010/main" val="20087039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E6A14-D9AC-360E-7F99-C66B0EDF814A}"/>
            </a:ext>
          </a:extLst>
        </p:cNvPr>
        <p:cNvGrpSpPr/>
        <p:nvPr/>
      </p:nvGrpSpPr>
      <p:grpSpPr>
        <a:xfrm>
          <a:off x="0" y="0"/>
          <a:ext cx="0" cy="0"/>
          <a:chOff x="0" y="0"/>
          <a:chExt cx="0" cy="0"/>
        </a:xfrm>
      </p:grpSpPr>
      <p:sp>
        <p:nvSpPr>
          <p:cNvPr id="6" name="Shape 4">
            <a:extLst>
              <a:ext uri="{FF2B5EF4-FFF2-40B4-BE49-F238E27FC236}">
                <a16:creationId xmlns:a16="http://schemas.microsoft.com/office/drawing/2014/main" id="{790ADE1B-12B6-9B29-6548-430116C45A06}"/>
              </a:ext>
            </a:extLst>
          </p:cNvPr>
          <p:cNvSpPr/>
          <p:nvPr/>
        </p:nvSpPr>
        <p:spPr>
          <a:xfrm>
            <a:off x="822960" y="9710928"/>
            <a:ext cx="16596360" cy="0"/>
          </a:xfrm>
          <a:prstGeom prst="line">
            <a:avLst/>
          </a:prstGeom>
          <a:noFill/>
          <a:ln w="8890">
            <a:solidFill>
              <a:srgbClr val="E9ECEC"/>
            </a:solidFill>
            <a:prstDash val="solid"/>
          </a:ln>
        </p:spPr>
        <p:txBody>
          <a:bodyPr/>
          <a:lstStyle/>
          <a:p>
            <a:endParaRPr sz="2700"/>
          </a:p>
        </p:txBody>
      </p:sp>
      <p:sp>
        <p:nvSpPr>
          <p:cNvPr id="4" name="Title 1">
            <a:extLst>
              <a:ext uri="{FF2B5EF4-FFF2-40B4-BE49-F238E27FC236}">
                <a16:creationId xmlns:a16="http://schemas.microsoft.com/office/drawing/2014/main" id="{950796AC-2296-CBAB-4F76-EF454C33C545}"/>
              </a:ext>
            </a:extLst>
          </p:cNvPr>
          <p:cNvSpPr txBox="1">
            <a:spLocks/>
          </p:cNvSpPr>
          <p:nvPr/>
        </p:nvSpPr>
        <p:spPr>
          <a:xfrm>
            <a:off x="-256845" y="597422"/>
            <a:ext cx="14183591" cy="713582"/>
          </a:xfrm>
        </p:spPr>
        <p:txBody>
          <a:bodyPr wrap="square" lIns="68579" tIns="68580" rIns="68579" bIns="6858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indent="278120"/>
            <a:endParaRPr lang="en-US" sz="3000" b="1" dirty="0">
              <a:solidFill>
                <a:srgbClr val="0070C0"/>
              </a:solidFill>
              <a:latin typeface="Trebuchet MS" panose="020B0603020202020204" pitchFamily="34" charset="0"/>
            </a:endParaRPr>
          </a:p>
          <a:p>
            <a:pPr indent="278120"/>
            <a:r>
              <a:rPr lang="en-US" sz="3000" b="1" dirty="0">
                <a:solidFill>
                  <a:srgbClr val="0070C0"/>
                </a:solidFill>
                <a:latin typeface="Trebuchet MS" panose="020B0603020202020204" pitchFamily="34" charset="0"/>
              </a:rPr>
              <a:t>Questions Project Owners often struggle with when waterproofing fails</a:t>
            </a:r>
            <a:br>
              <a:rPr lang="en-US" sz="3000" b="1" dirty="0">
                <a:solidFill>
                  <a:srgbClr val="0070C0"/>
                </a:solidFill>
                <a:latin typeface="Trebuchet MS" panose="020B0603020202020204" pitchFamily="34" charset="0"/>
              </a:rPr>
            </a:br>
            <a:r>
              <a:rPr lang="en-US" sz="3000" b="1" dirty="0">
                <a:solidFill>
                  <a:srgbClr val="0070C0"/>
                </a:solidFill>
                <a:latin typeface="Trebuchet MS" panose="020B0603020202020204" pitchFamily="34" charset="0"/>
              </a:rPr>
              <a:t>  </a:t>
            </a:r>
            <a:endParaRPr lang="en-IN" sz="3000" b="1" dirty="0">
              <a:solidFill>
                <a:srgbClr val="0070C0"/>
              </a:solidFill>
              <a:latin typeface="Trebuchet MS" panose="020B0603020202020204" pitchFamily="34" charset="0"/>
            </a:endParaRPr>
          </a:p>
        </p:txBody>
      </p:sp>
      <p:grpSp>
        <p:nvGrpSpPr>
          <p:cNvPr id="5" name="Group 4">
            <a:extLst>
              <a:ext uri="{FF2B5EF4-FFF2-40B4-BE49-F238E27FC236}">
                <a16:creationId xmlns:a16="http://schemas.microsoft.com/office/drawing/2014/main" id="{FBBCC2FC-2528-1C7D-4A5E-8D1B717D7EEB}"/>
              </a:ext>
            </a:extLst>
          </p:cNvPr>
          <p:cNvGrpSpPr/>
          <p:nvPr/>
        </p:nvGrpSpPr>
        <p:grpSpPr>
          <a:xfrm>
            <a:off x="390349" y="1258976"/>
            <a:ext cx="18071699" cy="8911128"/>
            <a:chOff x="340716" y="234546"/>
            <a:chExt cx="9035850" cy="4543960"/>
          </a:xfrm>
        </p:grpSpPr>
        <p:pic>
          <p:nvPicPr>
            <p:cNvPr id="9" name="Picture 8">
              <a:extLst>
                <a:ext uri="{FF2B5EF4-FFF2-40B4-BE49-F238E27FC236}">
                  <a16:creationId xmlns:a16="http://schemas.microsoft.com/office/drawing/2014/main" id="{4F91D90A-EA7A-62AA-3AE4-4FD08999E72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b="7067"/>
            <a:stretch/>
          </p:blipFill>
          <p:spPr bwMode="auto">
            <a:xfrm>
              <a:off x="1432360" y="1274709"/>
              <a:ext cx="6400800" cy="35037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a:extLst>
                <a:ext uri="{FF2B5EF4-FFF2-40B4-BE49-F238E27FC236}">
                  <a16:creationId xmlns:a16="http://schemas.microsoft.com/office/drawing/2014/main" id="{DCA5BFE8-DDD2-66DB-CA41-C4BC8BA14E1A}"/>
                </a:ext>
              </a:extLst>
            </p:cNvPr>
            <p:cNvSpPr txBox="1"/>
            <p:nvPr/>
          </p:nvSpPr>
          <p:spPr>
            <a:xfrm>
              <a:off x="3563017" y="891668"/>
              <a:ext cx="336698" cy="682695"/>
            </a:xfrm>
            <a:prstGeom prst="rect">
              <a:avLst/>
            </a:prstGeom>
            <a:noFill/>
          </p:spPr>
          <p:txBody>
            <a:bodyPr wrap="square" rtlCol="0">
              <a:spAutoFit/>
            </a:bodyPr>
            <a:lstStyle/>
            <a:p>
              <a:r>
                <a:rPr lang="en-US" sz="8100" b="1" dirty="0">
                  <a:latin typeface="Trebuchet MS" panose="020B0603020202020204" pitchFamily="34" charset="0"/>
                </a:rPr>
                <a:t>?</a:t>
              </a:r>
              <a:endParaRPr lang="en-IN" sz="8100" b="1" dirty="0">
                <a:latin typeface="Trebuchet MS" panose="020B0603020202020204" pitchFamily="34" charset="0"/>
              </a:endParaRPr>
            </a:p>
          </p:txBody>
        </p:sp>
        <p:sp>
          <p:nvSpPr>
            <p:cNvPr id="11" name="TextBox 10">
              <a:extLst>
                <a:ext uri="{FF2B5EF4-FFF2-40B4-BE49-F238E27FC236}">
                  <a16:creationId xmlns:a16="http://schemas.microsoft.com/office/drawing/2014/main" id="{2D62C298-6745-2D01-B021-5F7C92B6C2B5}"/>
                </a:ext>
              </a:extLst>
            </p:cNvPr>
            <p:cNvSpPr txBox="1"/>
            <p:nvPr/>
          </p:nvSpPr>
          <p:spPr>
            <a:xfrm rot="1272182">
              <a:off x="5235913" y="1427512"/>
              <a:ext cx="336698" cy="612071"/>
            </a:xfrm>
            <a:prstGeom prst="rect">
              <a:avLst/>
            </a:prstGeom>
            <a:noFill/>
          </p:spPr>
          <p:txBody>
            <a:bodyPr wrap="square" rtlCol="0">
              <a:spAutoFit/>
            </a:bodyPr>
            <a:lstStyle/>
            <a:p>
              <a:r>
                <a:rPr lang="en-US" sz="7200" b="1">
                  <a:latin typeface="Trebuchet MS" panose="020B0603020202020204" pitchFamily="34" charset="0"/>
                </a:rPr>
                <a:t>#</a:t>
              </a:r>
              <a:endParaRPr lang="en-IN" sz="7200" b="1">
                <a:latin typeface="Trebuchet MS" panose="020B0603020202020204" pitchFamily="34" charset="0"/>
              </a:endParaRPr>
            </a:p>
          </p:txBody>
        </p:sp>
        <p:sp>
          <p:nvSpPr>
            <p:cNvPr id="12" name="TextBox 11">
              <a:extLst>
                <a:ext uri="{FF2B5EF4-FFF2-40B4-BE49-F238E27FC236}">
                  <a16:creationId xmlns:a16="http://schemas.microsoft.com/office/drawing/2014/main" id="{FE8E0B59-4AA8-60A5-F15A-16532F28EF6F}"/>
                </a:ext>
              </a:extLst>
            </p:cNvPr>
            <p:cNvSpPr txBox="1"/>
            <p:nvPr/>
          </p:nvSpPr>
          <p:spPr>
            <a:xfrm rot="18266528">
              <a:off x="2453943" y="1637491"/>
              <a:ext cx="336698" cy="600165"/>
            </a:xfrm>
            <a:prstGeom prst="rect">
              <a:avLst/>
            </a:prstGeom>
            <a:noFill/>
          </p:spPr>
          <p:txBody>
            <a:bodyPr wrap="square" rtlCol="0">
              <a:spAutoFit/>
            </a:bodyPr>
            <a:lstStyle/>
            <a:p>
              <a:r>
                <a:rPr lang="en-US" sz="7200" b="1" dirty="0">
                  <a:latin typeface="Trebuchet MS" panose="020B0603020202020204" pitchFamily="34" charset="0"/>
                </a:rPr>
                <a:t>!</a:t>
              </a:r>
              <a:endParaRPr lang="en-IN" sz="7200" b="1" dirty="0">
                <a:latin typeface="Trebuchet MS" panose="020B0603020202020204" pitchFamily="34" charset="0"/>
              </a:endParaRPr>
            </a:p>
          </p:txBody>
        </p:sp>
        <p:sp>
          <p:nvSpPr>
            <p:cNvPr id="13" name="Cloud Callout 1">
              <a:extLst>
                <a:ext uri="{FF2B5EF4-FFF2-40B4-BE49-F238E27FC236}">
                  <a16:creationId xmlns:a16="http://schemas.microsoft.com/office/drawing/2014/main" id="{34070970-3681-59B9-26AA-014AF897FD7D}"/>
                </a:ext>
              </a:extLst>
            </p:cNvPr>
            <p:cNvSpPr/>
            <p:nvPr/>
          </p:nvSpPr>
          <p:spPr>
            <a:xfrm>
              <a:off x="3949606" y="234546"/>
              <a:ext cx="2283474" cy="1180382"/>
            </a:xfrm>
            <a:prstGeom prst="cloudCallout">
              <a:avLst>
                <a:gd name="adj1" fmla="val -41812"/>
                <a:gd name="adj2" fmla="val 119141"/>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rebuchet MS" panose="020B0603020202020204" pitchFamily="34" charset="0"/>
                </a:rPr>
                <a:t>I Used the same product that performed well in my previous site still……??</a:t>
              </a:r>
              <a:endParaRPr lang="en-IN" sz="2400" b="1" dirty="0">
                <a:solidFill>
                  <a:schemeClr val="tx1"/>
                </a:solidFill>
                <a:latin typeface="Trebuchet MS" panose="020B0603020202020204" pitchFamily="34" charset="0"/>
              </a:endParaRPr>
            </a:p>
          </p:txBody>
        </p:sp>
        <p:sp>
          <p:nvSpPr>
            <p:cNvPr id="14" name="Cloud Callout 9">
              <a:extLst>
                <a:ext uri="{FF2B5EF4-FFF2-40B4-BE49-F238E27FC236}">
                  <a16:creationId xmlns:a16="http://schemas.microsoft.com/office/drawing/2014/main" id="{C507C33B-0DBF-C3AE-6819-EBDD3776D99D}"/>
                </a:ext>
              </a:extLst>
            </p:cNvPr>
            <p:cNvSpPr/>
            <p:nvPr/>
          </p:nvSpPr>
          <p:spPr>
            <a:xfrm>
              <a:off x="1066800" y="666750"/>
              <a:ext cx="1981200" cy="775746"/>
            </a:xfrm>
            <a:prstGeom prst="cloudCallout">
              <a:avLst>
                <a:gd name="adj1" fmla="val 55290"/>
                <a:gd name="adj2" fmla="val 86994"/>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rebuchet MS" panose="020B0603020202020204" pitchFamily="34" charset="0"/>
                </a:rPr>
                <a:t>Did I choose the Right brand ? </a:t>
              </a:r>
              <a:endParaRPr lang="en-IN" sz="2400" b="1" dirty="0">
                <a:solidFill>
                  <a:schemeClr val="tx1"/>
                </a:solidFill>
                <a:latin typeface="Trebuchet MS" panose="020B0603020202020204" pitchFamily="34" charset="0"/>
              </a:endParaRPr>
            </a:p>
          </p:txBody>
        </p:sp>
        <p:sp>
          <p:nvSpPr>
            <p:cNvPr id="15" name="Cloud Callout 10">
              <a:extLst>
                <a:ext uri="{FF2B5EF4-FFF2-40B4-BE49-F238E27FC236}">
                  <a16:creationId xmlns:a16="http://schemas.microsoft.com/office/drawing/2014/main" id="{CB163E8B-8BD5-CC2D-FE37-B1C665504552}"/>
                </a:ext>
              </a:extLst>
            </p:cNvPr>
            <p:cNvSpPr/>
            <p:nvPr/>
          </p:nvSpPr>
          <p:spPr>
            <a:xfrm>
              <a:off x="6130705" y="594777"/>
              <a:ext cx="3245861" cy="3055141"/>
            </a:xfrm>
            <a:prstGeom prst="cloudCallout">
              <a:avLst>
                <a:gd name="adj1" fmla="val -91238"/>
                <a:gd name="adj2" fmla="val -419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solidFill>
                <a:latin typeface="Trebuchet MS" panose="020B0603020202020204" pitchFamily="34" charset="0"/>
              </a:endParaRPr>
            </a:p>
            <a:p>
              <a:pPr algn="ctr"/>
              <a:r>
                <a:rPr lang="en-US" sz="2400" b="1" dirty="0">
                  <a:solidFill>
                    <a:schemeClr val="tx1"/>
                  </a:solidFill>
                  <a:latin typeface="Trebuchet MS" panose="020B0603020202020204" pitchFamily="34" charset="0"/>
                </a:rPr>
                <a:t>Oh … why didn’t someone explain that – </a:t>
              </a:r>
            </a:p>
            <a:p>
              <a:pPr algn="ctr"/>
              <a:endParaRPr lang="en-US" sz="2400" b="1" dirty="0">
                <a:solidFill>
                  <a:schemeClr val="tx1"/>
                </a:solidFill>
                <a:latin typeface="Trebuchet MS" panose="020B0603020202020204" pitchFamily="34" charset="0"/>
              </a:endParaRPr>
            </a:p>
            <a:p>
              <a:pPr algn="ctr"/>
              <a:r>
                <a:rPr lang="en-US" sz="2400" b="1" dirty="0">
                  <a:solidFill>
                    <a:schemeClr val="tx1"/>
                  </a:solidFill>
                  <a:latin typeface="Trebuchet MS" panose="020B0603020202020204" pitchFamily="34" charset="0"/>
                </a:rPr>
                <a:t>A proper  substrate is essential ? </a:t>
              </a:r>
            </a:p>
            <a:p>
              <a:pPr algn="ctr"/>
              <a:endParaRPr lang="en-US" sz="2400" b="1" dirty="0">
                <a:solidFill>
                  <a:schemeClr val="tx1"/>
                </a:solidFill>
                <a:latin typeface="Trebuchet MS" panose="020B0603020202020204" pitchFamily="34" charset="0"/>
              </a:endParaRPr>
            </a:p>
            <a:p>
              <a:pPr algn="ctr"/>
              <a:r>
                <a:rPr lang="en-US" sz="2400" b="1" dirty="0">
                  <a:solidFill>
                    <a:schemeClr val="tx1"/>
                  </a:solidFill>
                  <a:latin typeface="Trebuchet MS" panose="020B0603020202020204" pitchFamily="34" charset="0"/>
                </a:rPr>
                <a:t>Improper planning of construction sequence can be disastrous ? </a:t>
              </a:r>
            </a:p>
            <a:p>
              <a:pPr algn="ctr"/>
              <a:endParaRPr lang="en-US" sz="2400" b="1" dirty="0">
                <a:solidFill>
                  <a:schemeClr val="tx1"/>
                </a:solidFill>
                <a:latin typeface="Trebuchet MS" panose="020B0603020202020204" pitchFamily="34" charset="0"/>
              </a:endParaRPr>
            </a:p>
            <a:p>
              <a:pPr algn="ctr"/>
              <a:r>
                <a:rPr lang="en-US" sz="2400" b="1" dirty="0">
                  <a:solidFill>
                    <a:schemeClr val="tx1"/>
                  </a:solidFill>
                  <a:latin typeface="Trebuchet MS" panose="020B0603020202020204" pitchFamily="34" charset="0"/>
                </a:rPr>
                <a:t>Installed waterproofing shouldn’t be damaged ? </a:t>
              </a:r>
              <a:endParaRPr lang="en-IN" sz="2400" b="1" dirty="0">
                <a:solidFill>
                  <a:schemeClr val="tx1"/>
                </a:solidFill>
                <a:latin typeface="Trebuchet MS" panose="020B0603020202020204" pitchFamily="34" charset="0"/>
              </a:endParaRPr>
            </a:p>
          </p:txBody>
        </p:sp>
        <p:sp>
          <p:nvSpPr>
            <p:cNvPr id="16" name="Cloud Callout 11">
              <a:extLst>
                <a:ext uri="{FF2B5EF4-FFF2-40B4-BE49-F238E27FC236}">
                  <a16:creationId xmlns:a16="http://schemas.microsoft.com/office/drawing/2014/main" id="{6F154BEC-BE7F-5343-CCC9-E82A9498A20E}"/>
                </a:ext>
              </a:extLst>
            </p:cNvPr>
            <p:cNvSpPr/>
            <p:nvPr/>
          </p:nvSpPr>
          <p:spPr>
            <a:xfrm>
              <a:off x="340716" y="1703579"/>
              <a:ext cx="2242321" cy="1095425"/>
            </a:xfrm>
            <a:prstGeom prst="cloudCallout">
              <a:avLst>
                <a:gd name="adj1" fmla="val 75070"/>
                <a:gd name="adj2" fmla="val 31884"/>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rebuchet MS" panose="020B0603020202020204" pitchFamily="34" charset="0"/>
                </a:rPr>
                <a:t>Did I choose the Right Waterproofing Contractor ? </a:t>
              </a:r>
              <a:endParaRPr lang="en-IN" sz="2400" b="1" dirty="0">
                <a:solidFill>
                  <a:schemeClr val="tx1"/>
                </a:solidFill>
                <a:latin typeface="Trebuchet MS" panose="020B0603020202020204" pitchFamily="34" charset="0"/>
              </a:endParaRPr>
            </a:p>
          </p:txBody>
        </p:sp>
        <p:sp>
          <p:nvSpPr>
            <p:cNvPr id="17" name="Rectangle 16">
              <a:extLst>
                <a:ext uri="{FF2B5EF4-FFF2-40B4-BE49-F238E27FC236}">
                  <a16:creationId xmlns:a16="http://schemas.microsoft.com/office/drawing/2014/main" id="{92A4423B-52AC-56E4-E6B2-DDE9EE2C00C1}"/>
                </a:ext>
              </a:extLst>
            </p:cNvPr>
            <p:cNvSpPr/>
            <p:nvPr/>
          </p:nvSpPr>
          <p:spPr>
            <a:xfrm>
              <a:off x="4174177" y="4552950"/>
              <a:ext cx="917166"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50">
                <a:solidFill>
                  <a:schemeClr val="tx1"/>
                </a:solidFill>
                <a:latin typeface="Trebuchet MS" panose="020B0603020202020204" pitchFamily="34" charset="0"/>
              </a:endParaRPr>
            </a:p>
          </p:txBody>
        </p:sp>
      </p:grpSp>
      <p:sp>
        <p:nvSpPr>
          <p:cNvPr id="2" name="TextBox 1">
            <a:extLst>
              <a:ext uri="{FF2B5EF4-FFF2-40B4-BE49-F238E27FC236}">
                <a16:creationId xmlns:a16="http://schemas.microsoft.com/office/drawing/2014/main" id="{F87FA54E-D210-8A3E-9075-E817566128D9}"/>
              </a:ext>
            </a:extLst>
          </p:cNvPr>
          <p:cNvSpPr txBox="1"/>
          <p:nvPr/>
        </p:nvSpPr>
        <p:spPr>
          <a:xfrm>
            <a:off x="15216186" y="9755851"/>
            <a:ext cx="5943600" cy="323165"/>
          </a:xfrm>
          <a:prstGeom prst="rect">
            <a:avLst/>
          </a:prstGeom>
          <a:noFill/>
        </p:spPr>
        <p:txBody>
          <a:bodyPr wrap="square" rtlCol="0">
            <a:spAutoFit/>
          </a:bodyPr>
          <a:lstStyle/>
          <a:p>
            <a:r>
              <a:rPr lang="en-US" sz="1500" i="1" dirty="0">
                <a:solidFill>
                  <a:schemeClr val="tx2"/>
                </a:solidFill>
              </a:rPr>
              <a:t>For Representation purpose Only</a:t>
            </a:r>
            <a:endParaRPr lang="en-IN" sz="1500" i="1" dirty="0">
              <a:solidFill>
                <a:schemeClr val="tx2"/>
              </a:solidFill>
            </a:endParaRPr>
          </a:p>
        </p:txBody>
      </p:sp>
      <p:grpSp>
        <p:nvGrpSpPr>
          <p:cNvPr id="3" name="Group 2">
            <a:extLst>
              <a:ext uri="{FF2B5EF4-FFF2-40B4-BE49-F238E27FC236}">
                <a16:creationId xmlns:a16="http://schemas.microsoft.com/office/drawing/2014/main" id="{991E6EB7-65E0-D1AC-5D63-F82305EBD75F}"/>
              </a:ext>
            </a:extLst>
          </p:cNvPr>
          <p:cNvGrpSpPr/>
          <p:nvPr/>
        </p:nvGrpSpPr>
        <p:grpSpPr>
          <a:xfrm>
            <a:off x="0" y="0"/>
            <a:ext cx="18288000" cy="190500"/>
            <a:chOff x="0" y="0"/>
            <a:chExt cx="4816593" cy="884197"/>
          </a:xfrm>
        </p:grpSpPr>
        <p:sp>
          <p:nvSpPr>
            <p:cNvPr id="7" name="Freeform 3">
              <a:extLst>
                <a:ext uri="{FF2B5EF4-FFF2-40B4-BE49-F238E27FC236}">
                  <a16:creationId xmlns:a16="http://schemas.microsoft.com/office/drawing/2014/main" id="{8484373D-43C6-9FA3-358D-EA6524BF79B5}"/>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8" name="TextBox 4">
              <a:extLst>
                <a:ext uri="{FF2B5EF4-FFF2-40B4-BE49-F238E27FC236}">
                  <a16:creationId xmlns:a16="http://schemas.microsoft.com/office/drawing/2014/main" id="{1566BF4F-ABE0-9E25-C9A2-6E3E0AE128B1}"/>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22" name="Group 5">
            <a:extLst>
              <a:ext uri="{FF2B5EF4-FFF2-40B4-BE49-F238E27FC236}">
                <a16:creationId xmlns:a16="http://schemas.microsoft.com/office/drawing/2014/main" id="{A1135C5A-35B0-37EE-4B35-178015007DFB}"/>
              </a:ext>
            </a:extLst>
          </p:cNvPr>
          <p:cNvGrpSpPr/>
          <p:nvPr/>
        </p:nvGrpSpPr>
        <p:grpSpPr>
          <a:xfrm rot="-10800000">
            <a:off x="-1447800" y="-8209"/>
            <a:ext cx="3810000" cy="387116"/>
            <a:chOff x="0" y="0"/>
            <a:chExt cx="24122064" cy="6379210"/>
          </a:xfrm>
        </p:grpSpPr>
        <p:sp>
          <p:nvSpPr>
            <p:cNvPr id="23" name="Freeform 6">
              <a:extLst>
                <a:ext uri="{FF2B5EF4-FFF2-40B4-BE49-F238E27FC236}">
                  <a16:creationId xmlns:a16="http://schemas.microsoft.com/office/drawing/2014/main" id="{A84D9B31-9941-D417-59BE-7FBD5E6C0F86}"/>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25" name="Freeform 7">
            <a:extLst>
              <a:ext uri="{FF2B5EF4-FFF2-40B4-BE49-F238E27FC236}">
                <a16:creationId xmlns:a16="http://schemas.microsoft.com/office/drawing/2014/main" id="{E9F66042-7816-0257-9FC6-BC10636759CE}"/>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5"/>
            <a:stretch>
              <a:fillRect t="-103246" b="-111314"/>
            </a:stretch>
          </a:blipFill>
        </p:spPr>
        <p:txBody>
          <a:bodyPr/>
          <a:lstStyle/>
          <a:p>
            <a:endParaRPr lang="en-IN"/>
          </a:p>
        </p:txBody>
      </p:sp>
    </p:spTree>
    <p:extLst>
      <p:ext uri="{BB962C8B-B14F-4D97-AF65-F5344CB8AC3E}">
        <p14:creationId xmlns:p14="http://schemas.microsoft.com/office/powerpoint/2010/main" val="869874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79470-B298-CDD8-D57A-D73D9FEED7A5}"/>
            </a:ext>
          </a:extLst>
        </p:cNvPr>
        <p:cNvGrpSpPr/>
        <p:nvPr/>
      </p:nvGrpSpPr>
      <p:grpSpPr>
        <a:xfrm>
          <a:off x="0" y="0"/>
          <a:ext cx="0" cy="0"/>
          <a:chOff x="0" y="0"/>
          <a:chExt cx="0" cy="0"/>
        </a:xfrm>
      </p:grpSpPr>
      <p:sp>
        <p:nvSpPr>
          <p:cNvPr id="16" name="Title 4">
            <a:extLst>
              <a:ext uri="{FF2B5EF4-FFF2-40B4-BE49-F238E27FC236}">
                <a16:creationId xmlns:a16="http://schemas.microsoft.com/office/drawing/2014/main" id="{B580BA5A-E5B3-0CB8-A4CA-FC953898A175}"/>
              </a:ext>
            </a:extLst>
          </p:cNvPr>
          <p:cNvSpPr txBox="1">
            <a:spLocks/>
          </p:cNvSpPr>
          <p:nvPr/>
        </p:nvSpPr>
        <p:spPr>
          <a:xfrm>
            <a:off x="3439643" y="762716"/>
            <a:ext cx="10322889" cy="713582"/>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600" b="1" dirty="0">
                <a:solidFill>
                  <a:srgbClr val="0070C0"/>
                </a:solidFill>
                <a:latin typeface="+mn-lt"/>
              </a:rPr>
              <a:t>Is our current industry approach correct ?</a:t>
            </a:r>
            <a:endParaRPr lang="en-IN" sz="3600" b="1" dirty="0">
              <a:solidFill>
                <a:srgbClr val="0070C0"/>
              </a:solidFill>
              <a:latin typeface="+mn-lt"/>
            </a:endParaRPr>
          </a:p>
        </p:txBody>
      </p:sp>
      <p:sp>
        <p:nvSpPr>
          <p:cNvPr id="17" name="Text Placeholder 5">
            <a:extLst>
              <a:ext uri="{FF2B5EF4-FFF2-40B4-BE49-F238E27FC236}">
                <a16:creationId xmlns:a16="http://schemas.microsoft.com/office/drawing/2014/main" id="{171F3D3C-E058-A758-C96C-59BFA92E2654}"/>
              </a:ext>
            </a:extLst>
          </p:cNvPr>
          <p:cNvSpPr txBox="1">
            <a:spLocks/>
          </p:cNvSpPr>
          <p:nvPr/>
        </p:nvSpPr>
        <p:spPr>
          <a:xfrm>
            <a:off x="213156" y="1462109"/>
            <a:ext cx="17681979" cy="3493682"/>
          </a:xfrm>
          <a:prstGeom prst="rect">
            <a:avLst/>
          </a:prstGeom>
        </p:spPr>
        <p:txBody>
          <a:bodyPr wrap="square" lIns="0" tIns="0" rIns="0" bIns="0">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70000"/>
              </a:lnSpc>
            </a:pPr>
            <a:r>
              <a:rPr lang="en-US" sz="2400" b="1" dirty="0">
                <a:latin typeface="Trebuchet MS" panose="020B0603020202020204" pitchFamily="34" charset="0"/>
              </a:rPr>
              <a:t>What comes 1st ….  designing a project specific engineered waterproofing specification or directly float a BOQ enquiry ?? </a:t>
            </a:r>
          </a:p>
          <a:p>
            <a:pPr>
              <a:lnSpc>
                <a:spcPct val="170000"/>
              </a:lnSpc>
            </a:pPr>
            <a:r>
              <a:rPr lang="en-US" sz="2400" dirty="0">
                <a:latin typeface="Trebuchet MS" panose="020B0603020202020204" pitchFamily="34" charset="0"/>
              </a:rPr>
              <a:t>Often clients seek offers from multiple product suppliers or applicators - who naturally propose widely differing systems at vastly varying prices !?</a:t>
            </a:r>
          </a:p>
          <a:p>
            <a:pPr>
              <a:lnSpc>
                <a:spcPct val="170000"/>
              </a:lnSpc>
            </a:pPr>
            <a:r>
              <a:rPr lang="en-US" sz="2400" dirty="0">
                <a:latin typeface="Trebuchet MS" panose="020B0603020202020204" pitchFamily="34" charset="0"/>
              </a:rPr>
              <a:t>A confused client most often awards the contract to an insufficiently designed “cheap” solution !?</a:t>
            </a:r>
          </a:p>
          <a:p>
            <a:pPr>
              <a:lnSpc>
                <a:spcPct val="170000"/>
              </a:lnSpc>
            </a:pPr>
            <a:endParaRPr lang="en-IN" sz="2400" dirty="0">
              <a:latin typeface="Trebuchet MS" panose="020B0603020202020204" pitchFamily="34" charset="0"/>
            </a:endParaRPr>
          </a:p>
        </p:txBody>
      </p:sp>
      <p:sp>
        <p:nvSpPr>
          <p:cNvPr id="19" name="Cloud Callout 9">
            <a:extLst>
              <a:ext uri="{FF2B5EF4-FFF2-40B4-BE49-F238E27FC236}">
                <a16:creationId xmlns:a16="http://schemas.microsoft.com/office/drawing/2014/main" id="{10869F38-1752-70C5-CD6E-FE786695386B}"/>
              </a:ext>
            </a:extLst>
          </p:cNvPr>
          <p:cNvSpPr/>
          <p:nvPr/>
        </p:nvSpPr>
        <p:spPr>
          <a:xfrm>
            <a:off x="213157" y="5124712"/>
            <a:ext cx="4359329" cy="2269949"/>
          </a:xfrm>
          <a:prstGeom prst="cloudCallout">
            <a:avLst>
              <a:gd name="adj1" fmla="val 72119"/>
              <a:gd name="adj2" fmla="val -42988"/>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100" b="1" dirty="0">
                <a:solidFill>
                  <a:schemeClr val="tx1"/>
                </a:solidFill>
              </a:rPr>
              <a:t>We want to eat mangoes , but evaluate oranges and then buy a banana ??</a:t>
            </a:r>
          </a:p>
        </p:txBody>
      </p:sp>
      <p:sp>
        <p:nvSpPr>
          <p:cNvPr id="20" name="Cloud Callout 9">
            <a:extLst>
              <a:ext uri="{FF2B5EF4-FFF2-40B4-BE49-F238E27FC236}">
                <a16:creationId xmlns:a16="http://schemas.microsoft.com/office/drawing/2014/main" id="{E97657B1-B577-2D51-7926-999C520C6E78}"/>
              </a:ext>
            </a:extLst>
          </p:cNvPr>
          <p:cNvSpPr/>
          <p:nvPr/>
        </p:nvSpPr>
        <p:spPr>
          <a:xfrm>
            <a:off x="4572483" y="5673437"/>
            <a:ext cx="5726778" cy="3631943"/>
          </a:xfrm>
          <a:prstGeom prst="cloudCallout">
            <a:avLst>
              <a:gd name="adj1" fmla="val 44131"/>
              <a:gd name="adj2" fmla="val -68357"/>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100" b="1" dirty="0">
                <a:solidFill>
                  <a:schemeClr val="tx1"/>
                </a:solidFill>
              </a:rPr>
              <a:t>Budgets get decided before assessing risks &amp; assessing project performance requirements. </a:t>
            </a:r>
          </a:p>
          <a:p>
            <a:endParaRPr lang="en-US" sz="2100" b="1" dirty="0">
              <a:solidFill>
                <a:schemeClr val="tx1"/>
              </a:solidFill>
            </a:endParaRPr>
          </a:p>
          <a:p>
            <a:r>
              <a:rPr lang="en-US" sz="2100" b="1" dirty="0">
                <a:solidFill>
                  <a:schemeClr val="tx1"/>
                </a:solidFill>
              </a:rPr>
              <a:t>Enquiries are floated for predefined budgets </a:t>
            </a:r>
          </a:p>
          <a:p>
            <a:r>
              <a:rPr lang="en-US" sz="2100" b="1" dirty="0">
                <a:solidFill>
                  <a:schemeClr val="tx1"/>
                </a:solidFill>
              </a:rPr>
              <a:t>of Rs. X / Sqm ?? </a:t>
            </a:r>
          </a:p>
        </p:txBody>
      </p:sp>
      <p:sp>
        <p:nvSpPr>
          <p:cNvPr id="21" name="Cloud Callout 9">
            <a:extLst>
              <a:ext uri="{FF2B5EF4-FFF2-40B4-BE49-F238E27FC236}">
                <a16:creationId xmlns:a16="http://schemas.microsoft.com/office/drawing/2014/main" id="{C81E189D-5D1F-2A24-A193-A4F53CDFB910}"/>
              </a:ext>
            </a:extLst>
          </p:cNvPr>
          <p:cNvSpPr/>
          <p:nvPr/>
        </p:nvSpPr>
        <p:spPr>
          <a:xfrm>
            <a:off x="10667999" y="4852922"/>
            <a:ext cx="6960179" cy="3345506"/>
          </a:xfrm>
          <a:prstGeom prst="cloudCallout">
            <a:avLst>
              <a:gd name="adj1" fmla="val -30142"/>
              <a:gd name="adj2" fmla="val -5090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14300" tIns="57150" rIns="114300" bIns="57150" rtlCol="0" anchor="ctr"/>
          <a:lstStyle/>
          <a:p>
            <a:r>
              <a:rPr lang="en-US" sz="2063" b="1" dirty="0">
                <a:solidFill>
                  <a:schemeClr val="tx1"/>
                </a:solidFill>
              </a:rPr>
              <a:t>Contracts awarded with vague single line BOQ descriptions…..!?</a:t>
            </a:r>
          </a:p>
          <a:p>
            <a:endParaRPr lang="en-US" sz="2063" b="1" dirty="0">
              <a:solidFill>
                <a:schemeClr val="tx1"/>
              </a:solidFill>
            </a:endParaRPr>
          </a:p>
          <a:p>
            <a:r>
              <a:rPr lang="en-US" sz="2063" b="1" dirty="0">
                <a:solidFill>
                  <a:schemeClr val="tx1"/>
                </a:solidFill>
              </a:rPr>
              <a:t>Post award client obviously faces risk of extra items, spec deviations and eventually disputes ???</a:t>
            </a:r>
          </a:p>
        </p:txBody>
      </p:sp>
      <p:sp>
        <p:nvSpPr>
          <p:cNvPr id="2" name="TextBox 1">
            <a:extLst>
              <a:ext uri="{FF2B5EF4-FFF2-40B4-BE49-F238E27FC236}">
                <a16:creationId xmlns:a16="http://schemas.microsoft.com/office/drawing/2014/main" id="{B496D7E0-A422-A6A5-A624-3A5BCCB0374C}"/>
              </a:ext>
            </a:extLst>
          </p:cNvPr>
          <p:cNvSpPr txBox="1"/>
          <p:nvPr/>
        </p:nvSpPr>
        <p:spPr>
          <a:xfrm>
            <a:off x="15216186" y="9755851"/>
            <a:ext cx="5943600" cy="323165"/>
          </a:xfrm>
          <a:prstGeom prst="rect">
            <a:avLst/>
          </a:prstGeom>
          <a:noFill/>
        </p:spPr>
        <p:txBody>
          <a:bodyPr wrap="square" rtlCol="0">
            <a:spAutoFit/>
          </a:bodyPr>
          <a:lstStyle/>
          <a:p>
            <a:r>
              <a:rPr lang="en-US" sz="1500" i="1" dirty="0">
                <a:solidFill>
                  <a:schemeClr val="tx2"/>
                </a:solidFill>
              </a:rPr>
              <a:t>For Representation purpose Only</a:t>
            </a:r>
            <a:endParaRPr lang="en-IN" sz="1500" i="1" dirty="0">
              <a:solidFill>
                <a:schemeClr val="tx2"/>
              </a:solidFill>
            </a:endParaRPr>
          </a:p>
        </p:txBody>
      </p:sp>
      <p:grpSp>
        <p:nvGrpSpPr>
          <p:cNvPr id="3" name="Group 2">
            <a:extLst>
              <a:ext uri="{FF2B5EF4-FFF2-40B4-BE49-F238E27FC236}">
                <a16:creationId xmlns:a16="http://schemas.microsoft.com/office/drawing/2014/main" id="{02D382A5-EC9C-8C6F-EA51-3CDC1A49ABD8}"/>
              </a:ext>
            </a:extLst>
          </p:cNvPr>
          <p:cNvGrpSpPr/>
          <p:nvPr/>
        </p:nvGrpSpPr>
        <p:grpSpPr>
          <a:xfrm>
            <a:off x="0" y="0"/>
            <a:ext cx="18288000" cy="190500"/>
            <a:chOff x="0" y="0"/>
            <a:chExt cx="4816593" cy="884197"/>
          </a:xfrm>
        </p:grpSpPr>
        <p:sp>
          <p:nvSpPr>
            <p:cNvPr id="4" name="Freeform 3">
              <a:extLst>
                <a:ext uri="{FF2B5EF4-FFF2-40B4-BE49-F238E27FC236}">
                  <a16:creationId xmlns:a16="http://schemas.microsoft.com/office/drawing/2014/main" id="{57A81353-4622-7BE0-945E-718788801F68}"/>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5" name="TextBox 4">
              <a:extLst>
                <a:ext uri="{FF2B5EF4-FFF2-40B4-BE49-F238E27FC236}">
                  <a16:creationId xmlns:a16="http://schemas.microsoft.com/office/drawing/2014/main" id="{49769B70-F1AD-6E6C-FE1C-7302143F70D6}"/>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7" name="Group 5">
            <a:extLst>
              <a:ext uri="{FF2B5EF4-FFF2-40B4-BE49-F238E27FC236}">
                <a16:creationId xmlns:a16="http://schemas.microsoft.com/office/drawing/2014/main" id="{69EDB908-EBE6-44C7-E3ED-F685FED30CC4}"/>
              </a:ext>
            </a:extLst>
          </p:cNvPr>
          <p:cNvGrpSpPr/>
          <p:nvPr/>
        </p:nvGrpSpPr>
        <p:grpSpPr>
          <a:xfrm rot="-10800000">
            <a:off x="-1447800" y="-8209"/>
            <a:ext cx="3810000" cy="387116"/>
            <a:chOff x="0" y="0"/>
            <a:chExt cx="24122064" cy="6379210"/>
          </a:xfrm>
        </p:grpSpPr>
        <p:sp>
          <p:nvSpPr>
            <p:cNvPr id="8" name="Freeform 6">
              <a:extLst>
                <a:ext uri="{FF2B5EF4-FFF2-40B4-BE49-F238E27FC236}">
                  <a16:creationId xmlns:a16="http://schemas.microsoft.com/office/drawing/2014/main" id="{993CEA69-AD5E-40F0-5719-B50089AEECF3}"/>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11" name="Freeform 7">
            <a:extLst>
              <a:ext uri="{FF2B5EF4-FFF2-40B4-BE49-F238E27FC236}">
                <a16:creationId xmlns:a16="http://schemas.microsoft.com/office/drawing/2014/main" id="{B6FABF31-707E-C707-6351-672652EB278D}"/>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2"/>
            <a:stretch>
              <a:fillRect t="-103246" b="-111314"/>
            </a:stretch>
          </a:blipFill>
        </p:spPr>
        <p:txBody>
          <a:bodyPr/>
          <a:lstStyle/>
          <a:p>
            <a:endParaRPr lang="en-IN"/>
          </a:p>
        </p:txBody>
      </p:sp>
    </p:spTree>
    <p:extLst>
      <p:ext uri="{BB962C8B-B14F-4D97-AF65-F5344CB8AC3E}">
        <p14:creationId xmlns:p14="http://schemas.microsoft.com/office/powerpoint/2010/main" val="4121744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4C2B0E5-0A18-FBAE-AA0C-90DE7C7496A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A00970-4B96-481D-B138-97F44450AAAF}"/>
              </a:ext>
            </a:extLst>
          </p:cNvPr>
          <p:cNvGrpSpPr/>
          <p:nvPr/>
        </p:nvGrpSpPr>
        <p:grpSpPr>
          <a:xfrm>
            <a:off x="0" y="0"/>
            <a:ext cx="18288000" cy="171451"/>
            <a:chOff x="0" y="0"/>
            <a:chExt cx="4816593" cy="884197"/>
          </a:xfrm>
        </p:grpSpPr>
        <p:sp>
          <p:nvSpPr>
            <p:cNvPr id="3" name="Freeform 3">
              <a:extLst>
                <a:ext uri="{FF2B5EF4-FFF2-40B4-BE49-F238E27FC236}">
                  <a16:creationId xmlns:a16="http://schemas.microsoft.com/office/drawing/2014/main" id="{FA080751-F634-D5CF-FCB7-4374F0A4DA79}"/>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9F9DDD4D-5DEE-9EC7-7348-2F03629070D7}"/>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a:extLst>
              <a:ext uri="{FF2B5EF4-FFF2-40B4-BE49-F238E27FC236}">
                <a16:creationId xmlns:a16="http://schemas.microsoft.com/office/drawing/2014/main" id="{3A436834-10A0-180C-0246-7ECBF8DC6582}"/>
              </a:ext>
            </a:extLst>
          </p:cNvPr>
          <p:cNvSpPr/>
          <p:nvPr/>
        </p:nvSpPr>
        <p:spPr>
          <a:xfrm>
            <a:off x="15697200" y="185349"/>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3"/>
            <a:stretch>
              <a:fillRect l="-5471" t="-83780" r="-5471" b="-8291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5">
            <a:extLst>
              <a:ext uri="{FF2B5EF4-FFF2-40B4-BE49-F238E27FC236}">
                <a16:creationId xmlns:a16="http://schemas.microsoft.com/office/drawing/2014/main" id="{786AF155-A8AD-1FE6-EAA1-12963F3BD2AA}"/>
              </a:ext>
            </a:extLst>
          </p:cNvPr>
          <p:cNvGrpSpPr/>
          <p:nvPr/>
        </p:nvGrpSpPr>
        <p:grpSpPr>
          <a:xfrm rot="-10800000">
            <a:off x="-1447800" y="-8209"/>
            <a:ext cx="3810000" cy="387116"/>
            <a:chOff x="0" y="0"/>
            <a:chExt cx="24122064" cy="6379210"/>
          </a:xfrm>
          <a:solidFill>
            <a:srgbClr val="3AD7D0"/>
          </a:solidFill>
        </p:grpSpPr>
        <p:sp>
          <p:nvSpPr>
            <p:cNvPr id="11" name="Freeform 6">
              <a:extLst>
                <a:ext uri="{FF2B5EF4-FFF2-40B4-BE49-F238E27FC236}">
                  <a16:creationId xmlns:a16="http://schemas.microsoft.com/office/drawing/2014/main" id="{C6AB8E14-9AAD-A9E2-F84C-1147A3153BDF}"/>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 0">
            <a:extLst>
              <a:ext uri="{FF2B5EF4-FFF2-40B4-BE49-F238E27FC236}">
                <a16:creationId xmlns:a16="http://schemas.microsoft.com/office/drawing/2014/main" id="{3A7623F5-8066-16AC-5EF3-4377DA078977}"/>
              </a:ext>
            </a:extLst>
          </p:cNvPr>
          <p:cNvSpPr/>
          <p:nvPr/>
        </p:nvSpPr>
        <p:spPr>
          <a:xfrm>
            <a:off x="228600" y="590210"/>
            <a:ext cx="16855442" cy="777240"/>
          </a:xfrm>
          <a:prstGeom prst="rect">
            <a:avLst/>
          </a:prstGeom>
          <a:noFill/>
          <a:ln/>
        </p:spPr>
        <p:txBody>
          <a:bodyPr wrap="square" lIns="0" tIns="0" rIns="0" bIns="0"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Calibri"/>
                <a:ea typeface="Aptos Display" pitchFamily="34" charset="-122"/>
                <a:cs typeface="Aptos Display" pitchFamily="34" charset="-120"/>
              </a:rPr>
              <a:t>What Needs to Change ? </a:t>
            </a:r>
          </a:p>
        </p:txBody>
      </p:sp>
      <p:sp>
        <p:nvSpPr>
          <p:cNvPr id="9" name="Shape 1">
            <a:extLst>
              <a:ext uri="{FF2B5EF4-FFF2-40B4-BE49-F238E27FC236}">
                <a16:creationId xmlns:a16="http://schemas.microsoft.com/office/drawing/2014/main" id="{8B6D6C75-486B-4F83-A772-7484348EFE67}"/>
              </a:ext>
            </a:extLst>
          </p:cNvPr>
          <p:cNvSpPr/>
          <p:nvPr/>
        </p:nvSpPr>
        <p:spPr>
          <a:xfrm flipV="1">
            <a:off x="278234" y="1578752"/>
            <a:ext cx="4293765" cy="31310"/>
          </a:xfrm>
          <a:prstGeom prst="line">
            <a:avLst/>
          </a:prstGeom>
          <a:noFill/>
          <a:ln w="38100">
            <a:solidFill>
              <a:srgbClr val="0E7C7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 2">
            <a:extLst>
              <a:ext uri="{FF2B5EF4-FFF2-40B4-BE49-F238E27FC236}">
                <a16:creationId xmlns:a16="http://schemas.microsoft.com/office/drawing/2014/main" id="{CB4AD4CC-8646-8C0C-49BE-81AA86D80048}"/>
              </a:ext>
            </a:extLst>
          </p:cNvPr>
          <p:cNvSpPr/>
          <p:nvPr/>
        </p:nvSpPr>
        <p:spPr>
          <a:xfrm>
            <a:off x="102766" y="1297784"/>
            <a:ext cx="17907000" cy="3458182"/>
          </a:xfrm>
          <a:prstGeom prst="rect">
            <a:avLst/>
          </a:prstGeom>
          <a:noFill/>
          <a:ln/>
        </p:spPr>
        <p:txBody>
          <a:bodyPr wrap="square" lIns="0" tIns="0" rIns="0" bIns="0" rtlCol="0" anchor="ct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a:ln>
                  <a:noFill/>
                </a:ln>
                <a:solidFill>
                  <a:srgbClr val="92D050"/>
                </a:solidFill>
                <a:effectLst/>
                <a:uLnTx/>
                <a:uFillTx/>
                <a:latin typeface="Aptos" pitchFamily="34" charset="0"/>
                <a:ea typeface="Aptos" pitchFamily="34" charset="-122"/>
                <a:cs typeface="Aptos" pitchFamily="34" charset="-120"/>
              </a:rPr>
              <a:t>Structures now need to sustain erratic monsoons, extended rainfall &amp; severe heat </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a:ln>
                  <a:noFill/>
                </a:ln>
                <a:solidFill>
                  <a:srgbClr val="92D050"/>
                </a:solidFill>
                <a:effectLst/>
                <a:uLnTx/>
                <a:uFillTx/>
                <a:latin typeface="Aptos" pitchFamily="34" charset="0"/>
                <a:ea typeface="Aptos" pitchFamily="34" charset="-122"/>
                <a:cs typeface="Aptos" pitchFamily="34" charset="-120"/>
              </a:rPr>
              <a:t>Immediately transition toward high-performance specification designs supported by robustly engineered products that are correctly applied to reliably perform in these conditions !</a:t>
            </a:r>
          </a:p>
        </p:txBody>
      </p:sp>
      <p:pic>
        <p:nvPicPr>
          <p:cNvPr id="8" name="Picture 7">
            <a:extLst>
              <a:ext uri="{FF2B5EF4-FFF2-40B4-BE49-F238E27FC236}">
                <a16:creationId xmlns:a16="http://schemas.microsoft.com/office/drawing/2014/main" id="{F582EE94-DF6D-7F28-79CA-7417AC18FB7F}"/>
              </a:ext>
            </a:extLst>
          </p:cNvPr>
          <p:cNvPicPr>
            <a:picLocks noChangeAspect="1"/>
          </p:cNvPicPr>
          <p:nvPr/>
        </p:nvPicPr>
        <p:blipFill>
          <a:blip r:embed="rId4"/>
          <a:stretch>
            <a:fillRect/>
          </a:stretch>
        </p:blipFill>
        <p:spPr>
          <a:xfrm>
            <a:off x="2238365" y="4394560"/>
            <a:ext cx="13635802" cy="5707091"/>
          </a:xfrm>
          <a:prstGeom prst="rect">
            <a:avLst/>
          </a:prstGeom>
        </p:spPr>
      </p:pic>
    </p:spTree>
    <p:extLst>
      <p:ext uri="{BB962C8B-B14F-4D97-AF65-F5344CB8AC3E}">
        <p14:creationId xmlns:p14="http://schemas.microsoft.com/office/powerpoint/2010/main" val="233729209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29950-AFFB-9B31-9E61-7D3D8330A6E1}"/>
            </a:ext>
          </a:extLst>
        </p:cNvPr>
        <p:cNvGrpSpPr/>
        <p:nvPr/>
      </p:nvGrpSpPr>
      <p:grpSpPr>
        <a:xfrm>
          <a:off x="0" y="0"/>
          <a:ext cx="0" cy="0"/>
          <a:chOff x="0" y="0"/>
          <a:chExt cx="0" cy="0"/>
        </a:xfrm>
      </p:grpSpPr>
      <p:sp>
        <p:nvSpPr>
          <p:cNvPr id="19459" name="Slide Number Placeholder 2">
            <a:extLst>
              <a:ext uri="{FF2B5EF4-FFF2-40B4-BE49-F238E27FC236}">
                <a16:creationId xmlns:a16="http://schemas.microsoft.com/office/drawing/2014/main" id="{CC18A1C8-72BA-3AA4-2E9A-2D784303C280}"/>
              </a:ext>
            </a:extLst>
          </p:cNvPr>
          <p:cNvSpPr>
            <a:spLocks noGrp="1" noChangeArrowheads="1"/>
          </p:cNvSpPr>
          <p:nvPr>
            <p:ph type="sldNum" sz="quarter" idx="12"/>
          </p:nvPr>
        </p:nvSpPr>
        <p:spPr bwMode="auto">
          <a:xfrm>
            <a:off x="12915900" y="9534526"/>
            <a:ext cx="4114800" cy="5476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137160" tIns="68580" rIns="137160" bIns="68580" rtlCol="0" anchor="ctr"/>
          <a:lstStyle>
            <a:defPPr>
              <a:defRPr lang="en-US"/>
            </a:defPPr>
            <a:lvl1pPr marL="0" algn="r" defTabSz="1371600" rtl="0" eaLnBrk="1" latinLnBrk="0" hangingPunct="1">
              <a:defRPr sz="1800" kern="1200">
                <a:solidFill>
                  <a:schemeClr val="tx1">
                    <a:tint val="75000"/>
                  </a:schemeClr>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371545" fontAlgn="base">
              <a:spcBef>
                <a:spcPct val="0"/>
              </a:spcBef>
              <a:spcAft>
                <a:spcPct val="0"/>
              </a:spcAft>
            </a:pPr>
            <a:fld id="{98BD0C0F-27EF-444E-B812-FAD38DDAE1D6}" type="slidenum">
              <a:rPr lang="en-GB" smtClean="0"/>
              <a:pPr defTabSz="1371545" fontAlgn="base">
                <a:spcBef>
                  <a:spcPct val="0"/>
                </a:spcBef>
                <a:spcAft>
                  <a:spcPct val="0"/>
                </a:spcAft>
              </a:pPr>
              <a:t>13</a:t>
            </a:fld>
            <a:endParaRPr lang="en-IN" altLang="en-US">
              <a:solidFill>
                <a:srgbClr val="898989"/>
              </a:solidFill>
              <a:cs typeface="Arial" panose="020B0604020202020204" pitchFamily="34" charset="0"/>
            </a:endParaRPr>
          </a:p>
        </p:txBody>
      </p:sp>
      <p:sp>
        <p:nvSpPr>
          <p:cNvPr id="19460" name="Title 1">
            <a:extLst>
              <a:ext uri="{FF2B5EF4-FFF2-40B4-BE49-F238E27FC236}">
                <a16:creationId xmlns:a16="http://schemas.microsoft.com/office/drawing/2014/main" id="{7B5ABDBE-A001-3BB2-B55E-D2C34E425CE3}"/>
              </a:ext>
            </a:extLst>
          </p:cNvPr>
          <p:cNvSpPr txBox="1">
            <a:spLocks/>
          </p:cNvSpPr>
          <p:nvPr/>
        </p:nvSpPr>
        <p:spPr bwMode="auto">
          <a:xfrm>
            <a:off x="2987388" y="895112"/>
            <a:ext cx="16316325" cy="761711"/>
          </a:xfrm>
          <a:prstGeom prst="rect">
            <a:avLst/>
          </a:prstGeom>
        </p:spPr>
        <p:txBody>
          <a:bodyPr wrap="square" lIns="114267" tIns="57132" rIns="114267" bIns="57132">
            <a:spAutoFit/>
          </a:bodyPr>
          <a:lstStyle>
            <a:defPPr>
              <a:defRPr lang="en-US"/>
            </a:defPPr>
            <a:lvl1pPr>
              <a:defRPr sz="3840" b="1">
                <a:solidFill>
                  <a:srgbClr val="2B4D95"/>
                </a:solidFill>
                <a:latin typeface="Calibri" pitchFamily="34" charset="0"/>
                <a:cs typeface="Arial" charset="0"/>
              </a:defRPr>
            </a:lvl1pPr>
          </a:lstStyle>
          <a:p>
            <a:r>
              <a:rPr lang="en-IN" altLang="en-US" sz="4200" dirty="0"/>
              <a:t>Why do Leakages take place after execution ?</a:t>
            </a:r>
          </a:p>
        </p:txBody>
      </p:sp>
      <p:pic>
        <p:nvPicPr>
          <p:cNvPr id="4" name="Picture 3">
            <a:extLst>
              <a:ext uri="{FF2B5EF4-FFF2-40B4-BE49-F238E27FC236}">
                <a16:creationId xmlns:a16="http://schemas.microsoft.com/office/drawing/2014/main" id="{93010CF7-25CD-97BA-C6CD-1230A051D96A}"/>
              </a:ext>
            </a:extLst>
          </p:cNvPr>
          <p:cNvPicPr>
            <a:picLocks noChangeAspect="1"/>
          </p:cNvPicPr>
          <p:nvPr/>
        </p:nvPicPr>
        <p:blipFill>
          <a:blip r:embed="rId2"/>
          <a:stretch>
            <a:fillRect/>
          </a:stretch>
        </p:blipFill>
        <p:spPr>
          <a:xfrm>
            <a:off x="1014413" y="1753018"/>
            <a:ext cx="16016288" cy="8329196"/>
          </a:xfrm>
          <a:prstGeom prst="rect">
            <a:avLst/>
          </a:prstGeom>
        </p:spPr>
      </p:pic>
      <p:sp>
        <p:nvSpPr>
          <p:cNvPr id="5" name="Rectangle: Rounded Corners 4">
            <a:extLst>
              <a:ext uri="{FF2B5EF4-FFF2-40B4-BE49-F238E27FC236}">
                <a16:creationId xmlns:a16="http://schemas.microsoft.com/office/drawing/2014/main" id="{81BE2D33-AB22-B97C-04F7-5FCC46064BAB}"/>
              </a:ext>
            </a:extLst>
          </p:cNvPr>
          <p:cNvSpPr/>
          <p:nvPr/>
        </p:nvSpPr>
        <p:spPr>
          <a:xfrm>
            <a:off x="2514600" y="2757488"/>
            <a:ext cx="2628900" cy="1371600"/>
          </a:xfrm>
          <a:prstGeom prst="roundRect">
            <a:avLst/>
          </a:prstGeom>
          <a:solidFill>
            <a:schemeClr val="accent2">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sz="2700" b="1" dirty="0"/>
              <a:t>Product</a:t>
            </a:r>
          </a:p>
        </p:txBody>
      </p:sp>
      <p:sp>
        <p:nvSpPr>
          <p:cNvPr id="6" name="Rectangle: Rounded Corners 5">
            <a:extLst>
              <a:ext uri="{FF2B5EF4-FFF2-40B4-BE49-F238E27FC236}">
                <a16:creationId xmlns:a16="http://schemas.microsoft.com/office/drawing/2014/main" id="{B2950A60-1BC9-D86E-6CB8-61B5D264EF51}"/>
              </a:ext>
            </a:extLst>
          </p:cNvPr>
          <p:cNvSpPr/>
          <p:nvPr/>
        </p:nvSpPr>
        <p:spPr>
          <a:xfrm>
            <a:off x="5400675" y="2757488"/>
            <a:ext cx="2628900" cy="1371600"/>
          </a:xfrm>
          <a:prstGeom prst="round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sz="2700" b="1" dirty="0"/>
              <a:t>Process</a:t>
            </a:r>
          </a:p>
        </p:txBody>
      </p:sp>
      <p:sp>
        <p:nvSpPr>
          <p:cNvPr id="7" name="Rectangle: Rounded Corners 6">
            <a:extLst>
              <a:ext uri="{FF2B5EF4-FFF2-40B4-BE49-F238E27FC236}">
                <a16:creationId xmlns:a16="http://schemas.microsoft.com/office/drawing/2014/main" id="{44DDD934-E435-375F-E791-1667E590B215}"/>
              </a:ext>
            </a:extLst>
          </p:cNvPr>
          <p:cNvSpPr/>
          <p:nvPr/>
        </p:nvSpPr>
        <p:spPr>
          <a:xfrm>
            <a:off x="8286750" y="2757488"/>
            <a:ext cx="2628900" cy="1371600"/>
          </a:xfrm>
          <a:prstGeom prst="roundRect">
            <a:avLst/>
          </a:prstGeom>
          <a:solidFill>
            <a:schemeClr val="accent4"/>
          </a:solidFill>
        </p:spPr>
        <p:style>
          <a:lnRef idx="2">
            <a:schemeClr val="dk1"/>
          </a:lnRef>
          <a:fillRef idx="1">
            <a:schemeClr val="lt1"/>
          </a:fillRef>
          <a:effectRef idx="0">
            <a:schemeClr val="dk1"/>
          </a:effectRef>
          <a:fontRef idx="minor">
            <a:schemeClr val="dk1"/>
          </a:fontRef>
        </p:style>
        <p:txBody>
          <a:bodyPr rtlCol="0" anchor="ctr"/>
          <a:lstStyle/>
          <a:p>
            <a:pPr algn="ctr"/>
            <a:r>
              <a:rPr lang="en-GB" sz="2700" b="1" dirty="0"/>
              <a:t>People</a:t>
            </a:r>
          </a:p>
        </p:txBody>
      </p:sp>
      <p:sp>
        <p:nvSpPr>
          <p:cNvPr id="8" name="Rectangle: Rounded Corners 7">
            <a:extLst>
              <a:ext uri="{FF2B5EF4-FFF2-40B4-BE49-F238E27FC236}">
                <a16:creationId xmlns:a16="http://schemas.microsoft.com/office/drawing/2014/main" id="{36B7E04D-75B2-C1B1-E1F5-E23EED9A76E0}"/>
              </a:ext>
            </a:extLst>
          </p:cNvPr>
          <p:cNvSpPr/>
          <p:nvPr/>
        </p:nvSpPr>
        <p:spPr>
          <a:xfrm>
            <a:off x="12587288" y="5414963"/>
            <a:ext cx="2157413" cy="1371600"/>
          </a:xfrm>
          <a:prstGeom prst="roundRect">
            <a:avLst/>
          </a:prstGeom>
          <a:solidFill>
            <a:srgbClr val="FF0000"/>
          </a:solidFill>
          <a:effectLst>
            <a:glow rad="139700">
              <a:schemeClr val="accent2">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r>
              <a:rPr lang="en-GB" sz="2700" b="1" dirty="0">
                <a:solidFill>
                  <a:schemeClr val="bg1"/>
                </a:solidFill>
              </a:rPr>
              <a:t>Leakages</a:t>
            </a:r>
          </a:p>
        </p:txBody>
      </p:sp>
      <p:sp>
        <p:nvSpPr>
          <p:cNvPr id="10" name="Rectangle: Rounded Corners 9">
            <a:extLst>
              <a:ext uri="{FF2B5EF4-FFF2-40B4-BE49-F238E27FC236}">
                <a16:creationId xmlns:a16="http://schemas.microsoft.com/office/drawing/2014/main" id="{02E9BA4B-0981-7DC8-FF5B-4875D0D286CD}"/>
              </a:ext>
            </a:extLst>
          </p:cNvPr>
          <p:cNvSpPr/>
          <p:nvPr/>
        </p:nvSpPr>
        <p:spPr>
          <a:xfrm>
            <a:off x="2514600" y="7729538"/>
            <a:ext cx="2628900" cy="1371600"/>
          </a:xfrm>
          <a:prstGeom prst="round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sz="2700" b="1" dirty="0"/>
              <a:t>Client</a:t>
            </a:r>
          </a:p>
        </p:txBody>
      </p:sp>
      <p:sp>
        <p:nvSpPr>
          <p:cNvPr id="12" name="Rectangle: Rounded Corners 11">
            <a:extLst>
              <a:ext uri="{FF2B5EF4-FFF2-40B4-BE49-F238E27FC236}">
                <a16:creationId xmlns:a16="http://schemas.microsoft.com/office/drawing/2014/main" id="{7E0188FD-A684-D439-FBEA-D8B1C643EFF7}"/>
              </a:ext>
            </a:extLst>
          </p:cNvPr>
          <p:cNvSpPr/>
          <p:nvPr/>
        </p:nvSpPr>
        <p:spPr>
          <a:xfrm>
            <a:off x="5269230" y="7729538"/>
            <a:ext cx="2891790" cy="1371600"/>
          </a:xfrm>
          <a:prstGeom prst="round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sz="2700" b="1" dirty="0"/>
              <a:t>Environment</a:t>
            </a:r>
          </a:p>
        </p:txBody>
      </p:sp>
      <p:sp>
        <p:nvSpPr>
          <p:cNvPr id="14" name="Rectangle: Rounded Corners 13">
            <a:extLst>
              <a:ext uri="{FF2B5EF4-FFF2-40B4-BE49-F238E27FC236}">
                <a16:creationId xmlns:a16="http://schemas.microsoft.com/office/drawing/2014/main" id="{7FFF4D0E-F452-30EC-ADF8-071AA36CC26B}"/>
              </a:ext>
            </a:extLst>
          </p:cNvPr>
          <p:cNvSpPr/>
          <p:nvPr/>
        </p:nvSpPr>
        <p:spPr>
          <a:xfrm>
            <a:off x="8329613" y="7729538"/>
            <a:ext cx="2628900" cy="1371600"/>
          </a:xfrm>
          <a:prstGeom prst="round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sz="2700" b="1" dirty="0"/>
              <a:t>Machine</a:t>
            </a:r>
          </a:p>
        </p:txBody>
      </p:sp>
      <p:sp>
        <p:nvSpPr>
          <p:cNvPr id="16" name="Rectangle: Rounded Corners 15">
            <a:extLst>
              <a:ext uri="{FF2B5EF4-FFF2-40B4-BE49-F238E27FC236}">
                <a16:creationId xmlns:a16="http://schemas.microsoft.com/office/drawing/2014/main" id="{D4F79F38-F558-645A-D161-F2481AE9020D}"/>
              </a:ext>
            </a:extLst>
          </p:cNvPr>
          <p:cNvSpPr/>
          <p:nvPr/>
        </p:nvSpPr>
        <p:spPr>
          <a:xfrm>
            <a:off x="11365705" y="8872538"/>
            <a:ext cx="5293520" cy="1044891"/>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700"/>
          </a:p>
        </p:txBody>
      </p:sp>
      <p:sp>
        <p:nvSpPr>
          <p:cNvPr id="2" name="Oval 1">
            <a:extLst>
              <a:ext uri="{FF2B5EF4-FFF2-40B4-BE49-F238E27FC236}">
                <a16:creationId xmlns:a16="http://schemas.microsoft.com/office/drawing/2014/main" id="{24B8522A-E086-B640-5EF9-1405FC126D11}"/>
              </a:ext>
            </a:extLst>
          </p:cNvPr>
          <p:cNvSpPr/>
          <p:nvPr/>
        </p:nvSpPr>
        <p:spPr>
          <a:xfrm>
            <a:off x="12714648" y="1987817"/>
            <a:ext cx="3475281" cy="22594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700" dirty="0"/>
              <a:t>All these factors are responsible in various ways  </a:t>
            </a:r>
          </a:p>
        </p:txBody>
      </p:sp>
      <p:sp>
        <p:nvSpPr>
          <p:cNvPr id="15" name="TextBox 14">
            <a:extLst>
              <a:ext uri="{FF2B5EF4-FFF2-40B4-BE49-F238E27FC236}">
                <a16:creationId xmlns:a16="http://schemas.microsoft.com/office/drawing/2014/main" id="{9E41BFCA-07A5-A933-40FB-0C8B29A2B4BB}"/>
              </a:ext>
            </a:extLst>
          </p:cNvPr>
          <p:cNvSpPr txBox="1"/>
          <p:nvPr/>
        </p:nvSpPr>
        <p:spPr>
          <a:xfrm>
            <a:off x="15216186" y="9755851"/>
            <a:ext cx="5943600" cy="323165"/>
          </a:xfrm>
          <a:prstGeom prst="rect">
            <a:avLst/>
          </a:prstGeom>
          <a:noFill/>
        </p:spPr>
        <p:txBody>
          <a:bodyPr wrap="square" rtlCol="0">
            <a:spAutoFit/>
          </a:bodyPr>
          <a:lstStyle/>
          <a:p>
            <a:r>
              <a:rPr lang="en-US" sz="1500" i="1" dirty="0">
                <a:solidFill>
                  <a:schemeClr val="tx2"/>
                </a:solidFill>
              </a:rPr>
              <a:t>For Representation purpose Only</a:t>
            </a:r>
            <a:endParaRPr lang="en-IN" sz="1500" i="1" dirty="0">
              <a:solidFill>
                <a:schemeClr val="tx2"/>
              </a:solidFill>
            </a:endParaRPr>
          </a:p>
        </p:txBody>
      </p:sp>
      <p:grpSp>
        <p:nvGrpSpPr>
          <p:cNvPr id="13" name="Group 12">
            <a:extLst>
              <a:ext uri="{FF2B5EF4-FFF2-40B4-BE49-F238E27FC236}">
                <a16:creationId xmlns:a16="http://schemas.microsoft.com/office/drawing/2014/main" id="{7AFA937D-DC65-FF0D-3C69-23FBF4A50EB9}"/>
              </a:ext>
            </a:extLst>
          </p:cNvPr>
          <p:cNvGrpSpPr/>
          <p:nvPr/>
        </p:nvGrpSpPr>
        <p:grpSpPr>
          <a:xfrm>
            <a:off x="0" y="0"/>
            <a:ext cx="18288000" cy="190500"/>
            <a:chOff x="0" y="0"/>
            <a:chExt cx="4816593" cy="884197"/>
          </a:xfrm>
        </p:grpSpPr>
        <p:sp>
          <p:nvSpPr>
            <p:cNvPr id="17" name="Freeform 3">
              <a:extLst>
                <a:ext uri="{FF2B5EF4-FFF2-40B4-BE49-F238E27FC236}">
                  <a16:creationId xmlns:a16="http://schemas.microsoft.com/office/drawing/2014/main" id="{B997654D-8C40-FB1E-DB05-EBCF207857E6}"/>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19" name="TextBox 4">
              <a:extLst>
                <a:ext uri="{FF2B5EF4-FFF2-40B4-BE49-F238E27FC236}">
                  <a16:creationId xmlns:a16="http://schemas.microsoft.com/office/drawing/2014/main" id="{032B1C94-8A14-5113-32CE-2099E360F2F7}"/>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20" name="Group 5">
            <a:extLst>
              <a:ext uri="{FF2B5EF4-FFF2-40B4-BE49-F238E27FC236}">
                <a16:creationId xmlns:a16="http://schemas.microsoft.com/office/drawing/2014/main" id="{D64E0093-D242-C2F6-E07A-F0909C924B40}"/>
              </a:ext>
            </a:extLst>
          </p:cNvPr>
          <p:cNvGrpSpPr/>
          <p:nvPr/>
        </p:nvGrpSpPr>
        <p:grpSpPr>
          <a:xfrm rot="-10800000">
            <a:off x="-1447800" y="-8209"/>
            <a:ext cx="3810000" cy="387116"/>
            <a:chOff x="0" y="0"/>
            <a:chExt cx="24122064" cy="6379210"/>
          </a:xfrm>
        </p:grpSpPr>
        <p:sp>
          <p:nvSpPr>
            <p:cNvPr id="21" name="Freeform 6">
              <a:extLst>
                <a:ext uri="{FF2B5EF4-FFF2-40B4-BE49-F238E27FC236}">
                  <a16:creationId xmlns:a16="http://schemas.microsoft.com/office/drawing/2014/main" id="{883D48DD-5DE9-8D5E-E974-FD5BD0A68605}"/>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23" name="Freeform 7">
            <a:extLst>
              <a:ext uri="{FF2B5EF4-FFF2-40B4-BE49-F238E27FC236}">
                <a16:creationId xmlns:a16="http://schemas.microsoft.com/office/drawing/2014/main" id="{5BC40EF6-F107-5D1A-ABC1-6A71FAA96D39}"/>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endParaRPr lang="en-IN"/>
          </a:p>
        </p:txBody>
      </p:sp>
    </p:spTree>
    <p:extLst>
      <p:ext uri="{BB962C8B-B14F-4D97-AF65-F5344CB8AC3E}">
        <p14:creationId xmlns:p14="http://schemas.microsoft.com/office/powerpoint/2010/main" val="1977784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CC0E8-F524-CABE-C1F8-D0EDFDD3CD01}"/>
            </a:ext>
          </a:extLst>
        </p:cNvPr>
        <p:cNvGrpSpPr/>
        <p:nvPr/>
      </p:nvGrpSpPr>
      <p:grpSpPr>
        <a:xfrm>
          <a:off x="0" y="0"/>
          <a:ext cx="0" cy="0"/>
          <a:chOff x="0" y="0"/>
          <a:chExt cx="0" cy="0"/>
        </a:xfrm>
      </p:grpSpPr>
      <p:sp>
        <p:nvSpPr>
          <p:cNvPr id="19459" name="Slide Number Placeholder 2">
            <a:extLst>
              <a:ext uri="{FF2B5EF4-FFF2-40B4-BE49-F238E27FC236}">
                <a16:creationId xmlns:a16="http://schemas.microsoft.com/office/drawing/2014/main" id="{91CA49DB-862A-824B-D1DE-D124466CF756}"/>
              </a:ext>
            </a:extLst>
          </p:cNvPr>
          <p:cNvSpPr>
            <a:spLocks noGrp="1" noChangeArrowheads="1"/>
          </p:cNvSpPr>
          <p:nvPr>
            <p:ph type="sldNum" sz="quarter" idx="12"/>
          </p:nvPr>
        </p:nvSpPr>
        <p:spPr bwMode="auto">
          <a:xfrm>
            <a:off x="12915900" y="9534526"/>
            <a:ext cx="4114800" cy="5476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137160" tIns="68580" rIns="137160" bIns="68580" rtlCol="0" anchor="ctr"/>
          <a:lstStyle>
            <a:defPPr>
              <a:defRPr lang="en-US"/>
            </a:defPPr>
            <a:lvl1pPr marL="0" algn="r" defTabSz="1371600" rtl="0" eaLnBrk="1" latinLnBrk="0" hangingPunct="1">
              <a:defRPr sz="1800" kern="1200">
                <a:solidFill>
                  <a:schemeClr val="tx1">
                    <a:tint val="75000"/>
                  </a:schemeClr>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371545" fontAlgn="base">
              <a:spcBef>
                <a:spcPct val="0"/>
              </a:spcBef>
              <a:spcAft>
                <a:spcPct val="0"/>
              </a:spcAft>
            </a:pPr>
            <a:fld id="{98BD0C0F-27EF-444E-B812-FAD38DDAE1D6}" type="slidenum">
              <a:rPr lang="en-GB" smtClean="0"/>
              <a:pPr defTabSz="1371545" fontAlgn="base">
                <a:spcBef>
                  <a:spcPct val="0"/>
                </a:spcBef>
                <a:spcAft>
                  <a:spcPct val="0"/>
                </a:spcAft>
              </a:pPr>
              <a:t>14</a:t>
            </a:fld>
            <a:endParaRPr lang="en-IN" altLang="en-US">
              <a:solidFill>
                <a:srgbClr val="898989"/>
              </a:solidFill>
              <a:cs typeface="Arial" panose="020B0604020202020204" pitchFamily="34" charset="0"/>
            </a:endParaRPr>
          </a:p>
        </p:txBody>
      </p:sp>
      <p:sp>
        <p:nvSpPr>
          <p:cNvPr id="19460" name="Title 1">
            <a:extLst>
              <a:ext uri="{FF2B5EF4-FFF2-40B4-BE49-F238E27FC236}">
                <a16:creationId xmlns:a16="http://schemas.microsoft.com/office/drawing/2014/main" id="{A0E020D0-0B88-4D42-71D0-51BDEB2A9D95}"/>
              </a:ext>
            </a:extLst>
          </p:cNvPr>
          <p:cNvSpPr txBox="1">
            <a:spLocks/>
          </p:cNvSpPr>
          <p:nvPr/>
        </p:nvSpPr>
        <p:spPr bwMode="auto">
          <a:xfrm>
            <a:off x="4094019" y="1189342"/>
            <a:ext cx="16316325" cy="761711"/>
          </a:xfrm>
          <a:prstGeom prst="rect">
            <a:avLst/>
          </a:prstGeom>
        </p:spPr>
        <p:txBody>
          <a:bodyPr wrap="square" lIns="114267" tIns="57132" rIns="114267" bIns="57132">
            <a:spAutoFit/>
          </a:bodyPr>
          <a:lstStyle>
            <a:defPPr>
              <a:defRPr lang="en-US"/>
            </a:defPPr>
            <a:lvl1pPr>
              <a:defRPr sz="3840" b="1">
                <a:solidFill>
                  <a:srgbClr val="2B4D95"/>
                </a:solidFill>
                <a:latin typeface="Calibri" pitchFamily="34" charset="0"/>
                <a:cs typeface="Arial" charset="0"/>
              </a:defRPr>
            </a:lvl1pPr>
          </a:lstStyle>
          <a:p>
            <a:r>
              <a:rPr lang="en-IN" altLang="en-US" sz="4200" dirty="0"/>
              <a:t>Our analysis of  ~ 150 projects revealed this !! </a:t>
            </a:r>
          </a:p>
        </p:txBody>
      </p:sp>
      <p:sp>
        <p:nvSpPr>
          <p:cNvPr id="16" name="Rectangle: Rounded Corners 15">
            <a:extLst>
              <a:ext uri="{FF2B5EF4-FFF2-40B4-BE49-F238E27FC236}">
                <a16:creationId xmlns:a16="http://schemas.microsoft.com/office/drawing/2014/main" id="{C12F1C78-7A7B-4E82-D514-2613807329D4}"/>
              </a:ext>
            </a:extLst>
          </p:cNvPr>
          <p:cNvSpPr/>
          <p:nvPr/>
        </p:nvSpPr>
        <p:spPr>
          <a:xfrm>
            <a:off x="11365705" y="8872538"/>
            <a:ext cx="5293520" cy="1044891"/>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sz="2700"/>
          </a:p>
        </p:txBody>
      </p:sp>
      <p:graphicFrame>
        <p:nvGraphicFramePr>
          <p:cNvPr id="3" name="Table 2">
            <a:extLst>
              <a:ext uri="{FF2B5EF4-FFF2-40B4-BE49-F238E27FC236}">
                <a16:creationId xmlns:a16="http://schemas.microsoft.com/office/drawing/2014/main" id="{FE603EB8-2867-1BE0-4B01-644BDE3AE18F}"/>
              </a:ext>
            </a:extLst>
          </p:cNvPr>
          <p:cNvGraphicFramePr>
            <a:graphicFrameLocks noGrp="1"/>
          </p:cNvGraphicFramePr>
          <p:nvPr/>
        </p:nvGraphicFramePr>
        <p:xfrm>
          <a:off x="857600" y="2230807"/>
          <a:ext cx="10782301" cy="6508395"/>
        </p:xfrm>
        <a:graphic>
          <a:graphicData uri="http://schemas.openxmlformats.org/drawingml/2006/table">
            <a:tbl>
              <a:tblPr firstRow="1" bandRow="1">
                <a:tableStyleId>{5C22544A-7EE6-4342-B048-85BDC9FD1C3A}</a:tableStyleId>
              </a:tblPr>
              <a:tblGrid>
                <a:gridCol w="5124933">
                  <a:extLst>
                    <a:ext uri="{9D8B030D-6E8A-4147-A177-3AD203B41FA5}">
                      <a16:colId xmlns:a16="http://schemas.microsoft.com/office/drawing/2014/main" val="2510256244"/>
                    </a:ext>
                  </a:extLst>
                </a:gridCol>
                <a:gridCol w="2845235">
                  <a:extLst>
                    <a:ext uri="{9D8B030D-6E8A-4147-A177-3AD203B41FA5}">
                      <a16:colId xmlns:a16="http://schemas.microsoft.com/office/drawing/2014/main" val="3397321605"/>
                    </a:ext>
                  </a:extLst>
                </a:gridCol>
                <a:gridCol w="2812133">
                  <a:extLst>
                    <a:ext uri="{9D8B030D-6E8A-4147-A177-3AD203B41FA5}">
                      <a16:colId xmlns:a16="http://schemas.microsoft.com/office/drawing/2014/main" val="2292386936"/>
                    </a:ext>
                  </a:extLst>
                </a:gridCol>
              </a:tblGrid>
              <a:tr h="593253">
                <a:tc>
                  <a:txBody>
                    <a:bodyPr/>
                    <a:lstStyle/>
                    <a:p>
                      <a:pPr algn="l" fontAlgn="b"/>
                      <a:r>
                        <a:rPr lang="en-IN" sz="3000" u="none" strike="noStrike">
                          <a:effectLst/>
                        </a:rPr>
                        <a:t>Reason for Failure</a:t>
                      </a:r>
                      <a:endParaRPr lang="en-IN" sz="3000" b="0" i="0" u="none" strike="noStrike">
                        <a:solidFill>
                          <a:srgbClr val="000000"/>
                        </a:solidFill>
                        <a:effectLst/>
                        <a:latin typeface="Aptos Narrow" panose="020B0004020202020204" pitchFamily="34" charset="0"/>
                      </a:endParaRPr>
                    </a:p>
                  </a:txBody>
                  <a:tcPr marL="13521" marR="13521" marT="13521" marB="0" anchor="b"/>
                </a:tc>
                <a:tc>
                  <a:txBody>
                    <a:bodyPr/>
                    <a:lstStyle/>
                    <a:p>
                      <a:pPr algn="l" fontAlgn="b"/>
                      <a:r>
                        <a:rPr lang="en-IN" sz="3000" u="none" strike="noStrike">
                          <a:effectLst/>
                        </a:rPr>
                        <a:t>No. Of  Projects</a:t>
                      </a:r>
                      <a:endParaRPr lang="en-IN" sz="3000" b="0" i="0" u="none" strike="noStrike">
                        <a:solidFill>
                          <a:srgbClr val="000000"/>
                        </a:solidFill>
                        <a:effectLst/>
                        <a:latin typeface="Aptos Narrow" panose="020B0004020202020204" pitchFamily="34" charset="0"/>
                      </a:endParaRPr>
                    </a:p>
                  </a:txBody>
                  <a:tcPr marL="13521" marR="13521" marT="13521" marB="0" anchor="b"/>
                </a:tc>
                <a:tc>
                  <a:txBody>
                    <a:bodyPr/>
                    <a:lstStyle/>
                    <a:p>
                      <a:pPr algn="l" fontAlgn="b"/>
                      <a:r>
                        <a:rPr lang="en-IN" sz="3000" u="none" strike="noStrike">
                          <a:effectLst/>
                        </a:rPr>
                        <a:t>% of Total</a:t>
                      </a:r>
                      <a:endParaRPr lang="en-IN" sz="3000" b="0" i="0" u="none" strike="noStrike">
                        <a:solidFill>
                          <a:srgbClr val="000000"/>
                        </a:solidFill>
                        <a:effectLst/>
                        <a:latin typeface="Aptos Narrow" panose="020B0004020202020204" pitchFamily="34" charset="0"/>
                      </a:endParaRPr>
                    </a:p>
                  </a:txBody>
                  <a:tcPr marL="13521" marR="13521" marT="13521" marB="0" anchor="b"/>
                </a:tc>
                <a:extLst>
                  <a:ext uri="{0D108BD9-81ED-4DB2-BD59-A6C34878D82A}">
                    <a16:rowId xmlns:a16="http://schemas.microsoft.com/office/drawing/2014/main" val="3789103555"/>
                  </a:ext>
                </a:extLst>
              </a:tr>
              <a:tr h="593253">
                <a:tc>
                  <a:txBody>
                    <a:bodyPr/>
                    <a:lstStyle/>
                    <a:p>
                      <a:pPr algn="l" fontAlgn="b"/>
                      <a:r>
                        <a:rPr lang="en-IN" sz="3000" b="1" u="none" strike="noStrike" dirty="0">
                          <a:solidFill>
                            <a:schemeClr val="accent2"/>
                          </a:solidFill>
                          <a:effectLst/>
                        </a:rPr>
                        <a:t>Incorrect Application</a:t>
                      </a:r>
                      <a:endParaRPr lang="en-IN" sz="3000" b="1" i="0" u="none" strike="noStrike" dirty="0">
                        <a:solidFill>
                          <a:schemeClr val="accent2"/>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chemeClr val="accent2"/>
                          </a:solidFill>
                          <a:effectLst/>
                        </a:rPr>
                        <a:t>58</a:t>
                      </a:r>
                      <a:endParaRPr lang="en-IN" sz="3000" b="1" i="0" u="none" strike="noStrike" dirty="0">
                        <a:solidFill>
                          <a:schemeClr val="accent2"/>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chemeClr val="accent2"/>
                          </a:solidFill>
                          <a:effectLst/>
                        </a:rPr>
                        <a:t>38%</a:t>
                      </a:r>
                      <a:endParaRPr lang="en-IN" sz="3000" b="1" i="0" u="none" strike="noStrike" dirty="0">
                        <a:solidFill>
                          <a:schemeClr val="accent2"/>
                        </a:solidFill>
                        <a:effectLst/>
                        <a:latin typeface="Aptos Narrow" panose="020B0004020202020204" pitchFamily="34" charset="0"/>
                      </a:endParaRPr>
                    </a:p>
                  </a:txBody>
                  <a:tcPr marL="13521" marR="13521" marT="13521" marB="0" anchor="b"/>
                </a:tc>
                <a:extLst>
                  <a:ext uri="{0D108BD9-81ED-4DB2-BD59-A6C34878D82A}">
                    <a16:rowId xmlns:a16="http://schemas.microsoft.com/office/drawing/2014/main" val="228396003"/>
                  </a:ext>
                </a:extLst>
              </a:tr>
              <a:tr h="593253">
                <a:tc>
                  <a:txBody>
                    <a:bodyPr/>
                    <a:lstStyle/>
                    <a:p>
                      <a:pPr algn="l" fontAlgn="b"/>
                      <a:r>
                        <a:rPr lang="en-IN" sz="3000" u="none" strike="noStrike" dirty="0">
                          <a:effectLst/>
                        </a:rPr>
                        <a:t>Product Failure</a:t>
                      </a:r>
                      <a:endParaRPr lang="en-IN" sz="3000" b="0" i="0" u="none" strike="noStrike" dirty="0">
                        <a:solidFill>
                          <a:srgbClr val="000000"/>
                        </a:solidFill>
                        <a:effectLst/>
                        <a:latin typeface="Aptos Narrow" panose="020B0004020202020204" pitchFamily="34" charset="0"/>
                      </a:endParaRPr>
                    </a:p>
                  </a:txBody>
                  <a:tcPr marL="13521" marR="13521" marT="13521" marB="0" anchor="b"/>
                </a:tc>
                <a:tc>
                  <a:txBody>
                    <a:bodyPr/>
                    <a:lstStyle/>
                    <a:p>
                      <a:pPr algn="r" fontAlgn="b"/>
                      <a:r>
                        <a:rPr lang="en-IN" sz="3000" u="none" strike="noStrike">
                          <a:effectLst/>
                        </a:rPr>
                        <a:t>15</a:t>
                      </a:r>
                      <a:endParaRPr lang="en-IN" sz="3000" b="0" i="0" u="none" strike="noStrike">
                        <a:solidFill>
                          <a:srgbClr val="000000"/>
                        </a:solidFill>
                        <a:effectLst/>
                        <a:latin typeface="Aptos Narrow" panose="020B0004020202020204" pitchFamily="34" charset="0"/>
                      </a:endParaRPr>
                    </a:p>
                  </a:txBody>
                  <a:tcPr marL="13521" marR="13521" marT="13521" marB="0" anchor="b"/>
                </a:tc>
                <a:tc>
                  <a:txBody>
                    <a:bodyPr/>
                    <a:lstStyle/>
                    <a:p>
                      <a:pPr algn="r" fontAlgn="b"/>
                      <a:r>
                        <a:rPr lang="en-IN" sz="3000" u="none" strike="noStrike">
                          <a:effectLst/>
                        </a:rPr>
                        <a:t>10%</a:t>
                      </a:r>
                      <a:endParaRPr lang="en-IN" sz="3000" b="0" i="0" u="none" strike="noStrike">
                        <a:solidFill>
                          <a:srgbClr val="000000"/>
                        </a:solidFill>
                        <a:effectLst/>
                        <a:latin typeface="Aptos Narrow" panose="020B0004020202020204" pitchFamily="34" charset="0"/>
                      </a:endParaRPr>
                    </a:p>
                  </a:txBody>
                  <a:tcPr marL="13521" marR="13521" marT="13521" marB="0" anchor="b"/>
                </a:tc>
                <a:extLst>
                  <a:ext uri="{0D108BD9-81ED-4DB2-BD59-A6C34878D82A}">
                    <a16:rowId xmlns:a16="http://schemas.microsoft.com/office/drawing/2014/main" val="798979908"/>
                  </a:ext>
                </a:extLst>
              </a:tr>
              <a:tr h="1069154">
                <a:tc>
                  <a:txBody>
                    <a:bodyPr/>
                    <a:lstStyle/>
                    <a:p>
                      <a:pPr algn="l" fontAlgn="b"/>
                      <a:r>
                        <a:rPr lang="en-US" sz="3000" b="1" u="none" strike="noStrike" dirty="0">
                          <a:solidFill>
                            <a:srgbClr val="FF0000"/>
                          </a:solidFill>
                          <a:effectLst/>
                        </a:rPr>
                        <a:t>Wrong System Selection or Incorrect Specification</a:t>
                      </a:r>
                      <a:endParaRPr lang="en-US" sz="3000" b="1" i="0" u="none" strike="noStrike" dirty="0">
                        <a:solidFill>
                          <a:srgbClr val="FF0000"/>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rgbClr val="FF0000"/>
                          </a:solidFill>
                          <a:effectLst/>
                        </a:rPr>
                        <a:t>30</a:t>
                      </a:r>
                      <a:endParaRPr lang="en-IN" sz="3000" b="1" i="0" u="none" strike="noStrike" dirty="0">
                        <a:solidFill>
                          <a:srgbClr val="FF0000"/>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rgbClr val="FF0000"/>
                          </a:solidFill>
                          <a:effectLst/>
                        </a:rPr>
                        <a:t>20%</a:t>
                      </a:r>
                      <a:endParaRPr lang="en-IN" sz="3000" b="1" i="0" u="none" strike="noStrike" dirty="0">
                        <a:solidFill>
                          <a:srgbClr val="FF0000"/>
                        </a:solidFill>
                        <a:effectLst/>
                        <a:latin typeface="Aptos Narrow" panose="020B0004020202020204" pitchFamily="34" charset="0"/>
                      </a:endParaRPr>
                    </a:p>
                  </a:txBody>
                  <a:tcPr marL="13521" marR="13521" marT="13521" marB="0" anchor="b"/>
                </a:tc>
                <a:extLst>
                  <a:ext uri="{0D108BD9-81ED-4DB2-BD59-A6C34878D82A}">
                    <a16:rowId xmlns:a16="http://schemas.microsoft.com/office/drawing/2014/main" val="535177609"/>
                  </a:ext>
                </a:extLst>
              </a:tr>
              <a:tr h="927921">
                <a:tc>
                  <a:txBody>
                    <a:bodyPr/>
                    <a:lstStyle/>
                    <a:p>
                      <a:pPr algn="l" fontAlgn="b"/>
                      <a:r>
                        <a:rPr lang="en-IN" sz="3000" b="1" u="none" strike="noStrike" dirty="0">
                          <a:solidFill>
                            <a:srgbClr val="FF0000"/>
                          </a:solidFill>
                          <a:effectLst/>
                        </a:rPr>
                        <a:t>Post application Damage due to improper sequence clarity</a:t>
                      </a:r>
                      <a:endParaRPr lang="en-IN" sz="3000" b="1" i="0" u="none" strike="noStrike" dirty="0">
                        <a:solidFill>
                          <a:srgbClr val="FF0000"/>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rgbClr val="FF0000"/>
                          </a:solidFill>
                          <a:effectLst/>
                        </a:rPr>
                        <a:t>23</a:t>
                      </a:r>
                      <a:endParaRPr lang="en-IN" sz="3000" b="1" i="0" u="none" strike="noStrike" dirty="0">
                        <a:solidFill>
                          <a:srgbClr val="FF0000"/>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rgbClr val="FF0000"/>
                          </a:solidFill>
                          <a:effectLst/>
                        </a:rPr>
                        <a:t>15%</a:t>
                      </a:r>
                      <a:endParaRPr lang="en-IN" sz="3000" b="1" i="0" u="none" strike="noStrike" dirty="0">
                        <a:solidFill>
                          <a:srgbClr val="FF0000"/>
                        </a:solidFill>
                        <a:effectLst/>
                        <a:latin typeface="Aptos Narrow" panose="020B0004020202020204" pitchFamily="34" charset="0"/>
                      </a:endParaRPr>
                    </a:p>
                  </a:txBody>
                  <a:tcPr marL="13521" marR="13521" marT="13521" marB="0" anchor="b"/>
                </a:tc>
                <a:extLst>
                  <a:ext uri="{0D108BD9-81ED-4DB2-BD59-A6C34878D82A}">
                    <a16:rowId xmlns:a16="http://schemas.microsoft.com/office/drawing/2014/main" val="235020585"/>
                  </a:ext>
                </a:extLst>
              </a:tr>
              <a:tr h="1069154">
                <a:tc>
                  <a:txBody>
                    <a:bodyPr/>
                    <a:lstStyle/>
                    <a:p>
                      <a:pPr algn="l" fontAlgn="b"/>
                      <a:r>
                        <a:rPr lang="en-IN" sz="3000" b="1" u="none" strike="noStrike" dirty="0">
                          <a:solidFill>
                            <a:schemeClr val="accent2"/>
                          </a:solidFill>
                          <a:effectLst/>
                        </a:rPr>
                        <a:t>Inadequate Skill of technician</a:t>
                      </a:r>
                      <a:endParaRPr lang="en-IN" sz="3000" b="1" i="0" u="none" strike="noStrike" dirty="0">
                        <a:solidFill>
                          <a:schemeClr val="accent2"/>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chemeClr val="accent2"/>
                          </a:solidFill>
                          <a:effectLst/>
                        </a:rPr>
                        <a:t>15</a:t>
                      </a:r>
                      <a:endParaRPr lang="en-IN" sz="3000" b="1" i="0" u="none" strike="noStrike" dirty="0">
                        <a:solidFill>
                          <a:schemeClr val="accent2"/>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chemeClr val="accent2"/>
                          </a:solidFill>
                          <a:effectLst/>
                        </a:rPr>
                        <a:t>10%</a:t>
                      </a:r>
                      <a:endParaRPr lang="en-IN" sz="3000" b="1" i="0" u="none" strike="noStrike" dirty="0">
                        <a:solidFill>
                          <a:schemeClr val="accent2"/>
                        </a:solidFill>
                        <a:effectLst/>
                        <a:latin typeface="Aptos Narrow" panose="020B0004020202020204" pitchFamily="34" charset="0"/>
                      </a:endParaRPr>
                    </a:p>
                  </a:txBody>
                  <a:tcPr marL="13521" marR="13521" marT="13521" marB="0" anchor="b"/>
                </a:tc>
                <a:extLst>
                  <a:ext uri="{0D108BD9-81ED-4DB2-BD59-A6C34878D82A}">
                    <a16:rowId xmlns:a16="http://schemas.microsoft.com/office/drawing/2014/main" val="2247987563"/>
                  </a:ext>
                </a:extLst>
              </a:tr>
              <a:tr h="1069154">
                <a:tc>
                  <a:txBody>
                    <a:bodyPr/>
                    <a:lstStyle/>
                    <a:p>
                      <a:pPr algn="l" fontAlgn="b"/>
                      <a:r>
                        <a:rPr lang="en-US" sz="3000" b="1" u="none" strike="noStrike" dirty="0">
                          <a:solidFill>
                            <a:srgbClr val="FF0000"/>
                          </a:solidFill>
                          <a:effectLst/>
                        </a:rPr>
                        <a:t>Improper Substrate due to deficient specification clarity</a:t>
                      </a:r>
                      <a:endParaRPr lang="en-US" sz="3000" b="1" i="0" u="none" strike="noStrike" dirty="0">
                        <a:solidFill>
                          <a:srgbClr val="FF0000"/>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rgbClr val="FF0000"/>
                          </a:solidFill>
                          <a:effectLst/>
                        </a:rPr>
                        <a:t>11</a:t>
                      </a:r>
                      <a:endParaRPr lang="en-IN" sz="3000" b="1" i="0" u="none" strike="noStrike" dirty="0">
                        <a:solidFill>
                          <a:srgbClr val="FF0000"/>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solidFill>
                            <a:srgbClr val="FF0000"/>
                          </a:solidFill>
                          <a:effectLst/>
                        </a:rPr>
                        <a:t>7%</a:t>
                      </a:r>
                      <a:endParaRPr lang="en-IN" sz="3000" b="1" i="0" u="none" strike="noStrike" dirty="0">
                        <a:solidFill>
                          <a:srgbClr val="FF0000"/>
                        </a:solidFill>
                        <a:effectLst/>
                        <a:latin typeface="Aptos Narrow" panose="020B0004020202020204" pitchFamily="34" charset="0"/>
                      </a:endParaRPr>
                    </a:p>
                  </a:txBody>
                  <a:tcPr marL="13521" marR="13521" marT="13521" marB="0" anchor="b"/>
                </a:tc>
                <a:extLst>
                  <a:ext uri="{0D108BD9-81ED-4DB2-BD59-A6C34878D82A}">
                    <a16:rowId xmlns:a16="http://schemas.microsoft.com/office/drawing/2014/main" val="1029497669"/>
                  </a:ext>
                </a:extLst>
              </a:tr>
              <a:tr h="593253">
                <a:tc>
                  <a:txBody>
                    <a:bodyPr/>
                    <a:lstStyle/>
                    <a:p>
                      <a:pPr algn="l" fontAlgn="b"/>
                      <a:r>
                        <a:rPr lang="en-IN" sz="3000" b="1" u="none" strike="noStrike" dirty="0">
                          <a:effectLst/>
                        </a:rPr>
                        <a:t>Total </a:t>
                      </a:r>
                      <a:endParaRPr lang="en-IN" sz="3000" b="1" i="0" u="none" strike="noStrike" dirty="0">
                        <a:solidFill>
                          <a:srgbClr val="000000"/>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effectLst/>
                        </a:rPr>
                        <a:t>152</a:t>
                      </a:r>
                      <a:endParaRPr lang="en-IN" sz="3000" b="1" i="0" u="none" strike="noStrike" dirty="0">
                        <a:solidFill>
                          <a:srgbClr val="000000"/>
                        </a:solidFill>
                        <a:effectLst/>
                        <a:latin typeface="Aptos Narrow" panose="020B0004020202020204" pitchFamily="34" charset="0"/>
                      </a:endParaRPr>
                    </a:p>
                  </a:txBody>
                  <a:tcPr marL="13521" marR="13521" marT="13521" marB="0" anchor="b"/>
                </a:tc>
                <a:tc>
                  <a:txBody>
                    <a:bodyPr/>
                    <a:lstStyle/>
                    <a:p>
                      <a:pPr algn="r" fontAlgn="b"/>
                      <a:r>
                        <a:rPr lang="en-IN" sz="3000" b="1" u="none" strike="noStrike" dirty="0">
                          <a:effectLst/>
                        </a:rPr>
                        <a:t>100%</a:t>
                      </a:r>
                      <a:endParaRPr lang="en-IN" sz="3000" b="1" i="0" u="none" strike="noStrike" dirty="0">
                        <a:solidFill>
                          <a:srgbClr val="000000"/>
                        </a:solidFill>
                        <a:effectLst/>
                        <a:latin typeface="Aptos Narrow" panose="020B0004020202020204" pitchFamily="34" charset="0"/>
                      </a:endParaRPr>
                    </a:p>
                  </a:txBody>
                  <a:tcPr marL="13521" marR="13521" marT="13521" marB="0" anchor="b"/>
                </a:tc>
                <a:extLst>
                  <a:ext uri="{0D108BD9-81ED-4DB2-BD59-A6C34878D82A}">
                    <a16:rowId xmlns:a16="http://schemas.microsoft.com/office/drawing/2014/main" val="1984972963"/>
                  </a:ext>
                </a:extLst>
              </a:tr>
            </a:tbl>
          </a:graphicData>
        </a:graphic>
      </p:graphicFrame>
      <p:sp>
        <p:nvSpPr>
          <p:cNvPr id="11" name="TextBox 10">
            <a:extLst>
              <a:ext uri="{FF2B5EF4-FFF2-40B4-BE49-F238E27FC236}">
                <a16:creationId xmlns:a16="http://schemas.microsoft.com/office/drawing/2014/main" id="{561998DB-4ACD-C284-4952-75BFD81D9385}"/>
              </a:ext>
            </a:extLst>
          </p:cNvPr>
          <p:cNvSpPr txBox="1"/>
          <p:nvPr/>
        </p:nvSpPr>
        <p:spPr>
          <a:xfrm>
            <a:off x="11877667" y="2261261"/>
            <a:ext cx="5730428" cy="4247317"/>
          </a:xfrm>
          <a:prstGeom prst="rect">
            <a:avLst/>
          </a:prstGeom>
          <a:solidFill>
            <a:schemeClr val="accent4">
              <a:lumMod val="60000"/>
              <a:lumOff val="40000"/>
            </a:schemeClr>
          </a:solidFill>
          <a:effectLst>
            <a:glow rad="139700">
              <a:schemeClr val="accent4">
                <a:satMod val="175000"/>
                <a:alpha val="40000"/>
              </a:schemeClr>
            </a:glow>
          </a:effectLst>
        </p:spPr>
        <p:txBody>
          <a:bodyPr wrap="square" rtlCol="0">
            <a:spAutoFit/>
          </a:bodyPr>
          <a:lstStyle/>
          <a:p>
            <a:pPr marL="428625" indent="-428625">
              <a:buFont typeface="Arial" panose="020B0604020202020204" pitchFamily="34" charset="0"/>
              <a:buChar char="•"/>
            </a:pPr>
            <a:r>
              <a:rPr lang="en-IN" sz="2700" b="1" dirty="0"/>
              <a:t>A glaring 48 % of leakages were taking place due to Application issues . </a:t>
            </a:r>
          </a:p>
          <a:p>
            <a:pPr marL="428625" indent="-428625">
              <a:buFont typeface="Arial" panose="020B0604020202020204" pitchFamily="34" charset="0"/>
              <a:buChar char="•"/>
            </a:pPr>
            <a:endParaRPr lang="en-IN" sz="2700" b="1" dirty="0"/>
          </a:p>
          <a:p>
            <a:pPr marL="428625" indent="-428625">
              <a:buFont typeface="Arial" panose="020B0604020202020204" pitchFamily="34" charset="0"/>
              <a:buChar char="•"/>
            </a:pPr>
            <a:r>
              <a:rPr lang="en-IN" sz="2700" b="1" dirty="0">
                <a:solidFill>
                  <a:srgbClr val="FF0000"/>
                </a:solidFill>
              </a:rPr>
              <a:t>Next largest reason 45% was incorrect or deficient specification or wrong system selection. </a:t>
            </a:r>
          </a:p>
          <a:p>
            <a:pPr marL="428625" indent="-428625">
              <a:buFont typeface="Arial" panose="020B0604020202020204" pitchFamily="34" charset="0"/>
              <a:buChar char="•"/>
            </a:pPr>
            <a:endParaRPr lang="en-IN" sz="2700" b="1" dirty="0"/>
          </a:p>
          <a:p>
            <a:pPr marL="428625" indent="-428625">
              <a:buFont typeface="Arial" panose="020B0604020202020204" pitchFamily="34" charset="0"/>
              <a:buChar char="•"/>
            </a:pPr>
            <a:r>
              <a:rPr lang="en-IN" sz="2700" b="1" dirty="0"/>
              <a:t>93 % issues can be avoided !!</a:t>
            </a:r>
          </a:p>
        </p:txBody>
      </p:sp>
      <p:sp>
        <p:nvSpPr>
          <p:cNvPr id="13" name="TextBox 12">
            <a:extLst>
              <a:ext uri="{FF2B5EF4-FFF2-40B4-BE49-F238E27FC236}">
                <a16:creationId xmlns:a16="http://schemas.microsoft.com/office/drawing/2014/main" id="{7D149B11-B696-7801-CDE2-578E4E99B2D6}"/>
              </a:ext>
            </a:extLst>
          </p:cNvPr>
          <p:cNvSpPr txBox="1"/>
          <p:nvPr/>
        </p:nvSpPr>
        <p:spPr>
          <a:xfrm>
            <a:off x="11932078" y="7234099"/>
            <a:ext cx="5730428" cy="1338828"/>
          </a:xfrm>
          <a:prstGeom prst="rect">
            <a:avLst/>
          </a:prstGeom>
          <a:solidFill>
            <a:schemeClr val="accent6">
              <a:lumMod val="75000"/>
            </a:schemeClr>
          </a:solidFill>
          <a:effectLst>
            <a:glow rad="228600">
              <a:schemeClr val="accent4">
                <a:satMod val="175000"/>
                <a:alpha val="40000"/>
              </a:schemeClr>
            </a:glow>
          </a:effectLst>
        </p:spPr>
        <p:txBody>
          <a:bodyPr wrap="square" rtlCol="0">
            <a:spAutoFit/>
          </a:bodyPr>
          <a:lstStyle/>
          <a:p>
            <a:r>
              <a:rPr lang="en-US" sz="2700" b="1" dirty="0">
                <a:solidFill>
                  <a:schemeClr val="bg2"/>
                </a:solidFill>
              </a:rPr>
              <a:t>Shows importance of correct system selection by a reliable Waterproofing Specialist</a:t>
            </a:r>
            <a:endParaRPr lang="en-IN" sz="2700" b="1" dirty="0">
              <a:solidFill>
                <a:schemeClr val="bg2"/>
              </a:solidFill>
            </a:endParaRPr>
          </a:p>
        </p:txBody>
      </p:sp>
      <p:sp>
        <p:nvSpPr>
          <p:cNvPr id="8" name="TextBox 7">
            <a:extLst>
              <a:ext uri="{FF2B5EF4-FFF2-40B4-BE49-F238E27FC236}">
                <a16:creationId xmlns:a16="http://schemas.microsoft.com/office/drawing/2014/main" id="{E8B8815F-D349-58BF-77FA-DE416D5424EB}"/>
              </a:ext>
            </a:extLst>
          </p:cNvPr>
          <p:cNvSpPr txBox="1"/>
          <p:nvPr/>
        </p:nvSpPr>
        <p:spPr>
          <a:xfrm>
            <a:off x="15216186" y="9755851"/>
            <a:ext cx="5943600" cy="323165"/>
          </a:xfrm>
          <a:prstGeom prst="rect">
            <a:avLst/>
          </a:prstGeom>
          <a:noFill/>
        </p:spPr>
        <p:txBody>
          <a:bodyPr wrap="square" rtlCol="0">
            <a:spAutoFit/>
          </a:bodyPr>
          <a:lstStyle/>
          <a:p>
            <a:r>
              <a:rPr lang="en-US" sz="1500" i="1" dirty="0">
                <a:solidFill>
                  <a:schemeClr val="tx2"/>
                </a:solidFill>
              </a:rPr>
              <a:t>For Representation purpose Only</a:t>
            </a:r>
            <a:endParaRPr lang="en-IN" sz="1500" i="1" dirty="0">
              <a:solidFill>
                <a:schemeClr val="tx2"/>
              </a:solidFill>
            </a:endParaRPr>
          </a:p>
        </p:txBody>
      </p:sp>
      <p:grpSp>
        <p:nvGrpSpPr>
          <p:cNvPr id="6" name="Group 5">
            <a:extLst>
              <a:ext uri="{FF2B5EF4-FFF2-40B4-BE49-F238E27FC236}">
                <a16:creationId xmlns:a16="http://schemas.microsoft.com/office/drawing/2014/main" id="{9098A666-850D-6A01-476C-7D7254C6459F}"/>
              </a:ext>
            </a:extLst>
          </p:cNvPr>
          <p:cNvGrpSpPr/>
          <p:nvPr/>
        </p:nvGrpSpPr>
        <p:grpSpPr>
          <a:xfrm>
            <a:off x="0" y="0"/>
            <a:ext cx="18288000" cy="190500"/>
            <a:chOff x="0" y="0"/>
            <a:chExt cx="4816593" cy="884197"/>
          </a:xfrm>
        </p:grpSpPr>
        <p:sp>
          <p:nvSpPr>
            <p:cNvPr id="9" name="Freeform 3">
              <a:extLst>
                <a:ext uri="{FF2B5EF4-FFF2-40B4-BE49-F238E27FC236}">
                  <a16:creationId xmlns:a16="http://schemas.microsoft.com/office/drawing/2014/main" id="{65AB8783-07B8-06C3-6486-774E36F214EA}"/>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10" name="TextBox 9">
              <a:extLst>
                <a:ext uri="{FF2B5EF4-FFF2-40B4-BE49-F238E27FC236}">
                  <a16:creationId xmlns:a16="http://schemas.microsoft.com/office/drawing/2014/main" id="{51E1A864-6628-3ED0-1629-C06AE923719C}"/>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12" name="Group 5">
            <a:extLst>
              <a:ext uri="{FF2B5EF4-FFF2-40B4-BE49-F238E27FC236}">
                <a16:creationId xmlns:a16="http://schemas.microsoft.com/office/drawing/2014/main" id="{4434509D-6FC0-7DA5-EE1C-ACE91AE921CE}"/>
              </a:ext>
            </a:extLst>
          </p:cNvPr>
          <p:cNvGrpSpPr/>
          <p:nvPr/>
        </p:nvGrpSpPr>
        <p:grpSpPr>
          <a:xfrm rot="-10800000">
            <a:off x="-1447800" y="-8209"/>
            <a:ext cx="3810000" cy="387116"/>
            <a:chOff x="0" y="0"/>
            <a:chExt cx="24122064" cy="6379210"/>
          </a:xfrm>
        </p:grpSpPr>
        <p:sp>
          <p:nvSpPr>
            <p:cNvPr id="14" name="Freeform 6">
              <a:extLst>
                <a:ext uri="{FF2B5EF4-FFF2-40B4-BE49-F238E27FC236}">
                  <a16:creationId xmlns:a16="http://schemas.microsoft.com/office/drawing/2014/main" id="{A061FC6D-E021-3093-D352-921DD92D43D0}"/>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17" name="Freeform 7">
            <a:extLst>
              <a:ext uri="{FF2B5EF4-FFF2-40B4-BE49-F238E27FC236}">
                <a16:creationId xmlns:a16="http://schemas.microsoft.com/office/drawing/2014/main" id="{F79B0224-1045-7B03-E909-25ED85147090}"/>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2"/>
            <a:stretch>
              <a:fillRect t="-103246" b="-111314"/>
            </a:stretch>
          </a:blipFill>
        </p:spPr>
        <p:txBody>
          <a:bodyPr/>
          <a:lstStyle/>
          <a:p>
            <a:endParaRPr lang="en-IN"/>
          </a:p>
        </p:txBody>
      </p:sp>
    </p:spTree>
    <p:extLst>
      <p:ext uri="{BB962C8B-B14F-4D97-AF65-F5344CB8AC3E}">
        <p14:creationId xmlns:p14="http://schemas.microsoft.com/office/powerpoint/2010/main" val="4008813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8AAFFCE-B80E-8A8E-E07E-DB018F6E53E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693892D-473C-D1D5-F047-6A0080F5ABB6}"/>
              </a:ext>
            </a:extLst>
          </p:cNvPr>
          <p:cNvGrpSpPr/>
          <p:nvPr/>
        </p:nvGrpSpPr>
        <p:grpSpPr>
          <a:xfrm>
            <a:off x="0" y="0"/>
            <a:ext cx="18288000" cy="171451"/>
            <a:chOff x="0" y="0"/>
            <a:chExt cx="4816593" cy="884197"/>
          </a:xfrm>
        </p:grpSpPr>
        <p:sp>
          <p:nvSpPr>
            <p:cNvPr id="3" name="Freeform 3">
              <a:extLst>
                <a:ext uri="{FF2B5EF4-FFF2-40B4-BE49-F238E27FC236}">
                  <a16:creationId xmlns:a16="http://schemas.microsoft.com/office/drawing/2014/main" id="{13BDE67A-B7C2-96AD-D8D1-D05563B0487E}"/>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DE8AE601-DA9F-2439-91DC-CC5EB2556EBF}"/>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a:extLst>
              <a:ext uri="{FF2B5EF4-FFF2-40B4-BE49-F238E27FC236}">
                <a16:creationId xmlns:a16="http://schemas.microsoft.com/office/drawing/2014/main" id="{ADB1E130-4C0D-2EC0-0EAA-AA65D7114B99}"/>
              </a:ext>
            </a:extLst>
          </p:cNvPr>
          <p:cNvSpPr/>
          <p:nvPr/>
        </p:nvSpPr>
        <p:spPr>
          <a:xfrm>
            <a:off x="15697200" y="209467"/>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2"/>
            <a:stretch>
              <a:fillRect l="-5471" t="-83780" r="-5471" b="-8291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5">
            <a:extLst>
              <a:ext uri="{FF2B5EF4-FFF2-40B4-BE49-F238E27FC236}">
                <a16:creationId xmlns:a16="http://schemas.microsoft.com/office/drawing/2014/main" id="{7E57F9D3-967F-1E9B-4593-7E872216128F}"/>
              </a:ext>
            </a:extLst>
          </p:cNvPr>
          <p:cNvGrpSpPr/>
          <p:nvPr/>
        </p:nvGrpSpPr>
        <p:grpSpPr>
          <a:xfrm rot="-10800000">
            <a:off x="-1447800" y="-8209"/>
            <a:ext cx="3810000" cy="387116"/>
            <a:chOff x="0" y="0"/>
            <a:chExt cx="24122064" cy="6379210"/>
          </a:xfrm>
          <a:solidFill>
            <a:srgbClr val="3AD7D0"/>
          </a:solidFill>
        </p:grpSpPr>
        <p:sp>
          <p:nvSpPr>
            <p:cNvPr id="11" name="Freeform 6">
              <a:extLst>
                <a:ext uri="{FF2B5EF4-FFF2-40B4-BE49-F238E27FC236}">
                  <a16:creationId xmlns:a16="http://schemas.microsoft.com/office/drawing/2014/main" id="{301C4432-00CE-64E4-C16D-400547207A24}"/>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4">
            <a:extLst>
              <a:ext uri="{FF2B5EF4-FFF2-40B4-BE49-F238E27FC236}">
                <a16:creationId xmlns:a16="http://schemas.microsoft.com/office/drawing/2014/main" id="{6229EB62-F6C4-CF77-7120-10D4DF210398}"/>
              </a:ext>
            </a:extLst>
          </p:cNvPr>
          <p:cNvSpPr txBox="1"/>
          <p:nvPr/>
        </p:nvSpPr>
        <p:spPr>
          <a:xfrm>
            <a:off x="1066800" y="2171700"/>
            <a:ext cx="13868400" cy="64940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highlight>
                  <a:srgbClr val="FFFF00"/>
                </a:highlight>
                <a:uLnTx/>
                <a:uFillTx/>
                <a:latin typeface="Calibri"/>
                <a:ea typeface="+mn-ea"/>
                <a:cs typeface="+mn-cs"/>
              </a:rPr>
              <a:t>From the </a:t>
            </a:r>
            <a:r>
              <a:rPr lang="en-IN" sz="3200" b="1" dirty="0">
                <a:solidFill>
                  <a:prstClr val="black"/>
                </a:solidFill>
                <a:highlight>
                  <a:srgbClr val="FFFF00"/>
                </a:highlight>
                <a:latin typeface="Calibri"/>
              </a:rPr>
              <a:t>Analysis its Clear that </a:t>
            </a:r>
            <a:r>
              <a:rPr kumimoji="0" lang="en-IN" sz="3200" b="1" i="0" u="none" strike="noStrike" kern="1200" cap="none" spc="0" normalizeH="0" baseline="0" noProof="0" dirty="0">
                <a:ln>
                  <a:noFill/>
                </a:ln>
                <a:solidFill>
                  <a:prstClr val="black"/>
                </a:solidFill>
                <a:effectLst/>
                <a:highlight>
                  <a:srgbClr val="FFFF00"/>
                </a:highlight>
                <a:uLnTx/>
                <a:uFillTx/>
                <a:latin typeface="Calibri"/>
                <a:ea typeface="+mn-ea"/>
                <a:cs typeface="+mn-cs"/>
              </a:rPr>
              <a:t>Buildings Leak due to 5 fundamental reasons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Calibri"/>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IN" sz="3200" b="1" i="0" u="none" strike="noStrike" kern="1200" cap="none" spc="0" normalizeH="0" baseline="0" noProof="0" dirty="0">
                <a:ln>
                  <a:noFill/>
                </a:ln>
                <a:solidFill>
                  <a:prstClr val="white"/>
                </a:solidFill>
                <a:effectLst/>
                <a:uLnTx/>
                <a:uFillTx/>
                <a:latin typeface="Calibri"/>
                <a:ea typeface="+mn-ea"/>
                <a:cs typeface="+mn-cs"/>
              </a:rPr>
              <a:t>Missed out areas of a structure that haven’t been waterproofed. </a:t>
            </a:r>
            <a:r>
              <a:rPr kumimoji="0" lang="en-IN" sz="3200" b="0" i="0" u="none" strike="noStrike" kern="1200" cap="none" spc="0" normalizeH="0" baseline="0" noProof="0" dirty="0">
                <a:ln>
                  <a:noFill/>
                </a:ln>
                <a:solidFill>
                  <a:prstClr val="white"/>
                </a:solidFill>
                <a:effectLst/>
                <a:uLnTx/>
                <a:uFillTx/>
                <a:latin typeface="Calibri"/>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IN" sz="3200" b="0" i="0" u="none" strike="noStrike" kern="1200" cap="none" spc="0" normalizeH="0" baseline="0" noProof="0" dirty="0">
              <a:ln>
                <a:noFill/>
              </a:ln>
              <a:solidFill>
                <a:prstClr val="white"/>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IN" sz="3200" b="1" i="0" u="none" strike="noStrike" kern="1200" cap="none" spc="0" normalizeH="0" baseline="0" noProof="0" dirty="0">
                <a:ln>
                  <a:noFill/>
                </a:ln>
                <a:solidFill>
                  <a:prstClr val="white"/>
                </a:solidFill>
                <a:effectLst/>
                <a:uLnTx/>
                <a:uFillTx/>
                <a:latin typeface="Calibri"/>
                <a:ea typeface="+mn-ea"/>
                <a:cs typeface="+mn-cs"/>
              </a:rPr>
              <a:t>Wrong Systems Selection or Deficient Specifications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IN" sz="3200" b="1" i="0" u="none" strike="noStrike" kern="1200" cap="none" spc="0" normalizeH="0" baseline="0" noProof="0" dirty="0">
              <a:ln>
                <a:noFill/>
              </a:ln>
              <a:solidFill>
                <a:prstClr val="white"/>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IN" sz="3200" b="1" i="0" u="none" strike="noStrike" kern="1200" cap="none" spc="0" normalizeH="0" baseline="0" noProof="0" dirty="0">
                <a:ln>
                  <a:noFill/>
                </a:ln>
                <a:solidFill>
                  <a:prstClr val="white"/>
                </a:solidFill>
                <a:effectLst/>
                <a:uLnTx/>
                <a:uFillTx/>
                <a:latin typeface="Calibri"/>
                <a:ea typeface="+mn-ea"/>
                <a:cs typeface="+mn-cs"/>
              </a:rPr>
              <a:t>Application Errors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IN" sz="3200" b="0" i="0" u="none" strike="noStrike" kern="1200" cap="none" spc="0" normalizeH="0" baseline="0" noProof="0" dirty="0">
              <a:ln>
                <a:noFill/>
              </a:ln>
              <a:solidFill>
                <a:prstClr val="white"/>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IN" sz="3200" b="1" i="0" u="none" strike="noStrike" kern="1200" cap="none" spc="0" normalizeH="0" baseline="0" noProof="0" dirty="0">
                <a:ln>
                  <a:noFill/>
                </a:ln>
                <a:solidFill>
                  <a:prstClr val="white"/>
                </a:solidFill>
                <a:effectLst/>
                <a:uLnTx/>
                <a:uFillTx/>
                <a:latin typeface="Calibri"/>
                <a:ea typeface="+mn-ea"/>
                <a:cs typeface="+mn-cs"/>
              </a:rPr>
              <a:t>Damage to the installed waterproofing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IN" sz="3200" b="0" i="0" u="none" strike="noStrike" kern="1200" cap="none" spc="0" normalizeH="0" baseline="0" noProof="0" dirty="0">
              <a:ln>
                <a:noFill/>
              </a:ln>
              <a:solidFill>
                <a:prstClr val="white"/>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IN" sz="3200" b="1" i="0" u="none" strike="noStrike" kern="1200" cap="none" spc="0" normalizeH="0" baseline="0" noProof="0" dirty="0">
                <a:ln>
                  <a:noFill/>
                </a:ln>
                <a:solidFill>
                  <a:prstClr val="white"/>
                </a:solidFill>
                <a:effectLst/>
                <a:uLnTx/>
                <a:uFillTx/>
                <a:latin typeface="Calibri"/>
                <a:ea typeface="+mn-ea"/>
                <a:cs typeface="+mn-cs"/>
              </a:rPr>
              <a:t>Poor product quality </a:t>
            </a:r>
            <a:endParaRPr kumimoji="0" lang="en-IN" sz="3200" b="0" i="0" u="none" strike="noStrike" kern="1200" cap="none" spc="0" normalizeH="0" baseline="0" noProof="0" dirty="0">
              <a:ln>
                <a:noFill/>
              </a:ln>
              <a:solidFill>
                <a:prstClr val="white"/>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prstClr val="white"/>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34AC541E-91D4-1B87-E156-C61DB2192952}"/>
              </a:ext>
            </a:extLst>
          </p:cNvPr>
          <p:cNvSpPr txBox="1"/>
          <p:nvPr/>
        </p:nvSpPr>
        <p:spPr>
          <a:xfrm>
            <a:off x="609600" y="8343900"/>
            <a:ext cx="15087600" cy="58477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IN" sz="3200" b="1" i="0" u="none" strike="noStrike" kern="1200" cap="none" spc="0" normalizeH="0" baseline="0" noProof="0" dirty="0">
                <a:ln>
                  <a:noFill/>
                </a:ln>
                <a:solidFill>
                  <a:prstClr val="black"/>
                </a:solidFill>
                <a:effectLst/>
                <a:highlight>
                  <a:srgbClr val="FFFF00"/>
                </a:highlight>
                <a:uLnTx/>
                <a:uFillTx/>
                <a:latin typeface="Calibri"/>
                <a:ea typeface="+mn-ea"/>
                <a:cs typeface="+mn-cs"/>
              </a:rPr>
              <a:t> Points 1 &amp; 2 - Account for Nearly 45% of Failures, Remaining 3 Account for 55% cases   </a:t>
            </a:r>
          </a:p>
        </p:txBody>
      </p:sp>
    </p:spTree>
    <p:extLst>
      <p:ext uri="{BB962C8B-B14F-4D97-AF65-F5344CB8AC3E}">
        <p14:creationId xmlns:p14="http://schemas.microsoft.com/office/powerpoint/2010/main" val="3514109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Incorrect Spec reasons Image.png"/>
          <p:cNvPicPr>
            <a:picLocks noChangeAspect="1"/>
          </p:cNvPicPr>
          <p:nvPr/>
        </p:nvPicPr>
        <p:blipFill>
          <a:blip r:embed="rId3"/>
          <a:stretch>
            <a:fillRect/>
          </a:stretch>
        </p:blipFill>
        <p:spPr>
          <a:xfrm>
            <a:off x="1" y="0"/>
            <a:ext cx="18287543" cy="10287000"/>
          </a:xfrm>
          <a:prstGeom prst="rect">
            <a:avLst/>
          </a:prstGeom>
        </p:spPr>
      </p:pic>
      <p:sp>
        <p:nvSpPr>
          <p:cNvPr id="3" name="Text 0"/>
          <p:cNvSpPr/>
          <p:nvPr/>
        </p:nvSpPr>
        <p:spPr>
          <a:xfrm>
            <a:off x="457200" y="844208"/>
            <a:ext cx="11344656" cy="684451"/>
          </a:xfrm>
          <a:prstGeom prst="rect">
            <a:avLst/>
          </a:prstGeom>
          <a:solidFill>
            <a:srgbClr val="FFF200"/>
          </a:solidFill>
          <a:ln>
            <a:solidFill>
              <a:srgbClr val="FFF200">
                <a:alpha val="0"/>
              </a:srgbClr>
            </a:solidFill>
          </a:ln>
        </p:spPr>
        <p:txBody>
          <a:bodyPr wrap="square" lIns="381" tIns="381" rIns="381" bIns="381"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Wrong Systems Selection or Deficient Specifications </a:t>
            </a:r>
          </a:p>
        </p:txBody>
      </p:sp>
      <p:sp>
        <p:nvSpPr>
          <p:cNvPr id="5" name="Text 2"/>
          <p:cNvSpPr/>
          <p:nvPr/>
        </p:nvSpPr>
        <p:spPr>
          <a:xfrm>
            <a:off x="776317" y="2585466"/>
            <a:ext cx="3532632" cy="1344168"/>
          </a:xfrm>
          <a:prstGeom prst="rect">
            <a:avLst/>
          </a:prstGeom>
          <a:solidFill>
            <a:srgbClr val="000000"/>
          </a:solidFill>
          <a:ln>
            <a:solidFill>
              <a:srgbClr val="000000">
                <a:alpha val="0"/>
              </a:srgbClr>
            </a:solidFill>
          </a:ln>
        </p:spPr>
        <p:txBody>
          <a:bodyPr wrap="square" lIns="953" tIns="953" rIns="953" bIns="953"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Lack of subject matter</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expertise among those drafting</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BOQ specifications.</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 3"/>
          <p:cNvSpPr/>
          <p:nvPr/>
        </p:nvSpPr>
        <p:spPr>
          <a:xfrm>
            <a:off x="13304520" y="2400300"/>
            <a:ext cx="3916680" cy="1714500"/>
          </a:xfrm>
          <a:prstGeom prst="rect">
            <a:avLst/>
          </a:prstGeom>
          <a:solidFill>
            <a:srgbClr val="000000"/>
          </a:solidFill>
          <a:ln>
            <a:solidFill>
              <a:srgbClr val="000000">
                <a:alpha val="0"/>
              </a:srgbClr>
            </a:solidFill>
          </a:ln>
        </p:spPr>
        <p:txBody>
          <a:bodyPr wrap="square" lIns="953" tIns="953" rIns="953" bIns="953"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Copy-paste approach: same BOQ</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used across multiple projects</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without evaluating project-specific</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requirements.</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Text 4"/>
          <p:cNvSpPr/>
          <p:nvPr/>
        </p:nvSpPr>
        <p:spPr>
          <a:xfrm>
            <a:off x="914399" y="4930902"/>
            <a:ext cx="3394549" cy="1543050"/>
          </a:xfrm>
          <a:prstGeom prst="rect">
            <a:avLst/>
          </a:prstGeom>
          <a:solidFill>
            <a:srgbClr val="000000"/>
          </a:solidFill>
          <a:ln>
            <a:solidFill>
              <a:srgbClr val="000000">
                <a:alpha val="0"/>
              </a:srgbClr>
            </a:solidFill>
          </a:ln>
        </p:spPr>
        <p:txBody>
          <a:bodyPr wrap="square" lIns="953" tIns="953" rIns="953" bIns="953"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No thought of local climate, geotechnical/</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geographic factors, building use,</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Construction methodology, buildability,</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maintenance</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 5"/>
          <p:cNvSpPr/>
          <p:nvPr/>
        </p:nvSpPr>
        <p:spPr>
          <a:xfrm>
            <a:off x="13335000" y="5033772"/>
            <a:ext cx="4111752" cy="1440180"/>
          </a:xfrm>
          <a:prstGeom prst="rect">
            <a:avLst/>
          </a:prstGeom>
          <a:solidFill>
            <a:srgbClr val="000000"/>
          </a:solidFill>
          <a:ln>
            <a:solidFill>
              <a:srgbClr val="000000">
                <a:alpha val="0"/>
              </a:srgbClr>
            </a:solidFill>
          </a:ln>
        </p:spPr>
        <p:txBody>
          <a:bodyPr wrap="square" lIns="953" tIns="953" rIns="953" bIns="953"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Insufficiently drafted BOQ</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specifications; unclear system</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build-up and protection layers.</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 6"/>
          <p:cNvSpPr/>
          <p:nvPr/>
        </p:nvSpPr>
        <p:spPr>
          <a:xfrm>
            <a:off x="685800" y="7242048"/>
            <a:ext cx="4038600" cy="1645920"/>
          </a:xfrm>
          <a:prstGeom prst="rect">
            <a:avLst/>
          </a:prstGeom>
          <a:solidFill>
            <a:srgbClr val="000000"/>
          </a:solidFill>
          <a:ln>
            <a:solidFill>
              <a:srgbClr val="000000">
                <a:alpha val="0"/>
              </a:srgbClr>
            </a:solidFill>
          </a:ln>
        </p:spPr>
        <p:txBody>
          <a:bodyPr wrap="square" lIns="953" tIns="953" rIns="953" bIns="953"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Mixed multi-brand specs causing</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confusion on specification</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intent.</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 7"/>
          <p:cNvSpPr/>
          <p:nvPr/>
        </p:nvSpPr>
        <p:spPr>
          <a:xfrm>
            <a:off x="13243630" y="7484490"/>
            <a:ext cx="4251960" cy="1440180"/>
          </a:xfrm>
          <a:prstGeom prst="rect">
            <a:avLst/>
          </a:prstGeom>
          <a:solidFill>
            <a:srgbClr val="000000"/>
          </a:solidFill>
          <a:ln>
            <a:solidFill>
              <a:srgbClr val="000000">
                <a:alpha val="0"/>
              </a:srgbClr>
            </a:solidFill>
          </a:ln>
        </p:spPr>
        <p:txBody>
          <a:bodyPr wrap="square" lIns="953" tIns="953" rIns="953" bIns="953"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Single-product manufacturer-led</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monopolistic specification.</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787EAEE-A594-BB21-2451-0B653AAB238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F5636BD-8E9A-4094-FBF1-CFEED8B9131B}"/>
              </a:ext>
            </a:extLst>
          </p:cNvPr>
          <p:cNvGrpSpPr/>
          <p:nvPr/>
        </p:nvGrpSpPr>
        <p:grpSpPr>
          <a:xfrm>
            <a:off x="0" y="0"/>
            <a:ext cx="18288000" cy="171451"/>
            <a:chOff x="0" y="0"/>
            <a:chExt cx="4816593" cy="884197"/>
          </a:xfrm>
        </p:grpSpPr>
        <p:sp>
          <p:nvSpPr>
            <p:cNvPr id="3" name="Freeform 3">
              <a:extLst>
                <a:ext uri="{FF2B5EF4-FFF2-40B4-BE49-F238E27FC236}">
                  <a16:creationId xmlns:a16="http://schemas.microsoft.com/office/drawing/2014/main" id="{235FE7B3-7E7A-ED50-2009-6C2D63CD4839}"/>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endParaRPr lang="en-IN"/>
            </a:p>
          </p:txBody>
        </p:sp>
        <p:sp>
          <p:nvSpPr>
            <p:cNvPr id="4" name="TextBox 4">
              <a:extLst>
                <a:ext uri="{FF2B5EF4-FFF2-40B4-BE49-F238E27FC236}">
                  <a16:creationId xmlns:a16="http://schemas.microsoft.com/office/drawing/2014/main" id="{2A3F1A86-EF65-6628-53C4-4E486D3EEF6B}"/>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sp>
        <p:nvSpPr>
          <p:cNvPr id="7" name="Freeform 7">
            <a:extLst>
              <a:ext uri="{FF2B5EF4-FFF2-40B4-BE49-F238E27FC236}">
                <a16:creationId xmlns:a16="http://schemas.microsoft.com/office/drawing/2014/main" id="{221ABFC3-3A4E-18F7-BC3D-407C8C9A0CB2}"/>
              </a:ext>
            </a:extLst>
          </p:cNvPr>
          <p:cNvSpPr/>
          <p:nvPr/>
        </p:nvSpPr>
        <p:spPr>
          <a:xfrm>
            <a:off x="15468600" y="378908"/>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2"/>
            <a:stretch>
              <a:fillRect l="-5471" t="-83780" r="-5471" b="-82911"/>
            </a:stretch>
          </a:blipFill>
        </p:spPr>
        <p:txBody>
          <a:bodyPr/>
          <a:lstStyle/>
          <a:p>
            <a:endParaRPr lang="en-IN"/>
          </a:p>
        </p:txBody>
      </p:sp>
      <p:grpSp>
        <p:nvGrpSpPr>
          <p:cNvPr id="10" name="Group 5">
            <a:extLst>
              <a:ext uri="{FF2B5EF4-FFF2-40B4-BE49-F238E27FC236}">
                <a16:creationId xmlns:a16="http://schemas.microsoft.com/office/drawing/2014/main" id="{AB96407D-A214-3008-5C02-8E2B871F5F82}"/>
              </a:ext>
            </a:extLst>
          </p:cNvPr>
          <p:cNvGrpSpPr/>
          <p:nvPr/>
        </p:nvGrpSpPr>
        <p:grpSpPr>
          <a:xfrm rot="-10800000">
            <a:off x="-1447800" y="-8209"/>
            <a:ext cx="3810000" cy="387116"/>
            <a:chOff x="0" y="0"/>
            <a:chExt cx="24122064" cy="6379210"/>
          </a:xfrm>
          <a:solidFill>
            <a:srgbClr val="3AD7D0"/>
          </a:solidFill>
        </p:grpSpPr>
        <p:sp>
          <p:nvSpPr>
            <p:cNvPr id="11" name="Freeform 6">
              <a:extLst>
                <a:ext uri="{FF2B5EF4-FFF2-40B4-BE49-F238E27FC236}">
                  <a16:creationId xmlns:a16="http://schemas.microsoft.com/office/drawing/2014/main" id="{6D13591F-AEAC-73A8-D58D-1F0D6F435861}"/>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endParaRPr lang="en-IN"/>
            </a:p>
          </p:txBody>
        </p:sp>
      </p:grpSp>
      <p:sp>
        <p:nvSpPr>
          <p:cNvPr id="5" name="TextBox 4">
            <a:extLst>
              <a:ext uri="{FF2B5EF4-FFF2-40B4-BE49-F238E27FC236}">
                <a16:creationId xmlns:a16="http://schemas.microsoft.com/office/drawing/2014/main" id="{F24807D1-DC7A-DD6D-EAFB-158A5ADF4CB1}"/>
              </a:ext>
            </a:extLst>
          </p:cNvPr>
          <p:cNvSpPr txBox="1"/>
          <p:nvPr/>
        </p:nvSpPr>
        <p:spPr>
          <a:xfrm>
            <a:off x="457200" y="1257300"/>
            <a:ext cx="17602200" cy="8463855"/>
          </a:xfrm>
          <a:prstGeom prst="rect">
            <a:avLst/>
          </a:prstGeom>
          <a:noFill/>
        </p:spPr>
        <p:txBody>
          <a:bodyPr wrap="square" rtlCol="0">
            <a:spAutoFit/>
          </a:bodyPr>
          <a:lstStyle/>
          <a:p>
            <a:r>
              <a:rPr lang="en-US" sz="2800" b="1" dirty="0">
                <a:solidFill>
                  <a:schemeClr val="bg1"/>
                </a:solidFill>
              </a:rPr>
              <a:t>1. </a:t>
            </a:r>
            <a:r>
              <a:rPr lang="en-US" sz="2800" b="1" dirty="0">
                <a:highlight>
                  <a:srgbClr val="FFFF00"/>
                </a:highlight>
              </a:rPr>
              <a:t>Missed out areas of a structure that haven’t been waterproofed - </a:t>
            </a:r>
          </a:p>
          <a:p>
            <a:endParaRPr lang="en-US" sz="2800" b="1" dirty="0">
              <a:highlight>
                <a:srgbClr val="FFFF00"/>
              </a:highlight>
            </a:endParaRPr>
          </a:p>
          <a:p>
            <a:pPr marL="457200" indent="-457200">
              <a:buFont typeface="Arial" panose="020B0604020202020204" pitchFamily="34" charset="0"/>
              <a:buChar char="•"/>
            </a:pPr>
            <a:r>
              <a:rPr lang="en-US" sz="2800" b="1" dirty="0">
                <a:solidFill>
                  <a:srgbClr val="FF0000"/>
                </a:solidFill>
              </a:rPr>
              <a:t>Why this happens and resultant problems : </a:t>
            </a:r>
          </a:p>
          <a:p>
            <a:pPr marL="457200" indent="-457200">
              <a:buFont typeface="Arial" panose="020B0604020202020204" pitchFamily="34" charset="0"/>
              <a:buChar char="•"/>
            </a:pPr>
            <a:endParaRPr lang="en-US" sz="2800" b="1" dirty="0">
              <a:solidFill>
                <a:srgbClr val="FF0000"/>
              </a:solidFill>
            </a:endParaRPr>
          </a:p>
          <a:p>
            <a:pPr marL="914400" lvl="1" indent="-457200">
              <a:buFont typeface="Wingdings" panose="05000000000000000000" pitchFamily="2" charset="2"/>
              <a:buChar char="Ø"/>
            </a:pPr>
            <a:r>
              <a:rPr lang="en-US" sz="2800" b="1" dirty="0">
                <a:solidFill>
                  <a:schemeClr val="bg1"/>
                </a:solidFill>
              </a:rPr>
              <a:t>Only standard surfaces ( like roofs , toilets , tanks, basement) considered while drafting BOQ – No in-depth study of project’s drawings to identify vulnerable that need waterproofing</a:t>
            </a:r>
          </a:p>
          <a:p>
            <a:pPr marL="914400" lvl="1" indent="-457200">
              <a:buFont typeface="Wingdings" panose="05000000000000000000" pitchFamily="2" charset="2"/>
              <a:buChar char="Ø"/>
            </a:pPr>
            <a:r>
              <a:rPr lang="en-US" sz="2800" b="1" dirty="0">
                <a:solidFill>
                  <a:schemeClr val="bg1"/>
                </a:solidFill>
              </a:rPr>
              <a:t>Post award , Cost increases due to extra items getting executed at much higher prices – Typically what costs Re. 1/- during initial design phase estimation – can cost  Rs. 2/- if identified later during execution and can cost </a:t>
            </a:r>
            <a:r>
              <a:rPr lang="en-US" sz="2800" b="1" dirty="0" err="1">
                <a:solidFill>
                  <a:schemeClr val="bg1"/>
                </a:solidFill>
              </a:rPr>
              <a:t>upto</a:t>
            </a:r>
            <a:r>
              <a:rPr lang="en-US" sz="2800" b="1" dirty="0">
                <a:solidFill>
                  <a:schemeClr val="bg1"/>
                </a:solidFill>
              </a:rPr>
              <a:t> Rs. 10/- as repair costs post hand-over. </a:t>
            </a:r>
          </a:p>
          <a:p>
            <a:pPr marL="914400" lvl="1" indent="-457200">
              <a:buFont typeface="Wingdings" panose="05000000000000000000" pitchFamily="2" charset="2"/>
              <a:buChar char="Ø"/>
            </a:pPr>
            <a:r>
              <a:rPr lang="en-US" sz="2800" b="1" dirty="0">
                <a:solidFill>
                  <a:schemeClr val="bg1"/>
                </a:solidFill>
              </a:rPr>
              <a:t>Missed BOQ items or lack of scope clarity can result in potential disputes between Client , contractors, PMC</a:t>
            </a:r>
          </a:p>
          <a:p>
            <a:pPr marL="914400" lvl="1" indent="-457200">
              <a:buFont typeface="Wingdings" panose="05000000000000000000" pitchFamily="2" charset="2"/>
              <a:buChar char="Ø"/>
            </a:pPr>
            <a:r>
              <a:rPr lang="en-US" sz="2800" b="1" dirty="0">
                <a:solidFill>
                  <a:schemeClr val="bg1"/>
                </a:solidFill>
              </a:rPr>
              <a:t>Developer’s brand image adversely impacted due – customer’s carry perception that critical areas seem omitted </a:t>
            </a:r>
          </a:p>
          <a:p>
            <a:endParaRPr lang="en-US" sz="3200" b="1" dirty="0">
              <a:solidFill>
                <a:srgbClr val="00B050"/>
              </a:solidFill>
            </a:endParaRPr>
          </a:p>
          <a:p>
            <a:r>
              <a:rPr lang="en-US" sz="3200" b="1" dirty="0">
                <a:solidFill>
                  <a:srgbClr val="00B050"/>
                </a:solidFill>
              </a:rPr>
              <a:t>EnvaDure impact -  </a:t>
            </a:r>
          </a:p>
          <a:p>
            <a:endParaRPr lang="en-US" sz="3200" b="1" dirty="0">
              <a:solidFill>
                <a:srgbClr val="00B050"/>
              </a:solidFill>
            </a:endParaRPr>
          </a:p>
          <a:p>
            <a:pPr marL="457200" indent="-457200">
              <a:buFont typeface="Wingdings" panose="05000000000000000000" pitchFamily="2" charset="2"/>
              <a:buChar char="ü"/>
            </a:pPr>
            <a:r>
              <a:rPr lang="en-US" sz="2800" b="1" dirty="0">
                <a:solidFill>
                  <a:schemeClr val="bg1"/>
                </a:solidFill>
              </a:rPr>
              <a:t>Detailed engineering study of architectural and structural drawings , soil investigation report , geographical factors, planned usage , construction technique, future maintenance factors </a:t>
            </a:r>
            <a:r>
              <a:rPr lang="en-US" sz="2800" b="1" dirty="0" err="1">
                <a:solidFill>
                  <a:schemeClr val="bg1"/>
                </a:solidFill>
              </a:rPr>
              <a:t>etc</a:t>
            </a:r>
            <a:r>
              <a:rPr lang="en-US" sz="2800" b="1" dirty="0">
                <a:solidFill>
                  <a:schemeClr val="bg1"/>
                </a:solidFill>
              </a:rPr>
              <a:t> for holistic risk assessment to identify all locations that need waterproofing. </a:t>
            </a:r>
          </a:p>
          <a:p>
            <a:pPr marL="457200" indent="-457200">
              <a:buFont typeface="Wingdings" panose="05000000000000000000" pitchFamily="2" charset="2"/>
              <a:buChar char="ü"/>
            </a:pPr>
            <a:r>
              <a:rPr lang="en-US" sz="2800" b="1" dirty="0">
                <a:solidFill>
                  <a:schemeClr val="bg1"/>
                </a:solidFill>
              </a:rPr>
              <a:t>Aligned BOQ item list arrived at post detailed study, </a:t>
            </a:r>
            <a:r>
              <a:rPr lang="en-US" sz="2800" b="1" dirty="0" err="1">
                <a:solidFill>
                  <a:schemeClr val="bg1"/>
                </a:solidFill>
              </a:rPr>
              <a:t>minimises</a:t>
            </a:r>
            <a:r>
              <a:rPr lang="en-US" sz="2800" b="1" dirty="0">
                <a:solidFill>
                  <a:schemeClr val="bg1"/>
                </a:solidFill>
              </a:rPr>
              <a:t> risk of extra items and missed scope.</a:t>
            </a:r>
          </a:p>
          <a:p>
            <a:pPr marL="457200" indent="-457200">
              <a:buFont typeface="Wingdings" panose="05000000000000000000" pitchFamily="2" charset="2"/>
              <a:buChar char="ü"/>
            </a:pPr>
            <a:r>
              <a:rPr lang="en-US" sz="2800" b="1" dirty="0">
                <a:solidFill>
                  <a:schemeClr val="bg1"/>
                </a:solidFill>
              </a:rPr>
              <a:t>Architectural drawings marked up with locations that need waterproofing for easy correlation with BOQ items. </a:t>
            </a:r>
          </a:p>
        </p:txBody>
      </p:sp>
    </p:spTree>
    <p:extLst>
      <p:ext uri="{BB962C8B-B14F-4D97-AF65-F5344CB8AC3E}">
        <p14:creationId xmlns:p14="http://schemas.microsoft.com/office/powerpoint/2010/main" val="2811024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A5F2EA8-3863-9AAD-644D-318CA412E1E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2C2EA12-C1A4-CA52-24BC-F487FF52D7EA}"/>
              </a:ext>
            </a:extLst>
          </p:cNvPr>
          <p:cNvGrpSpPr/>
          <p:nvPr/>
        </p:nvGrpSpPr>
        <p:grpSpPr>
          <a:xfrm>
            <a:off x="0" y="0"/>
            <a:ext cx="18288000" cy="171451"/>
            <a:chOff x="0" y="0"/>
            <a:chExt cx="4816593" cy="884197"/>
          </a:xfrm>
        </p:grpSpPr>
        <p:sp>
          <p:nvSpPr>
            <p:cNvPr id="3" name="Freeform 3">
              <a:extLst>
                <a:ext uri="{FF2B5EF4-FFF2-40B4-BE49-F238E27FC236}">
                  <a16:creationId xmlns:a16="http://schemas.microsoft.com/office/drawing/2014/main" id="{1B4D890C-072D-70BD-40F3-E69A793F1BAF}"/>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endParaRPr lang="en-IN"/>
            </a:p>
          </p:txBody>
        </p:sp>
        <p:sp>
          <p:nvSpPr>
            <p:cNvPr id="4" name="TextBox 4">
              <a:extLst>
                <a:ext uri="{FF2B5EF4-FFF2-40B4-BE49-F238E27FC236}">
                  <a16:creationId xmlns:a16="http://schemas.microsoft.com/office/drawing/2014/main" id="{218C702E-B1EF-8086-4CB2-76502E2AEC54}"/>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sp>
        <p:nvSpPr>
          <p:cNvPr id="7" name="Freeform 7">
            <a:extLst>
              <a:ext uri="{FF2B5EF4-FFF2-40B4-BE49-F238E27FC236}">
                <a16:creationId xmlns:a16="http://schemas.microsoft.com/office/drawing/2014/main" id="{E84A6998-3E5C-6261-AE99-380B93731321}"/>
              </a:ext>
            </a:extLst>
          </p:cNvPr>
          <p:cNvSpPr/>
          <p:nvPr/>
        </p:nvSpPr>
        <p:spPr>
          <a:xfrm>
            <a:off x="15468600" y="378908"/>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2"/>
            <a:stretch>
              <a:fillRect l="-5471" t="-83780" r="-5471" b="-82911"/>
            </a:stretch>
          </a:blipFill>
        </p:spPr>
        <p:txBody>
          <a:bodyPr/>
          <a:lstStyle/>
          <a:p>
            <a:endParaRPr lang="en-IN"/>
          </a:p>
        </p:txBody>
      </p:sp>
      <p:grpSp>
        <p:nvGrpSpPr>
          <p:cNvPr id="10" name="Group 5">
            <a:extLst>
              <a:ext uri="{FF2B5EF4-FFF2-40B4-BE49-F238E27FC236}">
                <a16:creationId xmlns:a16="http://schemas.microsoft.com/office/drawing/2014/main" id="{FDB93A36-6A16-006E-40F3-A4C509BBEB03}"/>
              </a:ext>
            </a:extLst>
          </p:cNvPr>
          <p:cNvGrpSpPr/>
          <p:nvPr/>
        </p:nvGrpSpPr>
        <p:grpSpPr>
          <a:xfrm rot="-10800000">
            <a:off x="-1447800" y="-8209"/>
            <a:ext cx="3810000" cy="387116"/>
            <a:chOff x="0" y="0"/>
            <a:chExt cx="24122064" cy="6379210"/>
          </a:xfrm>
          <a:solidFill>
            <a:srgbClr val="3AD7D0"/>
          </a:solidFill>
        </p:grpSpPr>
        <p:sp>
          <p:nvSpPr>
            <p:cNvPr id="11" name="Freeform 6">
              <a:extLst>
                <a:ext uri="{FF2B5EF4-FFF2-40B4-BE49-F238E27FC236}">
                  <a16:creationId xmlns:a16="http://schemas.microsoft.com/office/drawing/2014/main" id="{461832EC-5D49-067B-F662-CD7ED50E08DD}"/>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endParaRPr lang="en-IN"/>
            </a:p>
          </p:txBody>
        </p:sp>
      </p:grpSp>
      <p:sp>
        <p:nvSpPr>
          <p:cNvPr id="5" name="TextBox 4">
            <a:extLst>
              <a:ext uri="{FF2B5EF4-FFF2-40B4-BE49-F238E27FC236}">
                <a16:creationId xmlns:a16="http://schemas.microsoft.com/office/drawing/2014/main" id="{2828EE0F-D693-23A4-C17E-1AC0AAF395AF}"/>
              </a:ext>
            </a:extLst>
          </p:cNvPr>
          <p:cNvSpPr txBox="1"/>
          <p:nvPr/>
        </p:nvSpPr>
        <p:spPr>
          <a:xfrm>
            <a:off x="533398" y="1023016"/>
            <a:ext cx="17221200" cy="8894743"/>
          </a:xfrm>
          <a:prstGeom prst="rect">
            <a:avLst/>
          </a:prstGeom>
          <a:noFill/>
        </p:spPr>
        <p:txBody>
          <a:bodyPr wrap="square" rtlCol="0">
            <a:spAutoFit/>
          </a:bodyPr>
          <a:lstStyle/>
          <a:p>
            <a:r>
              <a:rPr lang="en-US" sz="2800" b="1" dirty="0">
                <a:solidFill>
                  <a:schemeClr val="bg1"/>
                </a:solidFill>
              </a:rPr>
              <a:t>2.  </a:t>
            </a:r>
            <a:r>
              <a:rPr lang="en-US" sz="2800" b="1" dirty="0">
                <a:highlight>
                  <a:srgbClr val="FFFF00"/>
                </a:highlight>
              </a:rPr>
              <a:t>Wrong Systems Selection /Incorrect Specifications – </a:t>
            </a:r>
          </a:p>
          <a:p>
            <a:endParaRPr lang="en-US" sz="2800" b="1" dirty="0">
              <a:highlight>
                <a:srgbClr val="FFFF00"/>
              </a:highlight>
            </a:endParaRPr>
          </a:p>
          <a:p>
            <a:pPr marL="457200" indent="-457200">
              <a:buFont typeface="Arial" panose="020B0604020202020204" pitchFamily="34" charset="0"/>
              <a:buChar char="•"/>
            </a:pPr>
            <a:r>
              <a:rPr lang="en-US" sz="2800" b="1" dirty="0">
                <a:solidFill>
                  <a:srgbClr val="FF0000"/>
                </a:solidFill>
              </a:rPr>
              <a:t>Why this happens and resultant problems : </a:t>
            </a:r>
          </a:p>
          <a:p>
            <a:pPr marL="457200" indent="-457200">
              <a:buFont typeface="Arial" panose="020B0604020202020204" pitchFamily="34" charset="0"/>
              <a:buChar char="•"/>
            </a:pPr>
            <a:endParaRPr lang="en-US" sz="2800" b="1" dirty="0">
              <a:solidFill>
                <a:srgbClr val="FF0000"/>
              </a:solidFill>
            </a:endParaRPr>
          </a:p>
          <a:p>
            <a:pPr marL="914400" lvl="1" indent="-457200">
              <a:buFont typeface="Wingdings" panose="05000000000000000000" pitchFamily="2" charset="2"/>
              <a:buChar char="Ø"/>
            </a:pPr>
            <a:r>
              <a:rPr lang="en-US" sz="2800" b="1" dirty="0">
                <a:solidFill>
                  <a:schemeClr val="bg1"/>
                </a:solidFill>
              </a:rPr>
              <a:t>Lack of subject matter expertise with BOQ drafting team makers.</a:t>
            </a:r>
          </a:p>
          <a:p>
            <a:pPr marL="914400" lvl="1" indent="-457200">
              <a:buFont typeface="Wingdings" panose="05000000000000000000" pitchFamily="2" charset="2"/>
              <a:buChar char="Ø"/>
            </a:pPr>
            <a:r>
              <a:rPr lang="en-US" sz="2800" b="1" dirty="0">
                <a:solidFill>
                  <a:schemeClr val="bg1"/>
                </a:solidFill>
              </a:rPr>
              <a:t>Adopting a copy paste approach of using one project’s BOQ across multiple projects without evaluating each individual project’s requirements.</a:t>
            </a:r>
          </a:p>
          <a:p>
            <a:pPr marL="914400" lvl="1" indent="-457200">
              <a:buFont typeface="Wingdings" panose="05000000000000000000" pitchFamily="2" charset="2"/>
              <a:buChar char="Ø"/>
            </a:pPr>
            <a:r>
              <a:rPr lang="en-US" sz="2800" b="1" dirty="0">
                <a:solidFill>
                  <a:schemeClr val="bg1"/>
                </a:solidFill>
              </a:rPr>
              <a:t>Insufficiently drafted BOQ specifications that don’t provide clarity to bidders or project management teams – At times BOQ has a mix of multi brand based specs that creates confusion as specification intent isn’t clear. </a:t>
            </a:r>
          </a:p>
          <a:p>
            <a:pPr marL="914400" lvl="1" indent="-457200">
              <a:buFont typeface="Wingdings" panose="05000000000000000000" pitchFamily="2" charset="2"/>
              <a:buChar char="Ø"/>
            </a:pPr>
            <a:r>
              <a:rPr lang="en-US" sz="2800" b="1" dirty="0">
                <a:solidFill>
                  <a:schemeClr val="bg1"/>
                </a:solidFill>
              </a:rPr>
              <a:t>Product manufacturer led BOQ can </a:t>
            </a:r>
            <a:r>
              <a:rPr lang="en-US" sz="2800" b="1" dirty="0" err="1">
                <a:solidFill>
                  <a:schemeClr val="bg1"/>
                </a:solidFill>
              </a:rPr>
              <a:t>favour</a:t>
            </a:r>
            <a:r>
              <a:rPr lang="en-US" sz="2800" b="1" dirty="0">
                <a:solidFill>
                  <a:schemeClr val="bg1"/>
                </a:solidFill>
              </a:rPr>
              <a:t> a specific brand – depriving client of a fair bidding process for best value option. </a:t>
            </a:r>
          </a:p>
          <a:p>
            <a:endParaRPr lang="en-US" sz="3200" b="1" dirty="0">
              <a:solidFill>
                <a:srgbClr val="00B050"/>
              </a:solidFill>
            </a:endParaRPr>
          </a:p>
          <a:p>
            <a:r>
              <a:rPr lang="en-US" sz="3200" b="1" dirty="0">
                <a:solidFill>
                  <a:srgbClr val="00B050"/>
                </a:solidFill>
              </a:rPr>
              <a:t>EnvaDure impact -  </a:t>
            </a:r>
          </a:p>
          <a:p>
            <a:endParaRPr lang="en-US" sz="3200" b="1" dirty="0">
              <a:solidFill>
                <a:srgbClr val="00B050"/>
              </a:solidFill>
            </a:endParaRPr>
          </a:p>
          <a:p>
            <a:pPr marL="457200" indent="-457200">
              <a:buFont typeface="Wingdings" panose="05000000000000000000" pitchFamily="2" charset="2"/>
              <a:buChar char="ü"/>
            </a:pPr>
            <a:r>
              <a:rPr lang="en-US" sz="2800" b="1" dirty="0">
                <a:solidFill>
                  <a:schemeClr val="bg1"/>
                </a:solidFill>
              </a:rPr>
              <a:t>An independent brand agnostic neutral approach only driven by the project’s requirements. </a:t>
            </a:r>
          </a:p>
          <a:p>
            <a:pPr marL="457200" indent="-457200">
              <a:buFont typeface="Wingdings" panose="05000000000000000000" pitchFamily="2" charset="2"/>
              <a:buChar char="ü"/>
            </a:pPr>
            <a:r>
              <a:rPr lang="en-US" sz="2800" b="1" dirty="0">
                <a:solidFill>
                  <a:schemeClr val="bg1"/>
                </a:solidFill>
              </a:rPr>
              <a:t>A scientific approach towards fit for purpose based specifications design based on Indian and International standards and best practices. </a:t>
            </a:r>
          </a:p>
          <a:p>
            <a:pPr marL="457200" indent="-457200">
              <a:buFont typeface="Wingdings" panose="05000000000000000000" pitchFamily="2" charset="2"/>
              <a:buChar char="ü"/>
            </a:pPr>
            <a:r>
              <a:rPr lang="en-US" sz="2800" b="1" dirty="0">
                <a:solidFill>
                  <a:schemeClr val="bg1"/>
                </a:solidFill>
              </a:rPr>
              <a:t>Value engineered , Durability and Sustainability driven thought process. </a:t>
            </a:r>
          </a:p>
          <a:p>
            <a:pPr marL="457200" indent="-457200">
              <a:buFont typeface="Wingdings" panose="05000000000000000000" pitchFamily="2" charset="2"/>
              <a:buChar char="ü"/>
            </a:pPr>
            <a:r>
              <a:rPr lang="en-US" sz="2800" b="1" dirty="0">
                <a:solidFill>
                  <a:schemeClr val="bg1"/>
                </a:solidFill>
              </a:rPr>
              <a:t>Project biased and not product biased philosophy at the core. </a:t>
            </a:r>
          </a:p>
          <a:p>
            <a:pPr marL="457200" indent="-457200">
              <a:buFont typeface="Wingdings" panose="05000000000000000000" pitchFamily="2" charset="2"/>
              <a:buChar char="ü"/>
            </a:pPr>
            <a:r>
              <a:rPr lang="en-US" sz="2800" b="1" dirty="0">
                <a:solidFill>
                  <a:schemeClr val="bg1"/>
                </a:solidFill>
              </a:rPr>
              <a:t>No commercial involvement in entire process of bidding. </a:t>
            </a:r>
          </a:p>
        </p:txBody>
      </p:sp>
    </p:spTree>
    <p:extLst>
      <p:ext uri="{BB962C8B-B14F-4D97-AF65-F5344CB8AC3E}">
        <p14:creationId xmlns:p14="http://schemas.microsoft.com/office/powerpoint/2010/main" val="2335576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339A44E-D1BD-8625-607C-92F32095D81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33A76E4-0B15-967E-9490-2CE5BF171F4F}"/>
              </a:ext>
            </a:extLst>
          </p:cNvPr>
          <p:cNvGrpSpPr/>
          <p:nvPr/>
        </p:nvGrpSpPr>
        <p:grpSpPr>
          <a:xfrm>
            <a:off x="0" y="0"/>
            <a:ext cx="18288000" cy="171451"/>
            <a:chOff x="0" y="0"/>
            <a:chExt cx="4816593" cy="884197"/>
          </a:xfrm>
        </p:grpSpPr>
        <p:sp>
          <p:nvSpPr>
            <p:cNvPr id="3" name="Freeform 3">
              <a:extLst>
                <a:ext uri="{FF2B5EF4-FFF2-40B4-BE49-F238E27FC236}">
                  <a16:creationId xmlns:a16="http://schemas.microsoft.com/office/drawing/2014/main" id="{309AE419-A8F0-119C-922E-5720DA67E0ED}"/>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endParaRPr lang="en-IN"/>
            </a:p>
          </p:txBody>
        </p:sp>
        <p:sp>
          <p:nvSpPr>
            <p:cNvPr id="4" name="TextBox 4">
              <a:extLst>
                <a:ext uri="{FF2B5EF4-FFF2-40B4-BE49-F238E27FC236}">
                  <a16:creationId xmlns:a16="http://schemas.microsoft.com/office/drawing/2014/main" id="{27E1E74E-34C4-2737-19F3-18E25DD12B9E}"/>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sp>
        <p:nvSpPr>
          <p:cNvPr id="7" name="Freeform 7">
            <a:extLst>
              <a:ext uri="{FF2B5EF4-FFF2-40B4-BE49-F238E27FC236}">
                <a16:creationId xmlns:a16="http://schemas.microsoft.com/office/drawing/2014/main" id="{F7E73694-DCD4-56CC-A05A-74AF52EFB6D7}"/>
              </a:ext>
            </a:extLst>
          </p:cNvPr>
          <p:cNvSpPr/>
          <p:nvPr/>
        </p:nvSpPr>
        <p:spPr>
          <a:xfrm>
            <a:off x="15468600" y="378908"/>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2"/>
            <a:stretch>
              <a:fillRect l="-5471" t="-83780" r="-5471" b="-82911"/>
            </a:stretch>
          </a:blipFill>
        </p:spPr>
        <p:txBody>
          <a:bodyPr/>
          <a:lstStyle/>
          <a:p>
            <a:endParaRPr lang="en-IN"/>
          </a:p>
        </p:txBody>
      </p:sp>
      <p:grpSp>
        <p:nvGrpSpPr>
          <p:cNvPr id="10" name="Group 5">
            <a:extLst>
              <a:ext uri="{FF2B5EF4-FFF2-40B4-BE49-F238E27FC236}">
                <a16:creationId xmlns:a16="http://schemas.microsoft.com/office/drawing/2014/main" id="{956D453D-AEDD-D527-1B3D-77886B2A27B8}"/>
              </a:ext>
            </a:extLst>
          </p:cNvPr>
          <p:cNvGrpSpPr/>
          <p:nvPr/>
        </p:nvGrpSpPr>
        <p:grpSpPr>
          <a:xfrm rot="-10800000">
            <a:off x="-1447800" y="-8209"/>
            <a:ext cx="3810000" cy="387116"/>
            <a:chOff x="0" y="0"/>
            <a:chExt cx="24122064" cy="6379210"/>
          </a:xfrm>
          <a:solidFill>
            <a:srgbClr val="3AD7D0"/>
          </a:solidFill>
        </p:grpSpPr>
        <p:sp>
          <p:nvSpPr>
            <p:cNvPr id="11" name="Freeform 6">
              <a:extLst>
                <a:ext uri="{FF2B5EF4-FFF2-40B4-BE49-F238E27FC236}">
                  <a16:creationId xmlns:a16="http://schemas.microsoft.com/office/drawing/2014/main" id="{989C39AD-1CD6-CADA-F244-572FC16DF51D}"/>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endParaRPr lang="en-IN"/>
            </a:p>
          </p:txBody>
        </p:sp>
      </p:grpSp>
      <p:sp>
        <p:nvSpPr>
          <p:cNvPr id="5" name="TextBox 4">
            <a:extLst>
              <a:ext uri="{FF2B5EF4-FFF2-40B4-BE49-F238E27FC236}">
                <a16:creationId xmlns:a16="http://schemas.microsoft.com/office/drawing/2014/main" id="{BDA3A597-E376-9655-5C05-899AD51C4F19}"/>
              </a:ext>
            </a:extLst>
          </p:cNvPr>
          <p:cNvSpPr txBox="1"/>
          <p:nvPr/>
        </p:nvSpPr>
        <p:spPr>
          <a:xfrm>
            <a:off x="533398" y="1181100"/>
            <a:ext cx="17449802" cy="8894743"/>
          </a:xfrm>
          <a:prstGeom prst="rect">
            <a:avLst/>
          </a:prstGeom>
          <a:noFill/>
        </p:spPr>
        <p:txBody>
          <a:bodyPr wrap="square" rtlCol="0">
            <a:spAutoFit/>
          </a:bodyPr>
          <a:lstStyle/>
          <a:p>
            <a:r>
              <a:rPr lang="en-US" sz="2800" b="1" dirty="0">
                <a:solidFill>
                  <a:schemeClr val="bg1"/>
                </a:solidFill>
              </a:rPr>
              <a:t>3. </a:t>
            </a:r>
            <a:r>
              <a:rPr lang="en-US" sz="2800" b="1" dirty="0">
                <a:highlight>
                  <a:srgbClr val="FFFF00"/>
                </a:highlight>
              </a:rPr>
              <a:t>Erroneous Application done on site –  </a:t>
            </a:r>
          </a:p>
          <a:p>
            <a:endParaRPr lang="en-US" sz="2800" b="1" dirty="0">
              <a:highlight>
                <a:srgbClr val="FFFF00"/>
              </a:highlight>
            </a:endParaRPr>
          </a:p>
          <a:p>
            <a:pPr marL="457200" indent="-457200">
              <a:buFont typeface="Arial" panose="020B0604020202020204" pitchFamily="34" charset="0"/>
              <a:buChar char="•"/>
            </a:pPr>
            <a:r>
              <a:rPr lang="en-US" sz="2800" b="1" dirty="0">
                <a:solidFill>
                  <a:srgbClr val="FF0000"/>
                </a:solidFill>
              </a:rPr>
              <a:t>Why this happens and resultant problems : </a:t>
            </a:r>
          </a:p>
          <a:p>
            <a:pPr marL="914400" lvl="1" indent="-457200">
              <a:buFont typeface="Wingdings" panose="05000000000000000000" pitchFamily="2" charset="2"/>
              <a:buChar char="Ø"/>
            </a:pPr>
            <a:r>
              <a:rPr lang="en-US" sz="2800" b="1" dirty="0">
                <a:solidFill>
                  <a:schemeClr val="bg1"/>
                </a:solidFill>
              </a:rPr>
              <a:t>Untrained workmen , Insufficient supervision – outcome of selecting a waterproofing contractor only basis L1 pricing without a proper PQ process.</a:t>
            </a:r>
          </a:p>
          <a:p>
            <a:pPr marL="914400" lvl="1" indent="-457200">
              <a:buFont typeface="Wingdings" panose="05000000000000000000" pitchFamily="2" charset="2"/>
              <a:buChar char="Ø"/>
            </a:pPr>
            <a:r>
              <a:rPr lang="en-US" sz="2800" b="1" dirty="0">
                <a:solidFill>
                  <a:schemeClr val="bg1"/>
                </a:solidFill>
              </a:rPr>
              <a:t>Project execution teams not knowing what to check , how to check and when to check during application</a:t>
            </a:r>
          </a:p>
          <a:p>
            <a:pPr marL="914400" lvl="1" indent="-457200">
              <a:buFont typeface="Wingdings" panose="05000000000000000000" pitchFamily="2" charset="2"/>
              <a:buChar char="Ø"/>
            </a:pPr>
            <a:r>
              <a:rPr lang="en-US" sz="2800" b="1" dirty="0">
                <a:solidFill>
                  <a:schemeClr val="bg1"/>
                </a:solidFill>
              </a:rPr>
              <a:t>Specifications unclear about dealing with complex locations such as penetrations , interfaces , profile </a:t>
            </a:r>
            <a:r>
              <a:rPr lang="en-US" sz="2800" b="1" dirty="0" err="1">
                <a:solidFill>
                  <a:schemeClr val="bg1"/>
                </a:solidFill>
              </a:rPr>
              <a:t>etc</a:t>
            </a:r>
            <a:r>
              <a:rPr lang="en-US" sz="2800" b="1" dirty="0">
                <a:solidFill>
                  <a:schemeClr val="bg1"/>
                </a:solidFill>
              </a:rPr>
              <a:t> </a:t>
            </a:r>
          </a:p>
          <a:p>
            <a:pPr marL="914400" lvl="1" indent="-457200">
              <a:buFont typeface="Wingdings" panose="05000000000000000000" pitchFamily="2" charset="2"/>
              <a:buChar char="Ø"/>
            </a:pPr>
            <a:r>
              <a:rPr lang="en-US" sz="2800" b="1" dirty="0">
                <a:solidFill>
                  <a:schemeClr val="bg1"/>
                </a:solidFill>
              </a:rPr>
              <a:t>Lack of clarity in method statements in dealing with complex site conditions. </a:t>
            </a:r>
          </a:p>
          <a:p>
            <a:pPr marL="914400" lvl="1" indent="-457200">
              <a:buFont typeface="Wingdings" panose="05000000000000000000" pitchFamily="2" charset="2"/>
              <a:buChar char="Ø"/>
            </a:pPr>
            <a:r>
              <a:rPr lang="en-US" sz="2800" b="1" dirty="0">
                <a:solidFill>
                  <a:schemeClr val="bg1"/>
                </a:solidFill>
              </a:rPr>
              <a:t>No project specific </a:t>
            </a:r>
            <a:r>
              <a:rPr lang="en-US" sz="2800" b="1" dirty="0" err="1">
                <a:solidFill>
                  <a:schemeClr val="bg1"/>
                </a:solidFill>
              </a:rPr>
              <a:t>customised</a:t>
            </a:r>
            <a:r>
              <a:rPr lang="en-US" sz="2800" b="1" dirty="0">
                <a:solidFill>
                  <a:schemeClr val="bg1"/>
                </a:solidFill>
              </a:rPr>
              <a:t> cross section drawings available to enable waterproofing contractor and project team to understand intricacy of the waterproofing system installation &amp; build-up at critical points. </a:t>
            </a:r>
          </a:p>
          <a:p>
            <a:pPr marL="914400" lvl="1" indent="-457200">
              <a:buFont typeface="Wingdings" panose="05000000000000000000" pitchFamily="2" charset="2"/>
              <a:buChar char="Ø"/>
            </a:pPr>
            <a:r>
              <a:rPr lang="en-US" sz="2800" b="1" dirty="0">
                <a:solidFill>
                  <a:schemeClr val="bg1"/>
                </a:solidFill>
              </a:rPr>
              <a:t>Project teams and applicators unaware about material storage and material handling norms. </a:t>
            </a:r>
          </a:p>
          <a:p>
            <a:pPr marL="914400" lvl="1" indent="-457200">
              <a:buFont typeface="Wingdings" panose="05000000000000000000" pitchFamily="2" charset="2"/>
              <a:buChar char="Ø"/>
            </a:pPr>
            <a:endParaRPr lang="en-US" sz="3200" b="1" dirty="0">
              <a:solidFill>
                <a:srgbClr val="00B050"/>
              </a:solidFill>
            </a:endParaRPr>
          </a:p>
          <a:p>
            <a:r>
              <a:rPr lang="en-US" sz="3200" b="1" dirty="0">
                <a:solidFill>
                  <a:srgbClr val="00B050"/>
                </a:solidFill>
              </a:rPr>
              <a:t>EnvaDure impact -  </a:t>
            </a:r>
          </a:p>
          <a:p>
            <a:endParaRPr lang="en-US" sz="3200" b="1" dirty="0">
              <a:solidFill>
                <a:srgbClr val="00B050"/>
              </a:solidFill>
            </a:endParaRPr>
          </a:p>
          <a:p>
            <a:pPr marL="457200" indent="-457200">
              <a:buFont typeface="Wingdings" panose="05000000000000000000" pitchFamily="2" charset="2"/>
              <a:buChar char="ü"/>
            </a:pPr>
            <a:r>
              <a:rPr lang="en-US" sz="2800" b="1" dirty="0">
                <a:solidFill>
                  <a:schemeClr val="bg1"/>
                </a:solidFill>
              </a:rPr>
              <a:t>Project specific PQ criteria enabling client to select Waterproofing contractors who have capability to execute. </a:t>
            </a:r>
          </a:p>
          <a:p>
            <a:pPr marL="457200" indent="-457200">
              <a:buFont typeface="Wingdings" panose="05000000000000000000" pitchFamily="2" charset="2"/>
              <a:buChar char="ü"/>
            </a:pPr>
            <a:r>
              <a:rPr lang="en-US" sz="2800" b="1" dirty="0">
                <a:solidFill>
                  <a:schemeClr val="bg1"/>
                </a:solidFill>
              </a:rPr>
              <a:t>Detailed cross section drawings for all surfaces / BOQ items and step-wise detailed method statements. </a:t>
            </a:r>
          </a:p>
          <a:p>
            <a:pPr marL="457200" indent="-457200">
              <a:buFont typeface="Wingdings" panose="05000000000000000000" pitchFamily="2" charset="2"/>
              <a:buChar char="ü"/>
            </a:pPr>
            <a:r>
              <a:rPr lang="en-US" sz="2800" b="1" dirty="0">
                <a:solidFill>
                  <a:schemeClr val="bg1"/>
                </a:solidFill>
              </a:rPr>
              <a:t>Clearly defined Substrate parameters and ambient factors influencing application. </a:t>
            </a:r>
          </a:p>
          <a:p>
            <a:pPr marL="457200" indent="-457200">
              <a:buFont typeface="Wingdings" panose="05000000000000000000" pitchFamily="2" charset="2"/>
              <a:buChar char="ü"/>
            </a:pPr>
            <a:r>
              <a:rPr lang="en-US" sz="2800" b="1" dirty="0">
                <a:solidFill>
                  <a:schemeClr val="bg1"/>
                </a:solidFill>
              </a:rPr>
              <a:t>Clearly defined protocol for on-site tests to be performed. </a:t>
            </a:r>
          </a:p>
          <a:p>
            <a:pPr marL="457200" indent="-457200">
              <a:buFont typeface="Wingdings" panose="05000000000000000000" pitchFamily="2" charset="2"/>
              <a:buChar char="ü"/>
            </a:pPr>
            <a:r>
              <a:rPr lang="en-US" sz="2800" b="1" dirty="0">
                <a:solidFill>
                  <a:schemeClr val="bg1"/>
                </a:solidFill>
              </a:rPr>
              <a:t>Easy to implement </a:t>
            </a:r>
            <a:r>
              <a:rPr lang="en-US" sz="2800" b="1" dirty="0" err="1">
                <a:solidFill>
                  <a:schemeClr val="bg1"/>
                </a:solidFill>
              </a:rPr>
              <a:t>QAQC</a:t>
            </a:r>
            <a:r>
              <a:rPr lang="en-US" sz="2800" b="1" dirty="0">
                <a:solidFill>
                  <a:schemeClr val="bg1"/>
                </a:solidFill>
              </a:rPr>
              <a:t> check lists for monitoring the work being done by Waterproofing Contractor. </a:t>
            </a:r>
          </a:p>
          <a:p>
            <a:pPr marL="457200" indent="-457200">
              <a:buFont typeface="Wingdings" panose="05000000000000000000" pitchFamily="2" charset="2"/>
              <a:buChar char="ü"/>
            </a:pPr>
            <a:endParaRPr lang="en-US" sz="2800" b="1" dirty="0">
              <a:solidFill>
                <a:schemeClr val="bg1"/>
              </a:solidFill>
            </a:endParaRPr>
          </a:p>
        </p:txBody>
      </p:sp>
    </p:spTree>
    <p:extLst>
      <p:ext uri="{BB962C8B-B14F-4D97-AF65-F5344CB8AC3E}">
        <p14:creationId xmlns:p14="http://schemas.microsoft.com/office/powerpoint/2010/main" val="2571510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9411114-7D70-6A00-076E-BDD5A2F43D3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02CCC6D-53D4-C731-4814-ABDDEDF97EE9}"/>
              </a:ext>
            </a:extLst>
          </p:cNvPr>
          <p:cNvGrpSpPr/>
          <p:nvPr/>
        </p:nvGrpSpPr>
        <p:grpSpPr>
          <a:xfrm>
            <a:off x="0" y="0"/>
            <a:ext cx="18288000" cy="171451"/>
            <a:chOff x="0" y="0"/>
            <a:chExt cx="4816593" cy="884197"/>
          </a:xfrm>
        </p:grpSpPr>
        <p:sp>
          <p:nvSpPr>
            <p:cNvPr id="3" name="Freeform 3">
              <a:extLst>
                <a:ext uri="{FF2B5EF4-FFF2-40B4-BE49-F238E27FC236}">
                  <a16:creationId xmlns:a16="http://schemas.microsoft.com/office/drawing/2014/main" id="{2EDA4DB5-AD61-8ACD-BD7A-D35972159A89}"/>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endParaRPr lang="en-IN"/>
            </a:p>
          </p:txBody>
        </p:sp>
        <p:sp>
          <p:nvSpPr>
            <p:cNvPr id="4" name="TextBox 4">
              <a:extLst>
                <a:ext uri="{FF2B5EF4-FFF2-40B4-BE49-F238E27FC236}">
                  <a16:creationId xmlns:a16="http://schemas.microsoft.com/office/drawing/2014/main" id="{C5FF6851-4065-34D2-F4B5-EB37CF763AB7}"/>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sp>
        <p:nvSpPr>
          <p:cNvPr id="7" name="Freeform 7">
            <a:extLst>
              <a:ext uri="{FF2B5EF4-FFF2-40B4-BE49-F238E27FC236}">
                <a16:creationId xmlns:a16="http://schemas.microsoft.com/office/drawing/2014/main" id="{8EC2E030-A85A-DC4E-99FC-F02533EF1D51}"/>
              </a:ext>
            </a:extLst>
          </p:cNvPr>
          <p:cNvSpPr/>
          <p:nvPr/>
        </p:nvSpPr>
        <p:spPr>
          <a:xfrm>
            <a:off x="15468600" y="378908"/>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2"/>
            <a:stretch>
              <a:fillRect l="-5471" t="-83780" r="-5471" b="-82911"/>
            </a:stretch>
          </a:blipFill>
        </p:spPr>
        <p:txBody>
          <a:bodyPr/>
          <a:lstStyle/>
          <a:p>
            <a:endParaRPr lang="en-IN"/>
          </a:p>
        </p:txBody>
      </p:sp>
      <p:grpSp>
        <p:nvGrpSpPr>
          <p:cNvPr id="10" name="Group 5">
            <a:extLst>
              <a:ext uri="{FF2B5EF4-FFF2-40B4-BE49-F238E27FC236}">
                <a16:creationId xmlns:a16="http://schemas.microsoft.com/office/drawing/2014/main" id="{102006B5-0432-B48B-31B6-2E8A346CEB1E}"/>
              </a:ext>
            </a:extLst>
          </p:cNvPr>
          <p:cNvGrpSpPr/>
          <p:nvPr/>
        </p:nvGrpSpPr>
        <p:grpSpPr>
          <a:xfrm rot="-10800000">
            <a:off x="-1447800" y="-8209"/>
            <a:ext cx="3810000" cy="387116"/>
            <a:chOff x="0" y="0"/>
            <a:chExt cx="24122064" cy="6379210"/>
          </a:xfrm>
          <a:solidFill>
            <a:srgbClr val="3AD7D0"/>
          </a:solidFill>
        </p:grpSpPr>
        <p:sp>
          <p:nvSpPr>
            <p:cNvPr id="11" name="Freeform 6">
              <a:extLst>
                <a:ext uri="{FF2B5EF4-FFF2-40B4-BE49-F238E27FC236}">
                  <a16:creationId xmlns:a16="http://schemas.microsoft.com/office/drawing/2014/main" id="{492A6C5F-7808-850A-85E9-0816BAB76C01}"/>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endParaRPr lang="en-IN"/>
            </a:p>
          </p:txBody>
        </p:sp>
      </p:grpSp>
      <p:sp>
        <p:nvSpPr>
          <p:cNvPr id="5" name="TextBox 4">
            <a:extLst>
              <a:ext uri="{FF2B5EF4-FFF2-40B4-BE49-F238E27FC236}">
                <a16:creationId xmlns:a16="http://schemas.microsoft.com/office/drawing/2014/main" id="{702E8956-5642-9431-B155-66C6ABDE8AC5}"/>
              </a:ext>
            </a:extLst>
          </p:cNvPr>
          <p:cNvSpPr txBox="1"/>
          <p:nvPr/>
        </p:nvSpPr>
        <p:spPr>
          <a:xfrm>
            <a:off x="533400" y="1532389"/>
            <a:ext cx="17221200" cy="6740307"/>
          </a:xfrm>
          <a:prstGeom prst="rect">
            <a:avLst/>
          </a:prstGeom>
          <a:noFill/>
        </p:spPr>
        <p:txBody>
          <a:bodyPr wrap="square" rtlCol="0">
            <a:spAutoFit/>
          </a:bodyPr>
          <a:lstStyle/>
          <a:p>
            <a:r>
              <a:rPr lang="en-US" sz="2800" b="1" dirty="0">
                <a:solidFill>
                  <a:schemeClr val="bg1"/>
                </a:solidFill>
              </a:rPr>
              <a:t>4. </a:t>
            </a:r>
            <a:r>
              <a:rPr lang="en-US" sz="2800" b="1" dirty="0">
                <a:highlight>
                  <a:srgbClr val="FFFF00"/>
                </a:highlight>
              </a:rPr>
              <a:t>Damage to the waterproofing by other agencies – </a:t>
            </a:r>
            <a:r>
              <a:rPr lang="en-US" sz="2800" b="1" dirty="0">
                <a:solidFill>
                  <a:schemeClr val="bg1"/>
                </a:solidFill>
                <a:highlight>
                  <a:srgbClr val="FFFF00"/>
                </a:highlight>
              </a:rPr>
              <a:t> </a:t>
            </a:r>
          </a:p>
          <a:p>
            <a:endParaRPr lang="en-US" sz="2800" b="1" dirty="0">
              <a:solidFill>
                <a:schemeClr val="bg1"/>
              </a:solidFill>
              <a:highlight>
                <a:srgbClr val="FFFF00"/>
              </a:highlight>
            </a:endParaRPr>
          </a:p>
          <a:p>
            <a:pPr marL="457200" indent="-457200">
              <a:buFont typeface="Arial" panose="020B0604020202020204" pitchFamily="34" charset="0"/>
              <a:buChar char="•"/>
            </a:pPr>
            <a:r>
              <a:rPr lang="en-US" sz="2800" b="1" dirty="0">
                <a:solidFill>
                  <a:srgbClr val="FF0000"/>
                </a:solidFill>
              </a:rPr>
              <a:t>Why this happens and resultant problems :</a:t>
            </a:r>
          </a:p>
          <a:p>
            <a:r>
              <a:rPr lang="en-US" sz="2800" b="1" dirty="0">
                <a:solidFill>
                  <a:srgbClr val="FF0000"/>
                </a:solidFill>
              </a:rPr>
              <a:t> </a:t>
            </a:r>
          </a:p>
          <a:p>
            <a:pPr marL="914400" lvl="1" indent="-457200">
              <a:buFont typeface="Wingdings" panose="05000000000000000000" pitchFamily="2" charset="2"/>
              <a:buChar char="Ø"/>
            </a:pPr>
            <a:r>
              <a:rPr lang="en-US" sz="2800" b="1" dirty="0">
                <a:solidFill>
                  <a:schemeClr val="bg1"/>
                </a:solidFill>
              </a:rPr>
              <a:t>Due to lack of proper activity sequence clarity in the specifications /method statements &amp; unclear HOTO process between agencies. </a:t>
            </a:r>
          </a:p>
          <a:p>
            <a:pPr marL="914400" lvl="1" indent="-457200">
              <a:buFont typeface="Wingdings" panose="05000000000000000000" pitchFamily="2" charset="2"/>
              <a:buChar char="Ø"/>
            </a:pPr>
            <a:r>
              <a:rPr lang="en-US" sz="2800" b="1" dirty="0">
                <a:solidFill>
                  <a:schemeClr val="bg1"/>
                </a:solidFill>
              </a:rPr>
              <a:t>Lack of clarity in specifications about how to protect, when to protect and who will do the protection to completed waterproofing. </a:t>
            </a:r>
          </a:p>
          <a:p>
            <a:endParaRPr lang="en-US" sz="3200" b="1" dirty="0">
              <a:solidFill>
                <a:srgbClr val="00B050"/>
              </a:solidFill>
            </a:endParaRPr>
          </a:p>
          <a:p>
            <a:r>
              <a:rPr lang="en-US" sz="3200" b="1" dirty="0">
                <a:solidFill>
                  <a:srgbClr val="00B050"/>
                </a:solidFill>
              </a:rPr>
              <a:t>EnvaDure impact -  </a:t>
            </a:r>
          </a:p>
          <a:p>
            <a:endParaRPr lang="en-US" sz="3200" b="1" dirty="0">
              <a:solidFill>
                <a:srgbClr val="00B050"/>
              </a:solidFill>
            </a:endParaRPr>
          </a:p>
          <a:p>
            <a:pPr marL="457200" indent="-457200">
              <a:buFont typeface="Wingdings" panose="05000000000000000000" pitchFamily="2" charset="2"/>
              <a:buChar char="ü"/>
            </a:pPr>
            <a:r>
              <a:rPr lang="en-US" sz="2800" b="1" dirty="0">
                <a:solidFill>
                  <a:schemeClr val="bg1"/>
                </a:solidFill>
              </a:rPr>
              <a:t>Clearly defined scope matrix on technical parameters pertaining to HOTO between Waterproofing Contractor and Main Civil Contractor </a:t>
            </a:r>
          </a:p>
          <a:p>
            <a:pPr marL="457200" indent="-457200">
              <a:buFont typeface="Wingdings" panose="05000000000000000000" pitchFamily="2" charset="2"/>
              <a:buChar char="ü"/>
            </a:pPr>
            <a:r>
              <a:rPr lang="en-US" sz="2800" b="1" dirty="0">
                <a:solidFill>
                  <a:schemeClr val="bg1"/>
                </a:solidFill>
              </a:rPr>
              <a:t>Detailed method statements that defined sequential activity with clarity of time intervals involved in succeeding activities.</a:t>
            </a:r>
          </a:p>
        </p:txBody>
      </p:sp>
    </p:spTree>
    <p:extLst>
      <p:ext uri="{BB962C8B-B14F-4D97-AF65-F5344CB8AC3E}">
        <p14:creationId xmlns:p14="http://schemas.microsoft.com/office/powerpoint/2010/main" val="4232799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CEFA159-0078-5BD3-6852-EF8911C8A20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A82DF2E-F182-3251-BA98-5C7864E9C084}"/>
              </a:ext>
            </a:extLst>
          </p:cNvPr>
          <p:cNvGrpSpPr/>
          <p:nvPr/>
        </p:nvGrpSpPr>
        <p:grpSpPr>
          <a:xfrm>
            <a:off x="0" y="0"/>
            <a:ext cx="18288000" cy="171451"/>
            <a:chOff x="0" y="0"/>
            <a:chExt cx="4816593" cy="884197"/>
          </a:xfrm>
        </p:grpSpPr>
        <p:sp>
          <p:nvSpPr>
            <p:cNvPr id="3" name="Freeform 3">
              <a:extLst>
                <a:ext uri="{FF2B5EF4-FFF2-40B4-BE49-F238E27FC236}">
                  <a16:creationId xmlns:a16="http://schemas.microsoft.com/office/drawing/2014/main" id="{DE705E0E-F839-204A-F813-BA533588A908}"/>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endParaRPr lang="en-IN"/>
            </a:p>
          </p:txBody>
        </p:sp>
        <p:sp>
          <p:nvSpPr>
            <p:cNvPr id="4" name="TextBox 4">
              <a:extLst>
                <a:ext uri="{FF2B5EF4-FFF2-40B4-BE49-F238E27FC236}">
                  <a16:creationId xmlns:a16="http://schemas.microsoft.com/office/drawing/2014/main" id="{26F3124E-9244-81E1-0E72-66F39341FBE7}"/>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sp>
        <p:nvSpPr>
          <p:cNvPr id="7" name="Freeform 7">
            <a:extLst>
              <a:ext uri="{FF2B5EF4-FFF2-40B4-BE49-F238E27FC236}">
                <a16:creationId xmlns:a16="http://schemas.microsoft.com/office/drawing/2014/main" id="{CF41B378-5A73-4BC7-C7D3-9B6CD336084B}"/>
              </a:ext>
            </a:extLst>
          </p:cNvPr>
          <p:cNvSpPr/>
          <p:nvPr/>
        </p:nvSpPr>
        <p:spPr>
          <a:xfrm>
            <a:off x="15468600" y="378908"/>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2"/>
            <a:stretch>
              <a:fillRect l="-5471" t="-83780" r="-5471" b="-82911"/>
            </a:stretch>
          </a:blipFill>
        </p:spPr>
        <p:txBody>
          <a:bodyPr/>
          <a:lstStyle/>
          <a:p>
            <a:endParaRPr lang="en-IN"/>
          </a:p>
        </p:txBody>
      </p:sp>
      <p:grpSp>
        <p:nvGrpSpPr>
          <p:cNvPr id="10" name="Group 5">
            <a:extLst>
              <a:ext uri="{FF2B5EF4-FFF2-40B4-BE49-F238E27FC236}">
                <a16:creationId xmlns:a16="http://schemas.microsoft.com/office/drawing/2014/main" id="{49A15A92-E663-A1FD-6156-CCBCD1DC027F}"/>
              </a:ext>
            </a:extLst>
          </p:cNvPr>
          <p:cNvGrpSpPr/>
          <p:nvPr/>
        </p:nvGrpSpPr>
        <p:grpSpPr>
          <a:xfrm rot="-10800000">
            <a:off x="-1447800" y="-8209"/>
            <a:ext cx="3810000" cy="387116"/>
            <a:chOff x="0" y="0"/>
            <a:chExt cx="24122064" cy="6379210"/>
          </a:xfrm>
          <a:solidFill>
            <a:srgbClr val="3AD7D0"/>
          </a:solidFill>
        </p:grpSpPr>
        <p:sp>
          <p:nvSpPr>
            <p:cNvPr id="11" name="Freeform 6">
              <a:extLst>
                <a:ext uri="{FF2B5EF4-FFF2-40B4-BE49-F238E27FC236}">
                  <a16:creationId xmlns:a16="http://schemas.microsoft.com/office/drawing/2014/main" id="{215244E2-7EE3-D62C-F668-382731FACE62}"/>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endParaRPr lang="en-IN"/>
            </a:p>
          </p:txBody>
        </p:sp>
      </p:grpSp>
      <p:sp>
        <p:nvSpPr>
          <p:cNvPr id="5" name="TextBox 4">
            <a:extLst>
              <a:ext uri="{FF2B5EF4-FFF2-40B4-BE49-F238E27FC236}">
                <a16:creationId xmlns:a16="http://schemas.microsoft.com/office/drawing/2014/main" id="{F60F0A52-03D6-2B23-BB33-18DFAF0786CF}"/>
              </a:ext>
            </a:extLst>
          </p:cNvPr>
          <p:cNvSpPr txBox="1"/>
          <p:nvPr/>
        </p:nvSpPr>
        <p:spPr>
          <a:xfrm>
            <a:off x="533400" y="1532389"/>
            <a:ext cx="17221200" cy="7171194"/>
          </a:xfrm>
          <a:prstGeom prst="rect">
            <a:avLst/>
          </a:prstGeom>
          <a:noFill/>
        </p:spPr>
        <p:txBody>
          <a:bodyPr wrap="square" rtlCol="0">
            <a:spAutoFit/>
          </a:bodyPr>
          <a:lstStyle/>
          <a:p>
            <a:r>
              <a:rPr lang="en-US" sz="2800" b="1" dirty="0">
                <a:solidFill>
                  <a:schemeClr val="bg1"/>
                </a:solidFill>
              </a:rPr>
              <a:t>5. </a:t>
            </a:r>
            <a:r>
              <a:rPr lang="en-US" sz="2800" b="1" dirty="0">
                <a:highlight>
                  <a:srgbClr val="FFFF00"/>
                </a:highlight>
              </a:rPr>
              <a:t>Due to Poor product quality – </a:t>
            </a:r>
            <a:r>
              <a:rPr lang="en-US" sz="2800" b="1" dirty="0">
                <a:solidFill>
                  <a:schemeClr val="bg1"/>
                </a:solidFill>
              </a:rPr>
              <a:t> </a:t>
            </a:r>
          </a:p>
          <a:p>
            <a:endParaRPr lang="en-US" sz="2800" b="1" dirty="0">
              <a:solidFill>
                <a:schemeClr val="bg1"/>
              </a:solidFill>
            </a:endParaRPr>
          </a:p>
          <a:p>
            <a:pPr marL="457200" indent="-457200">
              <a:buFont typeface="Arial" panose="020B0604020202020204" pitchFamily="34" charset="0"/>
              <a:buChar char="•"/>
            </a:pPr>
            <a:r>
              <a:rPr lang="en-US" sz="2800" b="1" dirty="0">
                <a:solidFill>
                  <a:srgbClr val="FF0000"/>
                </a:solidFill>
              </a:rPr>
              <a:t>Why this happens and resultant problems : </a:t>
            </a:r>
          </a:p>
          <a:p>
            <a:pPr marL="457200" indent="-457200">
              <a:buFont typeface="Arial" panose="020B0604020202020204" pitchFamily="34" charset="0"/>
              <a:buChar char="•"/>
            </a:pPr>
            <a:endParaRPr lang="en-US" sz="2800" b="1" dirty="0">
              <a:solidFill>
                <a:srgbClr val="FF0000"/>
              </a:solidFill>
            </a:endParaRPr>
          </a:p>
          <a:p>
            <a:pPr marL="914400" lvl="1" indent="-457200">
              <a:buFont typeface="Wingdings" panose="05000000000000000000" pitchFamily="2" charset="2"/>
              <a:buChar char="Ø"/>
            </a:pPr>
            <a:r>
              <a:rPr lang="en-US" sz="2800" b="1" dirty="0">
                <a:solidFill>
                  <a:schemeClr val="bg1"/>
                </a:solidFill>
              </a:rPr>
              <a:t>Lack of Manufacturers Pre-qualification criteria. </a:t>
            </a:r>
          </a:p>
          <a:p>
            <a:pPr marL="914400" lvl="1" indent="-457200">
              <a:buFont typeface="Wingdings" panose="05000000000000000000" pitchFamily="2" charset="2"/>
              <a:buChar char="Ø"/>
            </a:pPr>
            <a:r>
              <a:rPr lang="en-US" sz="2800" b="1" dirty="0">
                <a:solidFill>
                  <a:schemeClr val="bg1"/>
                </a:solidFill>
              </a:rPr>
              <a:t>Lack of knowledge in project team about what to check during product approval process, and what to test with testing frequency for product quality. </a:t>
            </a:r>
          </a:p>
          <a:p>
            <a:pPr marL="914400" lvl="1" indent="-457200">
              <a:buFont typeface="Wingdings" panose="05000000000000000000" pitchFamily="2" charset="2"/>
              <a:buChar char="Ø"/>
            </a:pPr>
            <a:endParaRPr lang="en-US" sz="2800" b="1" dirty="0">
              <a:solidFill>
                <a:schemeClr val="bg1"/>
              </a:solidFill>
            </a:endParaRPr>
          </a:p>
          <a:p>
            <a:endParaRPr lang="en-US" sz="3200" b="1" dirty="0">
              <a:solidFill>
                <a:srgbClr val="00B050"/>
              </a:solidFill>
            </a:endParaRPr>
          </a:p>
          <a:p>
            <a:r>
              <a:rPr lang="en-US" sz="3200" b="1" dirty="0">
                <a:solidFill>
                  <a:srgbClr val="00B050"/>
                </a:solidFill>
              </a:rPr>
              <a:t>EnvaDure impact -  </a:t>
            </a:r>
          </a:p>
          <a:p>
            <a:endParaRPr lang="en-US" sz="3200" b="1" dirty="0">
              <a:solidFill>
                <a:srgbClr val="00B050"/>
              </a:solidFill>
            </a:endParaRPr>
          </a:p>
          <a:p>
            <a:pPr marL="457200" indent="-457200">
              <a:buFont typeface="Wingdings" panose="05000000000000000000" pitchFamily="2" charset="2"/>
              <a:buChar char="ü"/>
            </a:pPr>
            <a:r>
              <a:rPr lang="en-US" sz="2800" b="1" dirty="0">
                <a:solidFill>
                  <a:schemeClr val="bg1"/>
                </a:solidFill>
              </a:rPr>
              <a:t>A neutral approach towards defining project specific PQ criteria enabling client to select Manufacturers/brands who can supply products meeting specification designs. </a:t>
            </a:r>
          </a:p>
          <a:p>
            <a:pPr marL="457200" indent="-457200">
              <a:buFont typeface="Wingdings" panose="05000000000000000000" pitchFamily="2" charset="2"/>
              <a:buChar char="ü"/>
            </a:pPr>
            <a:r>
              <a:rPr lang="en-US" sz="2800" b="1" dirty="0">
                <a:solidFill>
                  <a:schemeClr val="bg1"/>
                </a:solidFill>
              </a:rPr>
              <a:t>Clearly defined performance parameters for product approval</a:t>
            </a:r>
          </a:p>
          <a:p>
            <a:pPr marL="457200" indent="-457200">
              <a:buFont typeface="Wingdings" panose="05000000000000000000" pitchFamily="2" charset="2"/>
              <a:buChar char="ü"/>
            </a:pPr>
            <a:r>
              <a:rPr lang="en-US" sz="2800" b="1" dirty="0">
                <a:solidFill>
                  <a:schemeClr val="bg1"/>
                </a:solidFill>
              </a:rPr>
              <a:t>Clearly defined  product testing protocols through 3rd party labs.</a:t>
            </a:r>
          </a:p>
          <a:p>
            <a:pPr marL="457200" indent="-457200">
              <a:buFont typeface="Wingdings" panose="05000000000000000000" pitchFamily="2" charset="2"/>
              <a:buChar char="ü"/>
            </a:pPr>
            <a:endParaRPr lang="en-US" sz="2800" b="1" dirty="0">
              <a:solidFill>
                <a:schemeClr val="bg1"/>
              </a:solidFill>
            </a:endParaRPr>
          </a:p>
        </p:txBody>
      </p:sp>
    </p:spTree>
    <p:extLst>
      <p:ext uri="{BB962C8B-B14F-4D97-AF65-F5344CB8AC3E}">
        <p14:creationId xmlns:p14="http://schemas.microsoft.com/office/powerpoint/2010/main" val="2924327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066801" y="1231607"/>
            <a:ext cx="11924300" cy="7313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5" name="Group 34"/>
          <p:cNvGrpSpPr/>
          <p:nvPr/>
        </p:nvGrpSpPr>
        <p:grpSpPr>
          <a:xfrm>
            <a:off x="10668000" y="6653284"/>
            <a:ext cx="5513640" cy="2083568"/>
            <a:chOff x="5654195" y="3563130"/>
            <a:chExt cx="2895600" cy="1146823"/>
          </a:xfrm>
        </p:grpSpPr>
        <p:pic>
          <p:nvPicPr>
            <p:cNvPr id="2048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8595" t="34379" r="32313" b="32857"/>
            <a:stretch/>
          </p:blipFill>
          <p:spPr bwMode="auto">
            <a:xfrm>
              <a:off x="7620000" y="3563130"/>
              <a:ext cx="929795" cy="920263"/>
            </a:xfrm>
            <a:prstGeom prst="ellipse">
              <a:avLst/>
            </a:prstGeom>
            <a:ln w="28575">
              <a:solidFill>
                <a:schemeClr val="accent6">
                  <a:lumMod val="75000"/>
                </a:schemeClr>
              </a:solidFill>
              <a:miter lim="800000"/>
              <a:headEnd/>
              <a:tailEnd/>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chemeClr val="accent1"/>
                  </a:solidFill>
                </a14:hiddenFill>
              </a:ext>
            </a:extLst>
          </p:spPr>
        </p:pic>
        <p:cxnSp>
          <p:nvCxnSpPr>
            <p:cNvPr id="5" name="Straight Connector 4"/>
            <p:cNvCxnSpPr>
              <a:stCxn id="20482" idx="2"/>
            </p:cNvCxnSpPr>
            <p:nvPr/>
          </p:nvCxnSpPr>
          <p:spPr>
            <a:xfrm flipH="1" flipV="1">
              <a:off x="5654195" y="4012905"/>
              <a:ext cx="1965805" cy="1035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597709" y="4252561"/>
              <a:ext cx="1746867" cy="457392"/>
            </a:xfrm>
            <a:prstGeom prst="rect">
              <a:avLst/>
            </a:prstGeom>
            <a:noFill/>
          </p:spPr>
          <p:txBody>
            <a:bodyPr wrap="square" rtlCol="0">
              <a:spAutoFit/>
            </a:bodyPr>
            <a:lstStyle/>
            <a:p>
              <a:r>
                <a:rPr lang="en-US" sz="2400" b="1" u="sng">
                  <a:solidFill>
                    <a:schemeClr val="accent1"/>
                  </a:solidFill>
                </a:rPr>
                <a:t>Basement / UG Structure</a:t>
              </a:r>
              <a:endParaRPr lang="en-IN" sz="2400" b="1" u="sng">
                <a:solidFill>
                  <a:schemeClr val="accent1"/>
                </a:solidFill>
              </a:endParaRPr>
            </a:p>
          </p:txBody>
        </p:sp>
      </p:grpSp>
      <p:grpSp>
        <p:nvGrpSpPr>
          <p:cNvPr id="34" name="Group 33"/>
          <p:cNvGrpSpPr/>
          <p:nvPr/>
        </p:nvGrpSpPr>
        <p:grpSpPr>
          <a:xfrm>
            <a:off x="11577598" y="3768872"/>
            <a:ext cx="5878406" cy="2853787"/>
            <a:chOff x="5415935" y="2525836"/>
            <a:chExt cx="3120234" cy="1570503"/>
          </a:xfrm>
        </p:grpSpPr>
        <p:pic>
          <p:nvPicPr>
            <p:cNvPr id="8" name="Picture 7"/>
            <p:cNvPicPr>
              <a:picLocks noChangeAspect="1"/>
            </p:cNvPicPr>
            <p:nvPr/>
          </p:nvPicPr>
          <p:blipFill rotWithShape="1">
            <a:blip r:embed="rId5">
              <a:alphaModFix/>
              <a:extLst>
                <a:ext uri="{BEBA8EAE-BF5A-486C-A8C5-ECC9F3942E4B}">
                  <a14:imgProps xmlns:a14="http://schemas.microsoft.com/office/drawing/2010/main">
                    <a14:imgLayer r:embed="rId6">
                      <a14:imgEffect>
                        <a14:brightnessContrast bright="40000"/>
                      </a14:imgEffect>
                    </a14:imgLayer>
                  </a14:imgProps>
                </a:ext>
              </a:extLst>
            </a:blip>
            <a:srcRect l="53260" t="9986" r="14202" b="42114"/>
            <a:stretch/>
          </p:blipFill>
          <p:spPr>
            <a:xfrm>
              <a:off x="6726728" y="2525836"/>
              <a:ext cx="893272" cy="884114"/>
            </a:xfrm>
            <a:prstGeom prst="ellipse">
              <a:avLst/>
            </a:prstGeom>
            <a:ln w="28575" cap="rnd">
              <a:solidFill>
                <a:schemeClr val="accent6">
                  <a:lumMod val="75000"/>
                </a:schemeClr>
              </a:solidFill>
            </a:ln>
            <a:effectLst/>
            <a:scene3d>
              <a:camera prst="orthographicFront"/>
              <a:lightRig rig="contrasting" dir="t">
                <a:rot lat="0" lon="0" rev="3000000"/>
              </a:lightRig>
            </a:scene3d>
            <a:sp3d contourW="7620">
              <a:bevelT w="95250" h="31750"/>
              <a:contourClr>
                <a:srgbClr val="333333"/>
              </a:contourClr>
            </a:sp3d>
          </p:spPr>
        </p:pic>
        <p:cxnSp>
          <p:nvCxnSpPr>
            <p:cNvPr id="9" name="Straight Connector 8"/>
            <p:cNvCxnSpPr>
              <a:stCxn id="8" idx="2"/>
            </p:cNvCxnSpPr>
            <p:nvPr/>
          </p:nvCxnSpPr>
          <p:spPr>
            <a:xfrm flipH="1">
              <a:off x="5415935" y="2967893"/>
              <a:ext cx="1310793" cy="624743"/>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477000" y="3435771"/>
              <a:ext cx="2059169" cy="660568"/>
            </a:xfrm>
            <a:prstGeom prst="rect">
              <a:avLst/>
            </a:prstGeom>
            <a:noFill/>
          </p:spPr>
          <p:txBody>
            <a:bodyPr wrap="square" rtlCol="0">
              <a:spAutoFit/>
            </a:bodyPr>
            <a:lstStyle/>
            <a:p>
              <a:r>
                <a:rPr lang="en-US" sz="2400" b="1" u="sng" dirty="0">
                  <a:solidFill>
                    <a:schemeClr val="accent1"/>
                  </a:solidFill>
                </a:rPr>
                <a:t>Podium / Driveways / Landscape / Basement Top</a:t>
              </a:r>
              <a:endParaRPr lang="en-IN" sz="2400" b="1" u="sng" dirty="0">
                <a:solidFill>
                  <a:schemeClr val="accent1"/>
                </a:solidFill>
              </a:endParaRPr>
            </a:p>
          </p:txBody>
        </p:sp>
      </p:grpSp>
      <p:grpSp>
        <p:nvGrpSpPr>
          <p:cNvPr id="28" name="Group 27"/>
          <p:cNvGrpSpPr/>
          <p:nvPr/>
        </p:nvGrpSpPr>
        <p:grpSpPr>
          <a:xfrm>
            <a:off x="12118885" y="1420280"/>
            <a:ext cx="5686667" cy="2223824"/>
            <a:chOff x="5867400" y="1174346"/>
            <a:chExt cx="2973569" cy="1194912"/>
          </a:xfrm>
        </p:grpSpPr>
        <p:pic>
          <p:nvPicPr>
            <p:cNvPr id="20484" name="Picture 4"/>
            <p:cNvPicPr>
              <a:picLocks noChangeAspect="1" noChangeArrowheads="1"/>
            </p:cNvPicPr>
            <p:nvPr/>
          </p:nvPicPr>
          <p:blipFill>
            <a:blip r:embed="rId7" cstate="print">
              <a:extLst>
                <a:ext uri="{BEBA8EAE-BF5A-486C-A8C5-ECC9F3942E4B}">
                  <a14:imgProps xmlns:a14="http://schemas.microsoft.com/office/drawing/2010/main">
                    <a14:imgLayer r:embed="rId8">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7044344" y="1174346"/>
              <a:ext cx="956656" cy="946850"/>
            </a:xfrm>
            <a:prstGeom prst="ellipse">
              <a:avLst/>
            </a:prstGeom>
            <a:ln w="28575">
              <a:solidFill>
                <a:schemeClr val="accent6">
                  <a:lumMod val="75000"/>
                </a:schemeClr>
              </a:solidFill>
              <a:miter lim="800000"/>
              <a:headEnd/>
              <a:tailEnd/>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chemeClr val="accent1"/>
                  </a:solidFill>
                </a14:hiddenFill>
              </a:ext>
            </a:extLst>
          </p:spPr>
        </p:pic>
        <p:cxnSp>
          <p:nvCxnSpPr>
            <p:cNvPr id="17" name="Straight Connector 16"/>
            <p:cNvCxnSpPr>
              <a:stCxn id="20484" idx="2"/>
            </p:cNvCxnSpPr>
            <p:nvPr/>
          </p:nvCxnSpPr>
          <p:spPr>
            <a:xfrm flipH="1">
              <a:off x="5867400" y="1647771"/>
              <a:ext cx="1176944" cy="23797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469369" y="2121195"/>
              <a:ext cx="1371600" cy="248063"/>
            </a:xfrm>
            <a:prstGeom prst="rect">
              <a:avLst/>
            </a:prstGeom>
            <a:noFill/>
          </p:spPr>
          <p:txBody>
            <a:bodyPr wrap="square" rtlCol="0">
              <a:spAutoFit/>
            </a:bodyPr>
            <a:lstStyle/>
            <a:p>
              <a:r>
                <a:rPr lang="en-US" sz="2400" b="1" u="sng">
                  <a:solidFill>
                    <a:schemeClr val="accent1"/>
                  </a:solidFill>
                </a:rPr>
                <a:t>Toilet / Kitchens</a:t>
              </a:r>
              <a:endParaRPr lang="en-IN" sz="2400" b="1" u="sng">
                <a:solidFill>
                  <a:schemeClr val="accent1"/>
                </a:solidFill>
              </a:endParaRPr>
            </a:p>
          </p:txBody>
        </p:sp>
      </p:grpSp>
      <p:grpSp>
        <p:nvGrpSpPr>
          <p:cNvPr id="25" name="Group 24"/>
          <p:cNvGrpSpPr/>
          <p:nvPr/>
        </p:nvGrpSpPr>
        <p:grpSpPr>
          <a:xfrm>
            <a:off x="972880" y="5585556"/>
            <a:ext cx="4818323" cy="3302678"/>
            <a:chOff x="70884" y="3097578"/>
            <a:chExt cx="2357437" cy="1912572"/>
          </a:xfrm>
        </p:grpSpPr>
        <p:pic>
          <p:nvPicPr>
            <p:cNvPr id="20485" name="Picture 5"/>
            <p:cNvPicPr>
              <a:picLocks noChangeAspect="1" noChangeArrowheads="1"/>
            </p:cNvPicPr>
            <p:nvPr/>
          </p:nvPicPr>
          <p:blipFill rotWithShape="1">
            <a:blip r:embed="rId9" cstate="print">
              <a:extLst>
                <a:ext uri="{BEBA8EAE-BF5A-486C-A8C5-ECC9F3942E4B}">
                  <a14:imgProps xmlns:a14="http://schemas.microsoft.com/office/drawing/2010/main">
                    <a14:imgLayer r:embed="rId10">
                      <a14:imgEffect>
                        <a14:brightnessContrast bright="20000"/>
                      </a14:imgEffect>
                    </a14:imgLayer>
                  </a14:imgProps>
                </a:ext>
                <a:ext uri="{28A0092B-C50C-407E-A947-70E740481C1C}">
                  <a14:useLocalDpi xmlns:a14="http://schemas.microsoft.com/office/drawing/2010/main" val="0"/>
                </a:ext>
              </a:extLst>
            </a:blip>
            <a:srcRect t="37333"/>
            <a:stretch/>
          </p:blipFill>
          <p:spPr bwMode="auto">
            <a:xfrm>
              <a:off x="70884" y="4165305"/>
              <a:ext cx="853595" cy="844845"/>
            </a:xfrm>
            <a:prstGeom prst="ellipse">
              <a:avLst/>
            </a:prstGeom>
            <a:ln w="28575">
              <a:solidFill>
                <a:schemeClr val="accent6">
                  <a:lumMod val="75000"/>
                </a:schemeClr>
              </a:solidFill>
              <a:miter lim="800000"/>
              <a:headEnd/>
              <a:tailEnd/>
            </a:ln>
            <a:effectLst>
              <a:outerShdw dist="35921" dir="2700000" algn="ctr" rotWithShape="0">
                <a:schemeClr val="bg2"/>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chemeClr val="accent1"/>
                  </a:solidFill>
                </a14:hiddenFill>
              </a:ext>
            </a:extLst>
          </p:spPr>
        </p:pic>
        <p:cxnSp>
          <p:nvCxnSpPr>
            <p:cNvPr id="22" name="Straight Connector 21"/>
            <p:cNvCxnSpPr>
              <a:endCxn id="20485" idx="0"/>
            </p:cNvCxnSpPr>
            <p:nvPr/>
          </p:nvCxnSpPr>
          <p:spPr>
            <a:xfrm>
              <a:off x="370921" y="3097578"/>
              <a:ext cx="126761" cy="106772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38200" y="4733151"/>
              <a:ext cx="1590121" cy="267349"/>
            </a:xfrm>
            <a:prstGeom prst="rect">
              <a:avLst/>
            </a:prstGeom>
            <a:noFill/>
          </p:spPr>
          <p:txBody>
            <a:bodyPr wrap="square" rtlCol="0">
              <a:spAutoFit/>
            </a:bodyPr>
            <a:lstStyle/>
            <a:p>
              <a:r>
                <a:rPr lang="en-US" sz="2400" b="1" u="sng">
                  <a:solidFill>
                    <a:schemeClr val="accent1"/>
                  </a:solidFill>
                </a:rPr>
                <a:t>Water Bodies / Pools</a:t>
              </a:r>
              <a:endParaRPr lang="en-IN" sz="2400" b="1" u="sng">
                <a:solidFill>
                  <a:schemeClr val="accent1"/>
                </a:solidFill>
              </a:endParaRPr>
            </a:p>
          </p:txBody>
        </p:sp>
      </p:grpSp>
      <p:grpSp>
        <p:nvGrpSpPr>
          <p:cNvPr id="27" name="Group 26"/>
          <p:cNvGrpSpPr/>
          <p:nvPr/>
        </p:nvGrpSpPr>
        <p:grpSpPr>
          <a:xfrm>
            <a:off x="7039157" y="2857502"/>
            <a:ext cx="4238444" cy="2131967"/>
            <a:chOff x="2963141" y="1283812"/>
            <a:chExt cx="2119222" cy="1065983"/>
          </a:xfrm>
        </p:grpSpPr>
        <p:pic>
          <p:nvPicPr>
            <p:cNvPr id="30" name="Picture 2" descr="Related image"/>
            <p:cNvPicPr>
              <a:picLocks noChangeAspect="1" noChangeArrowheads="1"/>
            </p:cNvPicPr>
            <p:nvPr/>
          </p:nvPicPr>
          <p:blipFill>
            <a:blip r:embed="rId11" cstate="print">
              <a:extLst>
                <a:ext uri="{BEBA8EAE-BF5A-486C-A8C5-ECC9F3942E4B}">
                  <a14:imgProps xmlns:a14="http://schemas.microsoft.com/office/drawing/2010/main">
                    <a14:imgLayer r:embed="rId12">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2963141" y="1504950"/>
              <a:ext cx="914400" cy="844845"/>
            </a:xfrm>
            <a:prstGeom prst="ellipse">
              <a:avLst/>
            </a:prstGeom>
            <a:ln w="28575" cap="rnd">
              <a:solidFill>
                <a:schemeClr val="accent6">
                  <a:lumMod val="75000"/>
                </a:schemeClr>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31" name="TextBox 30"/>
            <p:cNvSpPr txBox="1"/>
            <p:nvPr/>
          </p:nvSpPr>
          <p:spPr>
            <a:xfrm>
              <a:off x="3710763" y="1283812"/>
              <a:ext cx="1371600" cy="415498"/>
            </a:xfrm>
            <a:prstGeom prst="rect">
              <a:avLst/>
            </a:prstGeom>
            <a:noFill/>
          </p:spPr>
          <p:txBody>
            <a:bodyPr wrap="square" rtlCol="0">
              <a:spAutoFit/>
            </a:bodyPr>
            <a:lstStyle/>
            <a:p>
              <a:r>
                <a:rPr lang="en-US" sz="2400" b="1" u="sng" dirty="0">
                  <a:solidFill>
                    <a:schemeClr val="accent1"/>
                  </a:solidFill>
                </a:rPr>
                <a:t>Balconies / Refuges</a:t>
              </a:r>
              <a:endParaRPr lang="en-IN" sz="2400" b="1" u="sng" dirty="0">
                <a:solidFill>
                  <a:schemeClr val="accent1"/>
                </a:solidFill>
              </a:endParaRPr>
            </a:p>
          </p:txBody>
        </p:sp>
      </p:grpSp>
      <p:grpSp>
        <p:nvGrpSpPr>
          <p:cNvPr id="24" name="Group 23"/>
          <p:cNvGrpSpPr/>
          <p:nvPr/>
        </p:nvGrpSpPr>
        <p:grpSpPr>
          <a:xfrm>
            <a:off x="5120465" y="6846620"/>
            <a:ext cx="2905022" cy="1727788"/>
            <a:chOff x="2290154" y="3733358"/>
            <a:chExt cx="1452511" cy="863894"/>
          </a:xfrm>
        </p:grpSpPr>
        <p:sp>
          <p:nvSpPr>
            <p:cNvPr id="33" name="TextBox 32"/>
            <p:cNvSpPr txBox="1"/>
            <p:nvPr/>
          </p:nvSpPr>
          <p:spPr>
            <a:xfrm>
              <a:off x="2290154" y="4060972"/>
              <a:ext cx="672987" cy="230833"/>
            </a:xfrm>
            <a:prstGeom prst="rect">
              <a:avLst/>
            </a:prstGeom>
            <a:solidFill>
              <a:schemeClr val="bg1"/>
            </a:solidFill>
          </p:spPr>
          <p:txBody>
            <a:bodyPr wrap="square" rtlCol="0">
              <a:spAutoFit/>
            </a:bodyPr>
            <a:lstStyle/>
            <a:p>
              <a:r>
                <a:rPr lang="en-US" sz="2400" b="1" u="sng">
                  <a:solidFill>
                    <a:schemeClr val="accent1"/>
                  </a:solidFill>
                </a:rPr>
                <a:t>Tanks</a:t>
              </a:r>
              <a:endParaRPr lang="en-IN" sz="2400" b="1" u="sng">
                <a:solidFill>
                  <a:schemeClr val="accent1"/>
                </a:solidFill>
              </a:endParaRPr>
            </a:p>
          </p:txBody>
        </p:sp>
        <p:pic>
          <p:nvPicPr>
            <p:cNvPr id="32" name="Picture 31"/>
            <p:cNvPicPr>
              <a:picLocks noChangeAspect="1"/>
            </p:cNvPicPr>
            <p:nvPr/>
          </p:nvPicPr>
          <p:blipFill rotWithShape="1">
            <a:blip r:embed="rId13">
              <a:lum/>
              <a:alphaModFix/>
            </a:blip>
            <a:srcRect l="17571" t="14474"/>
            <a:stretch/>
          </p:blipFill>
          <p:spPr>
            <a:xfrm>
              <a:off x="2796157" y="3733358"/>
              <a:ext cx="946508" cy="863894"/>
            </a:xfrm>
            <a:prstGeom prst="ellipse">
              <a:avLst/>
            </a:prstGeom>
            <a:ln w="28575" cap="rnd">
              <a:solidFill>
                <a:schemeClr val="accent6">
                  <a:lumMod val="75000"/>
                </a:schemeClr>
              </a:solidFill>
            </a:ln>
            <a:effectLst/>
            <a:scene3d>
              <a:camera prst="orthographicFront"/>
              <a:lightRig rig="contrasting" dir="t">
                <a:rot lat="0" lon="0" rev="3000000"/>
              </a:lightRig>
            </a:scene3d>
            <a:sp3d contourW="7620">
              <a:bevelT w="95250" h="31750"/>
              <a:contourClr>
                <a:srgbClr val="333333"/>
              </a:contourClr>
            </a:sp3d>
          </p:spPr>
        </p:pic>
      </p:grpSp>
      <p:grpSp>
        <p:nvGrpSpPr>
          <p:cNvPr id="39" name="Group 38"/>
          <p:cNvGrpSpPr/>
          <p:nvPr/>
        </p:nvGrpSpPr>
        <p:grpSpPr>
          <a:xfrm>
            <a:off x="6984776" y="422039"/>
            <a:ext cx="5778542" cy="1673463"/>
            <a:chOff x="3255131" y="133350"/>
            <a:chExt cx="2917069" cy="863893"/>
          </a:xfrm>
        </p:grpSpPr>
        <p:pic>
          <p:nvPicPr>
            <p:cNvPr id="40" name="Picture 39"/>
            <p:cNvPicPr>
              <a:picLocks noChangeAspect="1"/>
            </p:cNvPicPr>
            <p:nvPr/>
          </p:nvPicPr>
          <p:blipFill rotWithShape="1">
            <a:blip r:embed="rId14">
              <a:alphaModFix/>
              <a:extLst>
                <a:ext uri="{BEBA8EAE-BF5A-486C-A8C5-ECC9F3942E4B}">
                  <a14:imgProps xmlns:a14="http://schemas.microsoft.com/office/drawing/2010/main">
                    <a14:imgLayer r:embed="rId15">
                      <a14:imgEffect>
                        <a14:brightnessContrast bright="20000" contrast="20000"/>
                      </a14:imgEffect>
                    </a14:imgLayer>
                  </a14:imgProps>
                </a:ext>
              </a:extLst>
            </a:blip>
            <a:srcRect l="21668" t="12559" r="19322" b="38058"/>
            <a:stretch/>
          </p:blipFill>
          <p:spPr>
            <a:xfrm>
              <a:off x="3962400" y="133350"/>
              <a:ext cx="914399" cy="863893"/>
            </a:xfrm>
            <a:prstGeom prst="ellipse">
              <a:avLst/>
            </a:prstGeom>
            <a:ln w="28575" cap="rnd">
              <a:solidFill>
                <a:schemeClr val="accent6">
                  <a:lumMod val="75000"/>
                </a:schemeClr>
              </a:solidFill>
            </a:ln>
            <a:effectLst/>
            <a:scene3d>
              <a:camera prst="orthographicFront"/>
              <a:lightRig rig="contrasting" dir="t">
                <a:rot lat="0" lon="0" rev="3000000"/>
              </a:lightRig>
            </a:scene3d>
            <a:sp3d contourW="7620">
              <a:bevelT w="95250" h="31750"/>
              <a:contourClr>
                <a:srgbClr val="333333"/>
              </a:contourClr>
            </a:sp3d>
          </p:spPr>
        </p:pic>
        <p:sp>
          <p:nvSpPr>
            <p:cNvPr id="41" name="TextBox 40"/>
            <p:cNvSpPr txBox="1"/>
            <p:nvPr/>
          </p:nvSpPr>
          <p:spPr>
            <a:xfrm>
              <a:off x="4800600" y="133350"/>
              <a:ext cx="1371600" cy="238326"/>
            </a:xfrm>
            <a:prstGeom prst="rect">
              <a:avLst/>
            </a:prstGeom>
            <a:noFill/>
          </p:spPr>
          <p:txBody>
            <a:bodyPr wrap="square" rtlCol="0">
              <a:spAutoFit/>
            </a:bodyPr>
            <a:lstStyle/>
            <a:p>
              <a:r>
                <a:rPr lang="en-US" sz="2400" b="1" u="sng" dirty="0">
                  <a:solidFill>
                    <a:schemeClr val="accent1"/>
                  </a:solidFill>
                </a:rPr>
                <a:t>Terrace &amp; Parapet</a:t>
              </a:r>
              <a:endParaRPr lang="en-IN" sz="2400" b="1" u="sng" dirty="0">
                <a:solidFill>
                  <a:schemeClr val="accent1"/>
                </a:solidFill>
              </a:endParaRPr>
            </a:p>
          </p:txBody>
        </p:sp>
        <p:cxnSp>
          <p:nvCxnSpPr>
            <p:cNvPr id="42" name="Straight Connector 41"/>
            <p:cNvCxnSpPr>
              <a:stCxn id="40" idx="2"/>
            </p:cNvCxnSpPr>
            <p:nvPr/>
          </p:nvCxnSpPr>
          <p:spPr>
            <a:xfrm flipH="1">
              <a:off x="3255131" y="565297"/>
              <a:ext cx="707269" cy="381439"/>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5" name="TextBox 64"/>
          <p:cNvSpPr txBox="1"/>
          <p:nvPr/>
        </p:nvSpPr>
        <p:spPr>
          <a:xfrm>
            <a:off x="15087600" y="9888490"/>
            <a:ext cx="5293593" cy="323165"/>
          </a:xfrm>
          <a:prstGeom prst="rect">
            <a:avLst/>
          </a:prstGeom>
          <a:noFill/>
        </p:spPr>
        <p:txBody>
          <a:bodyPr wrap="square" rtlCol="0">
            <a:spAutoFit/>
          </a:bodyPr>
          <a:lstStyle/>
          <a:p>
            <a:r>
              <a:rPr lang="en-US" sz="1500" i="1" dirty="0">
                <a:solidFill>
                  <a:schemeClr val="tx2"/>
                </a:solidFill>
              </a:rPr>
              <a:t>For Representation purpose Only</a:t>
            </a:r>
            <a:endParaRPr lang="en-IN" sz="1500" i="1" dirty="0">
              <a:solidFill>
                <a:schemeClr val="tx2"/>
              </a:solidFill>
            </a:endParaRPr>
          </a:p>
        </p:txBody>
      </p:sp>
      <p:grpSp>
        <p:nvGrpSpPr>
          <p:cNvPr id="62" name="Group 61"/>
          <p:cNvGrpSpPr/>
          <p:nvPr/>
        </p:nvGrpSpPr>
        <p:grpSpPr>
          <a:xfrm>
            <a:off x="327700" y="2352788"/>
            <a:ext cx="1805903" cy="2241181"/>
            <a:chOff x="62010" y="1176393"/>
            <a:chExt cx="902951" cy="1120590"/>
          </a:xfrm>
        </p:grpSpPr>
        <p:sp>
          <p:nvSpPr>
            <p:cNvPr id="59" name="TextBox 58"/>
            <p:cNvSpPr txBox="1"/>
            <p:nvPr/>
          </p:nvSpPr>
          <p:spPr>
            <a:xfrm>
              <a:off x="62010" y="1881485"/>
              <a:ext cx="776190" cy="415498"/>
            </a:xfrm>
            <a:prstGeom prst="rect">
              <a:avLst/>
            </a:prstGeom>
            <a:noFill/>
          </p:spPr>
          <p:txBody>
            <a:bodyPr wrap="square" rtlCol="0">
              <a:spAutoFit/>
            </a:bodyPr>
            <a:lstStyle/>
            <a:p>
              <a:r>
                <a:rPr lang="en-US" sz="2400" b="1" u="sng">
                  <a:solidFill>
                    <a:schemeClr val="accent1"/>
                  </a:solidFill>
                </a:rPr>
                <a:t>External Walls</a:t>
              </a:r>
              <a:endParaRPr lang="en-IN" sz="2400" b="1" u="sng">
                <a:solidFill>
                  <a:schemeClr val="accent1"/>
                </a:solidFill>
              </a:endParaRPr>
            </a:p>
          </p:txBody>
        </p:sp>
        <p:pic>
          <p:nvPicPr>
            <p:cNvPr id="67" name="Picture 5" descr="One-coat mortars">
              <a:hlinkClick r:id="rId16"/>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1893" y="1176393"/>
              <a:ext cx="793068" cy="705092"/>
            </a:xfrm>
            <a:prstGeom prst="ellipse">
              <a:avLst/>
            </a:prstGeom>
            <a:ln w="28575" cap="rnd">
              <a:solidFill>
                <a:schemeClr val="accent6">
                  <a:lumMod val="75000"/>
                </a:schemeClr>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grpSp>
      <p:sp>
        <p:nvSpPr>
          <p:cNvPr id="36" name="TextBox 35"/>
          <p:cNvSpPr txBox="1"/>
          <p:nvPr/>
        </p:nvSpPr>
        <p:spPr>
          <a:xfrm>
            <a:off x="486838" y="9162199"/>
            <a:ext cx="17989892" cy="461665"/>
          </a:xfrm>
          <a:prstGeom prst="rect">
            <a:avLst/>
          </a:prstGeom>
          <a:noFill/>
        </p:spPr>
        <p:txBody>
          <a:bodyPr wrap="square" rtlCol="0">
            <a:spAutoFit/>
          </a:bodyPr>
          <a:lstStyle/>
          <a:p>
            <a:r>
              <a:rPr lang="en-US" sz="2400" b="1" dirty="0">
                <a:solidFill>
                  <a:schemeClr val="accent6">
                    <a:lumMod val="75000"/>
                  </a:schemeClr>
                </a:solidFill>
              </a:rPr>
              <a:t>A structure’s multiple surfaces need fit for purpose Waterproofing – Complex decision making needs a specialist approach  </a:t>
            </a:r>
            <a:endParaRPr lang="en-IN" sz="2400" b="1" dirty="0">
              <a:solidFill>
                <a:schemeClr val="accent6">
                  <a:lumMod val="75000"/>
                </a:schemeClr>
              </a:solidFill>
            </a:endParaRPr>
          </a:p>
        </p:txBody>
      </p:sp>
      <p:grpSp>
        <p:nvGrpSpPr>
          <p:cNvPr id="11" name="Group 10">
            <a:extLst>
              <a:ext uri="{FF2B5EF4-FFF2-40B4-BE49-F238E27FC236}">
                <a16:creationId xmlns:a16="http://schemas.microsoft.com/office/drawing/2014/main" id="{0906C629-B634-D5C7-E43C-1B5142552037}"/>
              </a:ext>
            </a:extLst>
          </p:cNvPr>
          <p:cNvGrpSpPr/>
          <p:nvPr/>
        </p:nvGrpSpPr>
        <p:grpSpPr>
          <a:xfrm>
            <a:off x="0" y="0"/>
            <a:ext cx="18288000" cy="190500"/>
            <a:chOff x="0" y="0"/>
            <a:chExt cx="4816593" cy="884197"/>
          </a:xfrm>
        </p:grpSpPr>
        <p:sp>
          <p:nvSpPr>
            <p:cNvPr id="12" name="Freeform 3">
              <a:extLst>
                <a:ext uri="{FF2B5EF4-FFF2-40B4-BE49-F238E27FC236}">
                  <a16:creationId xmlns:a16="http://schemas.microsoft.com/office/drawing/2014/main" id="{9B09516F-93F6-C79E-022B-89FA88DC2EB0}"/>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14" name="TextBox 13">
              <a:extLst>
                <a:ext uri="{FF2B5EF4-FFF2-40B4-BE49-F238E27FC236}">
                  <a16:creationId xmlns:a16="http://schemas.microsoft.com/office/drawing/2014/main" id="{5C14CFB8-AF00-B655-25A0-7E078BE2CE83}"/>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15" name="Group 5">
            <a:extLst>
              <a:ext uri="{FF2B5EF4-FFF2-40B4-BE49-F238E27FC236}">
                <a16:creationId xmlns:a16="http://schemas.microsoft.com/office/drawing/2014/main" id="{78F6CA14-D504-57DA-5CA1-88AF87509308}"/>
              </a:ext>
            </a:extLst>
          </p:cNvPr>
          <p:cNvGrpSpPr/>
          <p:nvPr/>
        </p:nvGrpSpPr>
        <p:grpSpPr>
          <a:xfrm rot="-10800000">
            <a:off x="-1447800" y="-8209"/>
            <a:ext cx="3810000" cy="387116"/>
            <a:chOff x="0" y="0"/>
            <a:chExt cx="24122064" cy="6379210"/>
          </a:xfrm>
        </p:grpSpPr>
        <p:sp>
          <p:nvSpPr>
            <p:cNvPr id="16" name="Freeform 6">
              <a:extLst>
                <a:ext uri="{FF2B5EF4-FFF2-40B4-BE49-F238E27FC236}">
                  <a16:creationId xmlns:a16="http://schemas.microsoft.com/office/drawing/2014/main" id="{239E8819-39E9-7900-7B27-B83AB94199A6}"/>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19" name="Freeform 7">
            <a:extLst>
              <a:ext uri="{FF2B5EF4-FFF2-40B4-BE49-F238E27FC236}">
                <a16:creationId xmlns:a16="http://schemas.microsoft.com/office/drawing/2014/main" id="{4DF8133F-8294-E66A-BE1E-12F87EB6250C}"/>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18"/>
            <a:stretch>
              <a:fillRect t="-103246" b="-111314"/>
            </a:stretch>
          </a:blipFill>
        </p:spPr>
        <p:txBody>
          <a:bodyPr/>
          <a:lstStyle/>
          <a:p>
            <a:endParaRPr lang="en-IN"/>
          </a:p>
        </p:txBody>
      </p:sp>
    </p:spTree>
    <p:extLst>
      <p:ext uri="{BB962C8B-B14F-4D97-AF65-F5344CB8AC3E}">
        <p14:creationId xmlns:p14="http://schemas.microsoft.com/office/powerpoint/2010/main" val="28138853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51C78F0-72F0-0D0C-F3E5-CF64C2EA24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F98DF47-46E2-C592-A021-51CAAB65B798}"/>
              </a:ext>
            </a:extLst>
          </p:cNvPr>
          <p:cNvGrpSpPr/>
          <p:nvPr/>
        </p:nvGrpSpPr>
        <p:grpSpPr>
          <a:xfrm>
            <a:off x="0" y="0"/>
            <a:ext cx="18288000" cy="171451"/>
            <a:chOff x="0" y="0"/>
            <a:chExt cx="4816593" cy="884197"/>
          </a:xfrm>
        </p:grpSpPr>
        <p:sp>
          <p:nvSpPr>
            <p:cNvPr id="3" name="Freeform 3">
              <a:extLst>
                <a:ext uri="{FF2B5EF4-FFF2-40B4-BE49-F238E27FC236}">
                  <a16:creationId xmlns:a16="http://schemas.microsoft.com/office/drawing/2014/main" id="{262EC250-D79A-3F61-36E4-218C769D8D71}"/>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FFFFFF">
                    <a:alpha val="100000"/>
                  </a:srgbClr>
                </a:gs>
                <a:gs pos="100000">
                  <a:srgbClr val="8A8A8A">
                    <a:alpha val="100000"/>
                  </a:srgbClr>
                </a:gs>
              </a:gsLst>
              <a:lin ang="0"/>
            </a:gradFill>
          </p:spPr>
          <p:txBody>
            <a:bodyPr/>
            <a:lstStyle/>
            <a:p>
              <a:endParaRPr lang="en-IN"/>
            </a:p>
          </p:txBody>
        </p:sp>
        <p:sp>
          <p:nvSpPr>
            <p:cNvPr id="4" name="TextBox 4">
              <a:extLst>
                <a:ext uri="{FF2B5EF4-FFF2-40B4-BE49-F238E27FC236}">
                  <a16:creationId xmlns:a16="http://schemas.microsoft.com/office/drawing/2014/main" id="{298D46E2-AB5B-96A9-9761-499CC39120B2}"/>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sp>
        <p:nvSpPr>
          <p:cNvPr id="7" name="Freeform 7">
            <a:extLst>
              <a:ext uri="{FF2B5EF4-FFF2-40B4-BE49-F238E27FC236}">
                <a16:creationId xmlns:a16="http://schemas.microsoft.com/office/drawing/2014/main" id="{707A0101-F2FE-14A0-BD68-E5E232F1CA37}"/>
              </a:ext>
            </a:extLst>
          </p:cNvPr>
          <p:cNvSpPr/>
          <p:nvPr/>
        </p:nvSpPr>
        <p:spPr>
          <a:xfrm>
            <a:off x="15468600" y="378908"/>
            <a:ext cx="2465910" cy="1183192"/>
          </a:xfrm>
          <a:custGeom>
            <a:avLst/>
            <a:gdLst/>
            <a:ahLst/>
            <a:cxnLst/>
            <a:rect l="l" t="t" r="r" b="b"/>
            <a:pathLst>
              <a:path w="3837510" h="1562128">
                <a:moveTo>
                  <a:pt x="0" y="0"/>
                </a:moveTo>
                <a:lnTo>
                  <a:pt x="3837510" y="0"/>
                </a:lnTo>
                <a:lnTo>
                  <a:pt x="3837510" y="1562128"/>
                </a:lnTo>
                <a:lnTo>
                  <a:pt x="0" y="1562128"/>
                </a:lnTo>
                <a:lnTo>
                  <a:pt x="0" y="0"/>
                </a:lnTo>
                <a:close/>
              </a:path>
            </a:pathLst>
          </a:custGeom>
          <a:blipFill>
            <a:blip r:embed="rId2"/>
            <a:stretch>
              <a:fillRect l="-5471" t="-83780" r="-5471" b="-82911"/>
            </a:stretch>
          </a:blipFill>
        </p:spPr>
        <p:txBody>
          <a:bodyPr/>
          <a:lstStyle/>
          <a:p>
            <a:endParaRPr lang="en-IN"/>
          </a:p>
        </p:txBody>
      </p:sp>
      <p:grpSp>
        <p:nvGrpSpPr>
          <p:cNvPr id="10" name="Group 5">
            <a:extLst>
              <a:ext uri="{FF2B5EF4-FFF2-40B4-BE49-F238E27FC236}">
                <a16:creationId xmlns:a16="http://schemas.microsoft.com/office/drawing/2014/main" id="{DB389134-5E45-D346-F43D-9C5B430110F1}"/>
              </a:ext>
            </a:extLst>
          </p:cNvPr>
          <p:cNvGrpSpPr/>
          <p:nvPr/>
        </p:nvGrpSpPr>
        <p:grpSpPr>
          <a:xfrm rot="-10800000">
            <a:off x="-1447800" y="-8209"/>
            <a:ext cx="3810000" cy="387116"/>
            <a:chOff x="0" y="0"/>
            <a:chExt cx="24122064" cy="6379210"/>
          </a:xfrm>
          <a:solidFill>
            <a:srgbClr val="3AD7D0"/>
          </a:solidFill>
        </p:grpSpPr>
        <p:sp>
          <p:nvSpPr>
            <p:cNvPr id="11" name="Freeform 6">
              <a:extLst>
                <a:ext uri="{FF2B5EF4-FFF2-40B4-BE49-F238E27FC236}">
                  <a16:creationId xmlns:a16="http://schemas.microsoft.com/office/drawing/2014/main" id="{E2E6CB9E-1D58-3673-AD6F-C46AFD1C34A8}"/>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grpFill/>
          </p:spPr>
          <p:txBody>
            <a:bodyPr/>
            <a:lstStyle/>
            <a:p>
              <a:endParaRPr lang="en-IN"/>
            </a:p>
          </p:txBody>
        </p:sp>
      </p:grpSp>
      <p:sp>
        <p:nvSpPr>
          <p:cNvPr id="5" name="TextBox 4">
            <a:extLst>
              <a:ext uri="{FF2B5EF4-FFF2-40B4-BE49-F238E27FC236}">
                <a16:creationId xmlns:a16="http://schemas.microsoft.com/office/drawing/2014/main" id="{BA1A37D7-B7B6-6C48-56DE-670E2DB614DD}"/>
              </a:ext>
            </a:extLst>
          </p:cNvPr>
          <p:cNvSpPr txBox="1"/>
          <p:nvPr/>
        </p:nvSpPr>
        <p:spPr>
          <a:xfrm>
            <a:off x="433251" y="3066008"/>
            <a:ext cx="17221200" cy="6071790"/>
          </a:xfrm>
          <a:prstGeom prst="rect">
            <a:avLst/>
          </a:prstGeom>
          <a:noFill/>
        </p:spPr>
        <p:txBody>
          <a:bodyPr wrap="square" rtlCol="0">
            <a:spAutoFit/>
          </a:bodyPr>
          <a:lstStyle/>
          <a:p>
            <a:pPr>
              <a:lnSpc>
                <a:spcPct val="150000"/>
              </a:lnSpc>
            </a:pPr>
            <a:r>
              <a:rPr lang="en-IN" sz="3600" b="1" dirty="0">
                <a:highlight>
                  <a:srgbClr val="00FF00"/>
                </a:highlight>
              </a:rPr>
              <a:t>EnvaDure is not just a BOQ development consulting service  - </a:t>
            </a:r>
          </a:p>
          <a:p>
            <a:pPr>
              <a:lnSpc>
                <a:spcPct val="150000"/>
              </a:lnSpc>
            </a:pPr>
            <a:r>
              <a:rPr lang="en-IN" sz="3600" b="1" dirty="0">
                <a:solidFill>
                  <a:schemeClr val="bg1"/>
                </a:solidFill>
              </a:rPr>
              <a:t>It’s a truly scientific process driven independent brand agnostic advisory service that enables clients to approach waterproofing requirements for their project backed by experienced expertise enabling project execution teams to carry out work in a properly defined manner resulting in successful outcomes for the overall benefit of the project and it’s occupants. </a:t>
            </a:r>
            <a:endParaRPr lang="en-IN" sz="3600" dirty="0">
              <a:solidFill>
                <a:schemeClr val="bg1"/>
              </a:solidFill>
            </a:endParaRPr>
          </a:p>
          <a:p>
            <a:pPr marL="457200" indent="-457200">
              <a:lnSpc>
                <a:spcPct val="150000"/>
              </a:lnSpc>
              <a:buFont typeface="Wingdings" panose="05000000000000000000" pitchFamily="2" charset="2"/>
              <a:buChar char="ü"/>
            </a:pPr>
            <a:endParaRPr lang="en-US" sz="4800" b="1" dirty="0">
              <a:solidFill>
                <a:schemeClr val="bg1"/>
              </a:solidFill>
            </a:endParaRPr>
          </a:p>
        </p:txBody>
      </p:sp>
    </p:spTree>
    <p:extLst>
      <p:ext uri="{BB962C8B-B14F-4D97-AF65-F5344CB8AC3E}">
        <p14:creationId xmlns:p14="http://schemas.microsoft.com/office/powerpoint/2010/main" val="26975430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91540" y="1165860"/>
            <a:ext cx="16047720" cy="617220"/>
          </a:xfrm>
          <a:prstGeom prst="rect">
            <a:avLst/>
          </a:prstGeom>
          <a:noFill/>
          <a:ln/>
        </p:spPr>
        <p:txBody>
          <a:bodyPr wrap="square" lIns="0" tIns="0" rIns="0" bIns="0" rtlCol="0" anchor="ctr"/>
          <a:lstStyle/>
          <a:p>
            <a:r>
              <a:rPr lang="en-US" sz="3750" b="1" dirty="0">
                <a:solidFill>
                  <a:srgbClr val="0B1F33"/>
                </a:solidFill>
                <a:latin typeface="Aptos Display" pitchFamily="34" charset="0"/>
                <a:ea typeface="Aptos Display" pitchFamily="34" charset="-122"/>
                <a:cs typeface="Aptos Display" pitchFamily="34" charset="-120"/>
              </a:rPr>
              <a:t>Our role: independent, brand-agnostic specification intelligence</a:t>
            </a:r>
            <a:endParaRPr lang="en-US" sz="3750" dirty="0"/>
          </a:p>
        </p:txBody>
      </p:sp>
      <p:sp>
        <p:nvSpPr>
          <p:cNvPr id="5" name="Text 3"/>
          <p:cNvSpPr/>
          <p:nvPr/>
        </p:nvSpPr>
        <p:spPr>
          <a:xfrm>
            <a:off x="918972" y="1851660"/>
            <a:ext cx="15910560" cy="384048"/>
          </a:xfrm>
          <a:prstGeom prst="rect">
            <a:avLst/>
          </a:prstGeom>
          <a:noFill/>
          <a:ln/>
        </p:spPr>
        <p:txBody>
          <a:bodyPr wrap="square" lIns="0" tIns="0" rIns="0" bIns="0" rtlCol="0" anchor="ctr"/>
          <a:lstStyle/>
          <a:p>
            <a:r>
              <a:rPr lang="en-US" sz="2700" b="1" dirty="0" err="1">
                <a:solidFill>
                  <a:schemeClr val="accent6">
                    <a:lumMod val="75000"/>
                  </a:schemeClr>
                </a:solidFill>
                <a:latin typeface="Aptos" pitchFamily="34" charset="0"/>
                <a:ea typeface="Aptos" pitchFamily="34" charset="-122"/>
                <a:cs typeface="Aptos" pitchFamily="34" charset="-120"/>
              </a:rPr>
              <a:t>EnvaDure’s</a:t>
            </a:r>
            <a:r>
              <a:rPr lang="en-US" sz="2700" b="1" dirty="0">
                <a:solidFill>
                  <a:schemeClr val="accent6">
                    <a:lumMod val="75000"/>
                  </a:schemeClr>
                </a:solidFill>
                <a:latin typeface="Aptos" pitchFamily="34" charset="0"/>
                <a:ea typeface="Aptos" pitchFamily="34" charset="-122"/>
                <a:cs typeface="Aptos" pitchFamily="34" charset="-120"/>
              </a:rPr>
              <a:t> job is to define what performance is required before vendors and contractors compete.</a:t>
            </a:r>
            <a:endParaRPr lang="en-US" sz="2700" b="1" dirty="0">
              <a:solidFill>
                <a:schemeClr val="accent6">
                  <a:lumMod val="75000"/>
                </a:schemeClr>
              </a:solidFill>
            </a:endParaRPr>
          </a:p>
        </p:txBody>
      </p:sp>
      <p:sp>
        <p:nvSpPr>
          <p:cNvPr id="6" name="Shape 4"/>
          <p:cNvSpPr/>
          <p:nvPr/>
        </p:nvSpPr>
        <p:spPr>
          <a:xfrm>
            <a:off x="822960" y="9710928"/>
            <a:ext cx="16596360" cy="0"/>
          </a:xfrm>
          <a:prstGeom prst="line">
            <a:avLst/>
          </a:prstGeom>
          <a:noFill/>
          <a:ln w="8890">
            <a:solidFill>
              <a:srgbClr val="E9ECEC"/>
            </a:solidFill>
            <a:prstDash val="solid"/>
          </a:ln>
        </p:spPr>
        <p:txBody>
          <a:bodyPr/>
          <a:lstStyle/>
          <a:p>
            <a:endParaRPr sz="2700"/>
          </a:p>
        </p:txBody>
      </p:sp>
      <p:sp>
        <p:nvSpPr>
          <p:cNvPr id="8" name="Text 6"/>
          <p:cNvSpPr/>
          <p:nvPr/>
        </p:nvSpPr>
        <p:spPr>
          <a:xfrm>
            <a:off x="13990320" y="9820656"/>
            <a:ext cx="3291840" cy="205740"/>
          </a:xfrm>
          <a:prstGeom prst="rect">
            <a:avLst/>
          </a:prstGeom>
          <a:noFill/>
          <a:ln/>
        </p:spPr>
        <p:txBody>
          <a:bodyPr wrap="square" lIns="0" tIns="0" rIns="0" bIns="0" rtlCol="0" anchor="ctr"/>
          <a:lstStyle/>
          <a:p>
            <a:pPr algn="r"/>
            <a:r>
              <a:rPr lang="en-US" sz="1020" dirty="0">
                <a:solidFill>
                  <a:srgbClr val="6B7477"/>
                </a:solidFill>
                <a:latin typeface="Aptos" pitchFamily="34" charset="0"/>
                <a:ea typeface="Aptos" pitchFamily="34" charset="-122"/>
                <a:cs typeface="Aptos" pitchFamily="34" charset="-120"/>
              </a:rPr>
              <a:t>Confidential discussion draft</a:t>
            </a:r>
            <a:endParaRPr lang="en-US" sz="1020" dirty="0"/>
          </a:p>
        </p:txBody>
      </p:sp>
      <p:sp>
        <p:nvSpPr>
          <p:cNvPr id="9" name="Shape 7"/>
          <p:cNvSpPr/>
          <p:nvPr/>
        </p:nvSpPr>
        <p:spPr>
          <a:xfrm>
            <a:off x="891541" y="2530920"/>
            <a:ext cx="7108715" cy="6633120"/>
          </a:xfrm>
          <a:prstGeom prst="roundRect">
            <a:avLst>
              <a:gd name="adj" fmla="val 2222"/>
            </a:avLst>
          </a:prstGeom>
          <a:solidFill>
            <a:srgbClr val="F6F7F4"/>
          </a:solidFill>
          <a:ln w="8890">
            <a:solidFill>
              <a:srgbClr val="E9ECEC"/>
            </a:solidFill>
            <a:prstDash val="solid"/>
          </a:ln>
        </p:spPr>
        <p:txBody>
          <a:bodyPr/>
          <a:lstStyle/>
          <a:p>
            <a:endParaRPr sz="2700"/>
          </a:p>
        </p:txBody>
      </p:sp>
      <p:sp>
        <p:nvSpPr>
          <p:cNvPr id="10" name="Text 8"/>
          <p:cNvSpPr/>
          <p:nvPr/>
        </p:nvSpPr>
        <p:spPr>
          <a:xfrm>
            <a:off x="1412748" y="2756916"/>
            <a:ext cx="4443984" cy="356616"/>
          </a:xfrm>
          <a:prstGeom prst="rect">
            <a:avLst/>
          </a:prstGeom>
          <a:noFill/>
          <a:ln/>
        </p:spPr>
        <p:txBody>
          <a:bodyPr wrap="square" lIns="0" tIns="0" rIns="0" bIns="0" rtlCol="0" anchor="ctr"/>
          <a:lstStyle/>
          <a:p>
            <a:r>
              <a:rPr lang="en-US" sz="3000" b="1" dirty="0">
                <a:solidFill>
                  <a:srgbClr val="0B1F33"/>
                </a:solidFill>
                <a:latin typeface="Aptos" pitchFamily="34" charset="0"/>
                <a:ea typeface="Aptos" pitchFamily="34" charset="-122"/>
                <a:cs typeface="Aptos" pitchFamily="34" charset="-120"/>
              </a:rPr>
              <a:t>Before tender</a:t>
            </a:r>
            <a:endParaRPr lang="en-US" sz="3000" dirty="0"/>
          </a:p>
        </p:txBody>
      </p:sp>
      <p:sp>
        <p:nvSpPr>
          <p:cNvPr id="11" name="Text 9"/>
          <p:cNvSpPr/>
          <p:nvPr/>
        </p:nvSpPr>
        <p:spPr>
          <a:xfrm>
            <a:off x="1467611" y="3291839"/>
            <a:ext cx="6227702" cy="5878740"/>
          </a:xfrm>
          <a:prstGeom prst="rect">
            <a:avLst/>
          </a:prstGeom>
          <a:noFill/>
          <a:ln/>
        </p:spPr>
        <p:txBody>
          <a:bodyPr wrap="square" lIns="0" tIns="0" rIns="0" bIns="0" rtlCol="0" anchor="t">
            <a:normAutofit/>
          </a:bodyPr>
          <a:lstStyle/>
          <a:p>
            <a:pPr marL="428625" indent="-428625">
              <a:buFont typeface="Arial" panose="020B0604020202020204" pitchFamily="34" charset="0"/>
              <a:buChar char="•"/>
            </a:pPr>
            <a:r>
              <a:rPr lang="en-US" sz="2700" dirty="0">
                <a:solidFill>
                  <a:srgbClr val="2E383A"/>
                </a:solidFill>
                <a:latin typeface="Aptos" pitchFamily="34" charset="0"/>
                <a:ea typeface="Aptos" pitchFamily="34" charset="-122"/>
                <a:cs typeface="Aptos" pitchFamily="34" charset="-120"/>
              </a:rPr>
              <a:t>Study project drawings , geotechnical reports and assess water leakage risks</a:t>
            </a:r>
            <a:endParaRPr lang="en-US" sz="2700" dirty="0"/>
          </a:p>
          <a:p>
            <a:pPr marL="428625" indent="-428625">
              <a:buFont typeface="Arial" panose="020B0604020202020204" pitchFamily="34" charset="0"/>
              <a:buChar char="•"/>
            </a:pPr>
            <a:r>
              <a:rPr lang="en-US" sz="2700" dirty="0">
                <a:solidFill>
                  <a:srgbClr val="2E383A"/>
                </a:solidFill>
                <a:latin typeface="Aptos" pitchFamily="34" charset="0"/>
                <a:ea typeface="Aptos" pitchFamily="34" charset="-122"/>
                <a:cs typeface="Aptos" pitchFamily="34" charset="-120"/>
              </a:rPr>
              <a:t>Devise area-wise system solution  strategy</a:t>
            </a:r>
            <a:endParaRPr lang="en-US" sz="2700" dirty="0"/>
          </a:p>
          <a:p>
            <a:pPr marL="428625" indent="-428625">
              <a:buFont typeface="Arial" panose="020B0604020202020204" pitchFamily="34" charset="0"/>
              <a:buChar char="•"/>
            </a:pPr>
            <a:r>
              <a:rPr lang="en-US" sz="2700" dirty="0">
                <a:solidFill>
                  <a:srgbClr val="2E383A"/>
                </a:solidFill>
                <a:latin typeface="Aptos" pitchFamily="34" charset="0"/>
                <a:ea typeface="Aptos" pitchFamily="34" charset="-122"/>
                <a:cs typeface="Aptos" pitchFamily="34" charset="-120"/>
              </a:rPr>
              <a:t>Develop Performance specification clauses</a:t>
            </a:r>
            <a:endParaRPr lang="en-US" sz="2700" dirty="0"/>
          </a:p>
          <a:p>
            <a:pPr marL="428625" indent="-428625">
              <a:buFont typeface="Arial" panose="020B0604020202020204" pitchFamily="34" charset="0"/>
              <a:buChar char="•"/>
            </a:pPr>
            <a:r>
              <a:rPr lang="en-US" sz="2700" dirty="0">
                <a:solidFill>
                  <a:srgbClr val="2E383A"/>
                </a:solidFill>
                <a:latin typeface="Aptos" pitchFamily="34" charset="0"/>
                <a:ea typeface="Aptos" pitchFamily="34" charset="-122"/>
                <a:cs typeface="Aptos" pitchFamily="34" charset="-120"/>
              </a:rPr>
              <a:t>Design Critical detailing and interface matrix</a:t>
            </a:r>
          </a:p>
          <a:p>
            <a:pPr marL="428625" indent="-428625">
              <a:buFont typeface="Arial" panose="020B0604020202020204" pitchFamily="34" charset="0"/>
              <a:buChar char="•"/>
            </a:pPr>
            <a:r>
              <a:rPr lang="en-US" sz="2700" dirty="0">
                <a:solidFill>
                  <a:srgbClr val="2E383A"/>
                </a:solidFill>
                <a:latin typeface="Aptos" pitchFamily="34" charset="0"/>
              </a:rPr>
              <a:t>Generate quality check lists</a:t>
            </a:r>
          </a:p>
          <a:p>
            <a:pPr marL="428625" indent="-428625">
              <a:buFont typeface="Arial" panose="020B0604020202020204" pitchFamily="34" charset="0"/>
              <a:buChar char="•"/>
            </a:pPr>
            <a:r>
              <a:rPr lang="en-US" sz="2700" dirty="0">
                <a:solidFill>
                  <a:srgbClr val="2E383A"/>
                </a:solidFill>
                <a:latin typeface="Aptos" pitchFamily="34" charset="0"/>
              </a:rPr>
              <a:t>Create customized cross section drawings </a:t>
            </a:r>
          </a:p>
          <a:p>
            <a:pPr marL="428625" indent="-428625">
              <a:buFont typeface="Arial" panose="020B0604020202020204" pitchFamily="34" charset="0"/>
              <a:buChar char="•"/>
            </a:pPr>
            <a:r>
              <a:rPr lang="en-US" sz="2700" dirty="0">
                <a:solidFill>
                  <a:srgbClr val="2E383A"/>
                </a:solidFill>
                <a:latin typeface="Aptos" pitchFamily="34" charset="0"/>
              </a:rPr>
              <a:t>Recommend testing protocols</a:t>
            </a:r>
          </a:p>
          <a:p>
            <a:pPr marL="428625" indent="-428625">
              <a:buFont typeface="Arial" panose="020B0604020202020204" pitchFamily="34" charset="0"/>
              <a:buChar char="•"/>
            </a:pPr>
            <a:r>
              <a:rPr lang="en-US" sz="2700" dirty="0">
                <a:solidFill>
                  <a:srgbClr val="2E383A"/>
                </a:solidFill>
                <a:latin typeface="Aptos" pitchFamily="34" charset="0"/>
              </a:rPr>
              <a:t>Suggest Pre-qualification criteria </a:t>
            </a:r>
            <a:endParaRPr lang="en-US" sz="2700" dirty="0"/>
          </a:p>
        </p:txBody>
      </p:sp>
      <p:sp>
        <p:nvSpPr>
          <p:cNvPr id="12" name="Shape 10"/>
          <p:cNvSpPr/>
          <p:nvPr/>
        </p:nvSpPr>
        <p:spPr>
          <a:xfrm>
            <a:off x="8794454" y="2489456"/>
            <a:ext cx="7751135" cy="6674585"/>
          </a:xfrm>
          <a:prstGeom prst="roundRect">
            <a:avLst>
              <a:gd name="adj" fmla="val 2222"/>
            </a:avLst>
          </a:prstGeom>
          <a:solidFill>
            <a:srgbClr val="F6F7F4"/>
          </a:solidFill>
          <a:ln w="8890">
            <a:solidFill>
              <a:srgbClr val="E9ECEC"/>
            </a:solidFill>
            <a:prstDash val="solid"/>
          </a:ln>
        </p:spPr>
        <p:txBody>
          <a:bodyPr/>
          <a:lstStyle/>
          <a:p>
            <a:endParaRPr sz="2700"/>
          </a:p>
        </p:txBody>
      </p:sp>
      <p:sp>
        <p:nvSpPr>
          <p:cNvPr id="13" name="Text 11"/>
          <p:cNvSpPr/>
          <p:nvPr/>
        </p:nvSpPr>
        <p:spPr>
          <a:xfrm>
            <a:off x="9962601" y="2765211"/>
            <a:ext cx="4443984" cy="356616"/>
          </a:xfrm>
          <a:prstGeom prst="rect">
            <a:avLst/>
          </a:prstGeom>
          <a:noFill/>
          <a:ln/>
        </p:spPr>
        <p:txBody>
          <a:bodyPr wrap="square" lIns="0" tIns="0" rIns="0" bIns="0" rtlCol="0" anchor="ctr"/>
          <a:lstStyle/>
          <a:p>
            <a:r>
              <a:rPr lang="en-US" sz="3000" b="1" dirty="0">
                <a:solidFill>
                  <a:srgbClr val="0E7C7B"/>
                </a:solidFill>
                <a:latin typeface="Aptos" pitchFamily="34" charset="0"/>
                <a:ea typeface="Aptos" pitchFamily="34" charset="-122"/>
                <a:cs typeface="Aptos" pitchFamily="34" charset="-120"/>
              </a:rPr>
              <a:t>During Bid Stage</a:t>
            </a:r>
            <a:endParaRPr lang="en-US" sz="3000" dirty="0"/>
          </a:p>
        </p:txBody>
      </p:sp>
      <p:sp>
        <p:nvSpPr>
          <p:cNvPr id="14" name="Text 12"/>
          <p:cNvSpPr/>
          <p:nvPr/>
        </p:nvSpPr>
        <p:spPr>
          <a:xfrm>
            <a:off x="9279567" y="3291839"/>
            <a:ext cx="6980274" cy="5205860"/>
          </a:xfrm>
          <a:prstGeom prst="rect">
            <a:avLst/>
          </a:prstGeom>
          <a:noFill/>
          <a:ln/>
        </p:spPr>
        <p:txBody>
          <a:bodyPr wrap="square" lIns="0" tIns="0" rIns="0" bIns="0" rtlCol="0" anchor="t">
            <a:normAutofit/>
          </a:bodyPr>
          <a:lstStyle/>
          <a:p>
            <a:pPr marL="457200" indent="-457200">
              <a:buFont typeface="Arial" panose="020B0604020202020204" pitchFamily="34" charset="0"/>
              <a:buChar char="•"/>
            </a:pPr>
            <a:r>
              <a:rPr lang="en-US" sz="2700" dirty="0">
                <a:solidFill>
                  <a:srgbClr val="2E383A"/>
                </a:solidFill>
                <a:latin typeface="Aptos" pitchFamily="34" charset="0"/>
              </a:rPr>
              <a:t>Review PQ compliance by Vendors- compilation by Client team  </a:t>
            </a:r>
          </a:p>
          <a:p>
            <a:pPr marL="457200" indent="-457200">
              <a:buFont typeface="Arial" panose="020B0604020202020204" pitchFamily="34" charset="0"/>
              <a:buChar char="•"/>
            </a:pPr>
            <a:r>
              <a:rPr lang="en-US" sz="2700" dirty="0">
                <a:solidFill>
                  <a:srgbClr val="2E383A"/>
                </a:solidFill>
                <a:latin typeface="Aptos" pitchFamily="34" charset="0"/>
              </a:rPr>
              <a:t>Shortlisted Vendor Technical Submittal review &amp; alignment with BOQ specifications</a:t>
            </a:r>
          </a:p>
          <a:p>
            <a:pPr marL="428625" indent="-428625">
              <a:buFont typeface="Arial" panose="020B0604020202020204" pitchFamily="34" charset="0"/>
              <a:buChar char="•"/>
            </a:pPr>
            <a:r>
              <a:rPr lang="en-US" sz="2700" dirty="0">
                <a:solidFill>
                  <a:srgbClr val="2E383A"/>
                </a:solidFill>
                <a:latin typeface="Aptos" pitchFamily="34" charset="0"/>
              </a:rPr>
              <a:t>Vendor proposed Substitution and equivalent-product evaluation</a:t>
            </a:r>
          </a:p>
          <a:p>
            <a:pPr marL="428625" indent="-428625">
              <a:buFont typeface="Arial" panose="020B0604020202020204" pitchFamily="34" charset="0"/>
              <a:buChar char="•"/>
            </a:pPr>
            <a:r>
              <a:rPr lang="en-US" sz="2700" dirty="0">
                <a:solidFill>
                  <a:srgbClr val="2E383A"/>
                </a:solidFill>
                <a:latin typeface="Aptos" pitchFamily="34" charset="0"/>
              </a:rPr>
              <a:t>Participate in Kick off meeting to brief on-boarded vendors </a:t>
            </a:r>
          </a:p>
          <a:p>
            <a:endParaRPr lang="en-US" sz="2700" dirty="0">
              <a:solidFill>
                <a:srgbClr val="2E383A"/>
              </a:solidFill>
              <a:latin typeface="Aptos" pitchFamily="34" charset="0"/>
            </a:endParaRPr>
          </a:p>
        </p:txBody>
      </p:sp>
      <p:grpSp>
        <p:nvGrpSpPr>
          <p:cNvPr id="15" name="Group 2">
            <a:extLst>
              <a:ext uri="{FF2B5EF4-FFF2-40B4-BE49-F238E27FC236}">
                <a16:creationId xmlns:a16="http://schemas.microsoft.com/office/drawing/2014/main" id="{7D06FA54-A706-8EA5-0C4A-449198EE5897}"/>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4E53FD23-14A8-F1EF-5ED3-A5F55B8A82DA}"/>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17" name="TextBox 4">
              <a:extLst>
                <a:ext uri="{FF2B5EF4-FFF2-40B4-BE49-F238E27FC236}">
                  <a16:creationId xmlns:a16="http://schemas.microsoft.com/office/drawing/2014/main" id="{B11520B9-469E-5B18-7BCC-701899E299FC}"/>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18" name="Group 5">
            <a:extLst>
              <a:ext uri="{FF2B5EF4-FFF2-40B4-BE49-F238E27FC236}">
                <a16:creationId xmlns:a16="http://schemas.microsoft.com/office/drawing/2014/main" id="{858E9727-9A49-E942-B1C4-7638CC239B80}"/>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27A18465-C394-6C5C-94A6-431F6E71A61B}"/>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21" name="Freeform 7">
            <a:extLst>
              <a:ext uri="{FF2B5EF4-FFF2-40B4-BE49-F238E27FC236}">
                <a16:creationId xmlns:a16="http://schemas.microsoft.com/office/drawing/2014/main" id="{DD66CB92-1365-0DF7-9234-7E528FE90FD9}"/>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F60D1-A6ED-9DC7-61D8-D70F50E410F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35A71FF-C5A1-E045-86BF-2729ABD52D5F}"/>
              </a:ext>
            </a:extLst>
          </p:cNvPr>
          <p:cNvSpPr/>
          <p:nvPr/>
        </p:nvSpPr>
        <p:spPr>
          <a:xfrm>
            <a:off x="511646" y="595954"/>
            <a:ext cx="16047720" cy="617220"/>
          </a:xfrm>
          <a:prstGeom prst="rect">
            <a:avLst/>
          </a:prstGeom>
          <a:noFill/>
          <a:ln/>
        </p:spPr>
        <p:txBody>
          <a:bodyPr wrap="square" lIns="0" tIns="0" rIns="0" bIns="0" rtlCol="0" anchor="ctr"/>
          <a:lstStyle/>
          <a:p>
            <a:r>
              <a:rPr lang="en-US" sz="3750" b="1" dirty="0">
                <a:solidFill>
                  <a:srgbClr val="0B1F33"/>
                </a:solidFill>
                <a:latin typeface="Aptos Display" pitchFamily="34" charset="0"/>
                <a:ea typeface="Aptos Display" pitchFamily="34" charset="-122"/>
                <a:cs typeface="Aptos Display" pitchFamily="34" charset="-120"/>
              </a:rPr>
              <a:t>Our role: independent, brand-agnostic specification intelligence</a:t>
            </a:r>
            <a:endParaRPr lang="en-US" sz="3750" dirty="0"/>
          </a:p>
        </p:txBody>
      </p:sp>
      <p:sp>
        <p:nvSpPr>
          <p:cNvPr id="5" name="Text 3">
            <a:extLst>
              <a:ext uri="{FF2B5EF4-FFF2-40B4-BE49-F238E27FC236}">
                <a16:creationId xmlns:a16="http://schemas.microsoft.com/office/drawing/2014/main" id="{C8E6F956-B0A5-65B1-DEC6-6B3BBF7CCE2C}"/>
              </a:ext>
            </a:extLst>
          </p:cNvPr>
          <p:cNvSpPr/>
          <p:nvPr/>
        </p:nvSpPr>
        <p:spPr>
          <a:xfrm>
            <a:off x="542090" y="1702946"/>
            <a:ext cx="17412842" cy="1356119"/>
          </a:xfrm>
          <a:prstGeom prst="rect">
            <a:avLst/>
          </a:prstGeom>
          <a:noFill/>
          <a:ln/>
        </p:spPr>
        <p:txBody>
          <a:bodyPr wrap="square" lIns="0" tIns="0" rIns="0" bIns="0" rtlCol="0" anchor="ctr"/>
          <a:lstStyle/>
          <a:p>
            <a:r>
              <a:rPr lang="en-US" sz="2700" b="1" dirty="0">
                <a:solidFill>
                  <a:schemeClr val="accent6">
                    <a:lumMod val="75000"/>
                  </a:schemeClr>
                </a:solidFill>
                <a:latin typeface="Aptos" pitchFamily="34" charset="0"/>
                <a:ea typeface="Aptos" pitchFamily="34" charset="-122"/>
                <a:cs typeface="Aptos" pitchFamily="34" charset="-120"/>
              </a:rPr>
              <a:t>EnvaDure’s job is to define what performance is required before vendors and contractors compete and Provide the Technical Framework Enabling Client to Select Right Vendors &amp; Enabling PMC team to Monitor Site Execution </a:t>
            </a:r>
            <a:endParaRPr lang="en-US" sz="2700" b="1" dirty="0">
              <a:solidFill>
                <a:schemeClr val="accent6">
                  <a:lumMod val="75000"/>
                </a:schemeClr>
              </a:solidFill>
            </a:endParaRPr>
          </a:p>
        </p:txBody>
      </p:sp>
      <p:sp>
        <p:nvSpPr>
          <p:cNvPr id="6" name="Shape 4">
            <a:extLst>
              <a:ext uri="{FF2B5EF4-FFF2-40B4-BE49-F238E27FC236}">
                <a16:creationId xmlns:a16="http://schemas.microsoft.com/office/drawing/2014/main" id="{CDD17C05-05AD-6D4A-8AF8-7E476EA5F8D3}"/>
              </a:ext>
            </a:extLst>
          </p:cNvPr>
          <p:cNvSpPr/>
          <p:nvPr/>
        </p:nvSpPr>
        <p:spPr>
          <a:xfrm>
            <a:off x="822960" y="9710928"/>
            <a:ext cx="16596360" cy="0"/>
          </a:xfrm>
          <a:prstGeom prst="line">
            <a:avLst/>
          </a:prstGeom>
          <a:noFill/>
          <a:ln w="8890">
            <a:solidFill>
              <a:srgbClr val="E9ECEC"/>
            </a:solidFill>
            <a:prstDash val="solid"/>
          </a:ln>
        </p:spPr>
        <p:txBody>
          <a:bodyPr/>
          <a:lstStyle/>
          <a:p>
            <a:endParaRPr sz="2700"/>
          </a:p>
        </p:txBody>
      </p:sp>
      <p:sp>
        <p:nvSpPr>
          <p:cNvPr id="8" name="Text 6">
            <a:extLst>
              <a:ext uri="{FF2B5EF4-FFF2-40B4-BE49-F238E27FC236}">
                <a16:creationId xmlns:a16="http://schemas.microsoft.com/office/drawing/2014/main" id="{3A1CD6C7-C21F-AD9F-E2B7-C3F9D27128F3}"/>
              </a:ext>
            </a:extLst>
          </p:cNvPr>
          <p:cNvSpPr/>
          <p:nvPr/>
        </p:nvSpPr>
        <p:spPr>
          <a:xfrm>
            <a:off x="13990320" y="9820656"/>
            <a:ext cx="3291840" cy="205740"/>
          </a:xfrm>
          <a:prstGeom prst="rect">
            <a:avLst/>
          </a:prstGeom>
          <a:noFill/>
          <a:ln/>
        </p:spPr>
        <p:txBody>
          <a:bodyPr wrap="square" lIns="0" tIns="0" rIns="0" bIns="0" rtlCol="0" anchor="ctr"/>
          <a:lstStyle/>
          <a:p>
            <a:pPr algn="r"/>
            <a:r>
              <a:rPr lang="en-US" sz="1020" dirty="0">
                <a:solidFill>
                  <a:srgbClr val="6B7477"/>
                </a:solidFill>
                <a:latin typeface="Aptos" pitchFamily="34" charset="0"/>
                <a:ea typeface="Aptos" pitchFamily="34" charset="-122"/>
                <a:cs typeface="Aptos" pitchFamily="34" charset="-120"/>
              </a:rPr>
              <a:t>Confidential discussion draft</a:t>
            </a:r>
            <a:endParaRPr lang="en-US" sz="1020" dirty="0"/>
          </a:p>
        </p:txBody>
      </p:sp>
      <p:sp>
        <p:nvSpPr>
          <p:cNvPr id="12" name="Shape 10">
            <a:extLst>
              <a:ext uri="{FF2B5EF4-FFF2-40B4-BE49-F238E27FC236}">
                <a16:creationId xmlns:a16="http://schemas.microsoft.com/office/drawing/2014/main" id="{A913C6DF-2181-4EC7-5158-5118EF5C88C4}"/>
              </a:ext>
            </a:extLst>
          </p:cNvPr>
          <p:cNvSpPr/>
          <p:nvPr/>
        </p:nvSpPr>
        <p:spPr>
          <a:xfrm>
            <a:off x="542090" y="3385018"/>
            <a:ext cx="17726332" cy="6216184"/>
          </a:xfrm>
          <a:prstGeom prst="roundRect">
            <a:avLst>
              <a:gd name="adj" fmla="val 2222"/>
            </a:avLst>
          </a:prstGeom>
          <a:solidFill>
            <a:srgbClr val="F6F7F4"/>
          </a:solidFill>
          <a:ln w="8890">
            <a:solidFill>
              <a:srgbClr val="E9ECEC"/>
            </a:solidFill>
            <a:prstDash val="solid"/>
          </a:ln>
        </p:spPr>
        <p:txBody>
          <a:bodyPr/>
          <a:lstStyle/>
          <a:p>
            <a:endParaRPr sz="2700"/>
          </a:p>
        </p:txBody>
      </p:sp>
      <p:sp>
        <p:nvSpPr>
          <p:cNvPr id="13" name="Text 11">
            <a:extLst>
              <a:ext uri="{FF2B5EF4-FFF2-40B4-BE49-F238E27FC236}">
                <a16:creationId xmlns:a16="http://schemas.microsoft.com/office/drawing/2014/main" id="{AF283B0F-67C6-EA2E-1138-8295C7ACA016}"/>
              </a:ext>
            </a:extLst>
          </p:cNvPr>
          <p:cNvSpPr/>
          <p:nvPr/>
        </p:nvSpPr>
        <p:spPr>
          <a:xfrm>
            <a:off x="6629400" y="3691799"/>
            <a:ext cx="4443984" cy="356616"/>
          </a:xfrm>
          <a:prstGeom prst="rect">
            <a:avLst/>
          </a:prstGeom>
          <a:noFill/>
          <a:ln/>
        </p:spPr>
        <p:txBody>
          <a:bodyPr wrap="square" lIns="0" tIns="0" rIns="0" bIns="0" rtlCol="0" anchor="ctr"/>
          <a:lstStyle/>
          <a:p>
            <a:r>
              <a:rPr lang="en-US" sz="3000" b="1" dirty="0">
                <a:solidFill>
                  <a:srgbClr val="0E7C7B"/>
                </a:solidFill>
                <a:latin typeface="Aptos" pitchFamily="34" charset="0"/>
                <a:ea typeface="Aptos" pitchFamily="34" charset="-122"/>
                <a:cs typeface="Aptos" pitchFamily="34" charset="-120"/>
              </a:rPr>
              <a:t>What We Don’t DO </a:t>
            </a:r>
            <a:endParaRPr lang="en-US" sz="3000" dirty="0"/>
          </a:p>
        </p:txBody>
      </p:sp>
      <p:grpSp>
        <p:nvGrpSpPr>
          <p:cNvPr id="15" name="Group 2">
            <a:extLst>
              <a:ext uri="{FF2B5EF4-FFF2-40B4-BE49-F238E27FC236}">
                <a16:creationId xmlns:a16="http://schemas.microsoft.com/office/drawing/2014/main" id="{B4CB640B-415F-46D7-CBF6-1BE547CD4E68}"/>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BFC886A3-CB6F-D651-7C9A-FCE11CDA5175}"/>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17" name="TextBox 4">
              <a:extLst>
                <a:ext uri="{FF2B5EF4-FFF2-40B4-BE49-F238E27FC236}">
                  <a16:creationId xmlns:a16="http://schemas.microsoft.com/office/drawing/2014/main" id="{23432A67-276F-3451-C85F-7CFBCC2FF051}"/>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18" name="Group 5">
            <a:extLst>
              <a:ext uri="{FF2B5EF4-FFF2-40B4-BE49-F238E27FC236}">
                <a16:creationId xmlns:a16="http://schemas.microsoft.com/office/drawing/2014/main" id="{3AC306B5-AE01-46DC-D6F4-0DB66AD5DEBE}"/>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AB35D08D-EDB4-6C1D-98CE-6DBC99EEDDA8}"/>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21" name="Freeform 7">
            <a:extLst>
              <a:ext uri="{FF2B5EF4-FFF2-40B4-BE49-F238E27FC236}">
                <a16:creationId xmlns:a16="http://schemas.microsoft.com/office/drawing/2014/main" id="{5B5AD846-5D6B-390C-B754-50C2A159EB5C}"/>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endParaRPr lang="en-IN"/>
          </a:p>
        </p:txBody>
      </p:sp>
      <p:sp>
        <p:nvSpPr>
          <p:cNvPr id="3" name="Text 9">
            <a:extLst>
              <a:ext uri="{FF2B5EF4-FFF2-40B4-BE49-F238E27FC236}">
                <a16:creationId xmlns:a16="http://schemas.microsoft.com/office/drawing/2014/main" id="{34EADD1F-37F2-F41C-DD6A-9E9B0D9AA7AB}"/>
              </a:ext>
            </a:extLst>
          </p:cNvPr>
          <p:cNvSpPr/>
          <p:nvPr/>
        </p:nvSpPr>
        <p:spPr>
          <a:xfrm>
            <a:off x="879962" y="4158142"/>
            <a:ext cx="17408038" cy="5878740"/>
          </a:xfrm>
          <a:prstGeom prst="rect">
            <a:avLst/>
          </a:prstGeom>
          <a:noFill/>
          <a:ln/>
        </p:spPr>
        <p:txBody>
          <a:bodyPr wrap="square" lIns="0" tIns="0" rIns="0" bIns="0" rtlCol="0" anchor="t">
            <a:normAutofit/>
          </a:bodyPr>
          <a:lstStyle/>
          <a:p>
            <a:pPr marL="428625" indent="-428625">
              <a:lnSpc>
                <a:spcPct val="150000"/>
              </a:lnSpc>
              <a:buFont typeface="Arial" panose="020B0604020202020204" pitchFamily="34" charset="0"/>
              <a:buChar char="•"/>
            </a:pPr>
            <a:r>
              <a:rPr lang="en-US" sz="2700" b="1" dirty="0">
                <a:solidFill>
                  <a:srgbClr val="2E383A"/>
                </a:solidFill>
                <a:latin typeface="Aptos" pitchFamily="34" charset="0"/>
                <a:ea typeface="Aptos" pitchFamily="34" charset="-122"/>
                <a:cs typeface="Aptos" pitchFamily="34" charset="-120"/>
              </a:rPr>
              <a:t>Sell Products </a:t>
            </a:r>
          </a:p>
          <a:p>
            <a:pPr marL="428625" indent="-428625">
              <a:lnSpc>
                <a:spcPct val="150000"/>
              </a:lnSpc>
              <a:buFont typeface="Arial" panose="020B0604020202020204" pitchFamily="34" charset="0"/>
              <a:buChar char="•"/>
            </a:pPr>
            <a:r>
              <a:rPr lang="en-US" sz="2700" b="1" dirty="0">
                <a:solidFill>
                  <a:srgbClr val="2E383A"/>
                </a:solidFill>
                <a:latin typeface="Aptos" pitchFamily="34" charset="0"/>
                <a:ea typeface="Aptos" pitchFamily="34" charset="-122"/>
                <a:cs typeface="Aptos" pitchFamily="34" charset="-120"/>
              </a:rPr>
              <a:t>Suggest Monopolistic Single Brand </a:t>
            </a:r>
            <a:r>
              <a:rPr lang="en-US" sz="2700" b="1" dirty="0" err="1">
                <a:solidFill>
                  <a:srgbClr val="2E383A"/>
                </a:solidFill>
                <a:latin typeface="Aptos" pitchFamily="34" charset="0"/>
                <a:ea typeface="Aptos" pitchFamily="34" charset="-122"/>
                <a:cs typeface="Aptos" pitchFamily="34" charset="-120"/>
              </a:rPr>
              <a:t>Favouring</a:t>
            </a:r>
            <a:r>
              <a:rPr lang="en-US" sz="2700" b="1" dirty="0">
                <a:solidFill>
                  <a:srgbClr val="2E383A"/>
                </a:solidFill>
                <a:latin typeface="Aptos" pitchFamily="34" charset="0"/>
                <a:ea typeface="Aptos" pitchFamily="34" charset="-122"/>
                <a:cs typeface="Aptos" pitchFamily="34" charset="-120"/>
              </a:rPr>
              <a:t> Solutions </a:t>
            </a:r>
          </a:p>
          <a:p>
            <a:pPr marL="428625" indent="-428625">
              <a:lnSpc>
                <a:spcPct val="150000"/>
              </a:lnSpc>
              <a:buFont typeface="Arial" panose="020B0604020202020204" pitchFamily="34" charset="0"/>
              <a:buChar char="•"/>
            </a:pPr>
            <a:r>
              <a:rPr lang="en-US" sz="2700" b="1" dirty="0">
                <a:solidFill>
                  <a:srgbClr val="2E383A"/>
                </a:solidFill>
                <a:latin typeface="Aptos" pitchFamily="34" charset="0"/>
                <a:ea typeface="Aptos" pitchFamily="34" charset="-122"/>
                <a:cs typeface="Aptos" pitchFamily="34" charset="-120"/>
              </a:rPr>
              <a:t>Simply Suggest the Most Expensive or the Cheapest – We Only Suggest Fit For Purpose Solutions </a:t>
            </a:r>
            <a:endParaRPr lang="en-US" sz="2700" b="1" dirty="0"/>
          </a:p>
          <a:p>
            <a:pPr marL="428625" indent="-428625">
              <a:lnSpc>
                <a:spcPct val="150000"/>
              </a:lnSpc>
              <a:buFont typeface="Arial" panose="020B0604020202020204" pitchFamily="34" charset="0"/>
              <a:buChar char="•"/>
            </a:pPr>
            <a:r>
              <a:rPr lang="en-US" sz="2700" b="1" dirty="0">
                <a:solidFill>
                  <a:srgbClr val="2E383A"/>
                </a:solidFill>
                <a:latin typeface="Aptos" pitchFamily="34" charset="0"/>
                <a:ea typeface="Aptos" pitchFamily="34" charset="-122"/>
                <a:cs typeface="Aptos" pitchFamily="34" charset="-120"/>
              </a:rPr>
              <a:t>Execute the Waterproofing Application Work </a:t>
            </a:r>
          </a:p>
          <a:p>
            <a:pPr marL="428625" indent="-428625">
              <a:lnSpc>
                <a:spcPct val="150000"/>
              </a:lnSpc>
              <a:buFont typeface="Arial" panose="020B0604020202020204" pitchFamily="34" charset="0"/>
              <a:buChar char="•"/>
            </a:pPr>
            <a:r>
              <a:rPr lang="en-US" sz="2700" b="1" dirty="0">
                <a:solidFill>
                  <a:srgbClr val="2E383A"/>
                </a:solidFill>
                <a:latin typeface="Aptos" pitchFamily="34" charset="0"/>
                <a:ea typeface="Aptos" pitchFamily="34" charset="-122"/>
                <a:cs typeface="Aptos" pitchFamily="34" charset="-120"/>
              </a:rPr>
              <a:t>Participate in Commercial Discussions with Vendors or Bidders</a:t>
            </a:r>
          </a:p>
          <a:p>
            <a:pPr marL="428625" indent="-428625">
              <a:lnSpc>
                <a:spcPct val="150000"/>
              </a:lnSpc>
              <a:buFont typeface="Arial" panose="020B0604020202020204" pitchFamily="34" charset="0"/>
              <a:buChar char="•"/>
            </a:pPr>
            <a:r>
              <a:rPr lang="en-US" sz="2700" b="1" dirty="0">
                <a:solidFill>
                  <a:srgbClr val="2E383A"/>
                </a:solidFill>
                <a:latin typeface="Aptos" pitchFamily="34" charset="0"/>
                <a:ea typeface="Aptos" pitchFamily="34" charset="-122"/>
                <a:cs typeface="Aptos" pitchFamily="34" charset="-120"/>
              </a:rPr>
              <a:t>Supervise or Project Manage the Waterproofing Work on Site. </a:t>
            </a:r>
          </a:p>
          <a:p>
            <a:pPr marL="428625" indent="-428625">
              <a:lnSpc>
                <a:spcPct val="150000"/>
              </a:lnSpc>
              <a:buFont typeface="Arial" panose="020B0604020202020204" pitchFamily="34" charset="0"/>
              <a:buChar char="•"/>
            </a:pPr>
            <a:r>
              <a:rPr lang="en-US" sz="2700" b="1" dirty="0">
                <a:solidFill>
                  <a:srgbClr val="2E383A"/>
                </a:solidFill>
                <a:latin typeface="Aptos" pitchFamily="34" charset="0"/>
                <a:ea typeface="Aptos" pitchFamily="34" charset="-122"/>
                <a:cs typeface="Aptos" pitchFamily="34" charset="-120"/>
              </a:rPr>
              <a:t>Certify or Approve Vendor Bills or Payments. </a:t>
            </a:r>
          </a:p>
          <a:p>
            <a:pPr marL="428625" indent="-428625">
              <a:lnSpc>
                <a:spcPct val="150000"/>
              </a:lnSpc>
              <a:buFont typeface="Arial" panose="020B0604020202020204" pitchFamily="34" charset="0"/>
              <a:buChar char="•"/>
            </a:pPr>
            <a:r>
              <a:rPr lang="en-US" sz="2700" b="1" dirty="0">
                <a:solidFill>
                  <a:srgbClr val="2E383A"/>
                </a:solidFill>
                <a:latin typeface="Aptos" pitchFamily="34" charset="0"/>
                <a:ea typeface="Aptos" pitchFamily="34" charset="-122"/>
                <a:cs typeface="Aptos" pitchFamily="34" charset="-120"/>
              </a:rPr>
              <a:t>Contract Administration</a:t>
            </a:r>
            <a:endParaRPr lang="en-US" sz="2700" b="1" dirty="0"/>
          </a:p>
        </p:txBody>
      </p:sp>
    </p:spTree>
    <p:extLst>
      <p:ext uri="{BB962C8B-B14F-4D97-AF65-F5344CB8AC3E}">
        <p14:creationId xmlns:p14="http://schemas.microsoft.com/office/powerpoint/2010/main" val="3925545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 0"/>
          <p:cNvSpPr/>
          <p:nvPr/>
        </p:nvSpPr>
        <p:spPr>
          <a:xfrm>
            <a:off x="1165860" y="3497580"/>
            <a:ext cx="17007840" cy="1165860"/>
          </a:xfrm>
          <a:prstGeom prst="rect">
            <a:avLst/>
          </a:prstGeom>
          <a:noFill/>
          <a:ln/>
        </p:spPr>
        <p:txBody>
          <a:bodyPr wrap="square" lIns="0" tIns="0" rIns="0" bIns="0" rtlCol="0" anchor="ctr"/>
          <a:lstStyle/>
          <a:p>
            <a:pPr defTabSz="1371600"/>
            <a:r>
              <a:rPr lang="en-US" sz="5100" b="1" dirty="0">
                <a:solidFill>
                  <a:srgbClr val="FFFFFF"/>
                </a:solidFill>
                <a:latin typeface="Aptos Display" pitchFamily="34" charset="0"/>
                <a:ea typeface="Aptos Display" pitchFamily="34" charset="-122"/>
                <a:cs typeface="Aptos Display" pitchFamily="34" charset="-120"/>
              </a:rPr>
              <a:t>Why </a:t>
            </a:r>
            <a:r>
              <a:rPr lang="en-US" sz="5400" b="1" dirty="0">
                <a:solidFill>
                  <a:prstClr val="white"/>
                </a:solidFill>
                <a:latin typeface="Aptos Display" pitchFamily="34" charset="0"/>
                <a:ea typeface="Aptos Display" pitchFamily="34" charset="-122"/>
                <a:cs typeface="Aptos Display" pitchFamily="34" charset="-120"/>
              </a:rPr>
              <a:t>Enva</a:t>
            </a:r>
            <a:r>
              <a:rPr lang="en-US" sz="5400" b="1" dirty="0">
                <a:solidFill>
                  <a:srgbClr val="0E7C7B"/>
                </a:solidFill>
                <a:latin typeface="Aptos Display" pitchFamily="34" charset="0"/>
                <a:ea typeface="Aptos Display" pitchFamily="34" charset="-122"/>
                <a:cs typeface="Aptos Display" pitchFamily="34" charset="-120"/>
              </a:rPr>
              <a:t>Dure</a:t>
            </a:r>
            <a:r>
              <a:rPr lang="en-US" sz="5400" b="1" dirty="0">
                <a:solidFill>
                  <a:schemeClr val="bg1"/>
                </a:solidFill>
                <a:latin typeface="Aptos Display" pitchFamily="34" charset="0"/>
                <a:ea typeface="Aptos Display" pitchFamily="34" charset="-122"/>
                <a:cs typeface="Aptos Display" pitchFamily="34" charset="-120"/>
              </a:rPr>
              <a:t>™</a:t>
            </a:r>
            <a:r>
              <a:rPr lang="en-US" sz="4800" dirty="0">
                <a:solidFill>
                  <a:prstClr val="black"/>
                </a:solidFill>
                <a:latin typeface="Aptos"/>
              </a:rPr>
              <a:t> </a:t>
            </a:r>
            <a:r>
              <a:rPr lang="en-US" sz="5100" b="1" dirty="0">
                <a:solidFill>
                  <a:srgbClr val="FFFFFF"/>
                </a:solidFill>
                <a:latin typeface="Aptos Display" pitchFamily="34" charset="0"/>
                <a:ea typeface="Aptos Display" pitchFamily="34" charset="-122"/>
                <a:cs typeface="Aptos Display" pitchFamily="34" charset="-120"/>
              </a:rPr>
              <a:t>and Mehul Parikh</a:t>
            </a:r>
            <a:endParaRPr lang="en-US" sz="5100" dirty="0">
              <a:solidFill>
                <a:prstClr val="black"/>
              </a:solidFill>
              <a:latin typeface="Aptos"/>
            </a:endParaRPr>
          </a:p>
        </p:txBody>
      </p:sp>
      <p:sp>
        <p:nvSpPr>
          <p:cNvPr id="3" name="Shape 1"/>
          <p:cNvSpPr/>
          <p:nvPr/>
        </p:nvSpPr>
        <p:spPr>
          <a:xfrm>
            <a:off x="1207008" y="4869180"/>
            <a:ext cx="3017520" cy="0"/>
          </a:xfrm>
          <a:prstGeom prst="line">
            <a:avLst/>
          </a:prstGeom>
          <a:noFill/>
          <a:ln w="38100">
            <a:solidFill>
              <a:srgbClr val="0E7C7B"/>
            </a:solidFill>
            <a:prstDash val="solid"/>
          </a:ln>
        </p:spPr>
        <p:txBody>
          <a:bodyPr/>
          <a:lstStyle/>
          <a:p>
            <a:pPr defTabSz="1371600"/>
            <a:endParaRPr sz="2700" b="1" dirty="0">
              <a:solidFill>
                <a:prstClr val="black"/>
              </a:solidFill>
              <a:latin typeface="Aptos"/>
            </a:endParaRPr>
          </a:p>
        </p:txBody>
      </p:sp>
      <p:sp>
        <p:nvSpPr>
          <p:cNvPr id="4" name="Text 2"/>
          <p:cNvSpPr/>
          <p:nvPr/>
        </p:nvSpPr>
        <p:spPr>
          <a:xfrm>
            <a:off x="1234439" y="5239512"/>
            <a:ext cx="16672561" cy="960120"/>
          </a:xfrm>
          <a:prstGeom prst="rect">
            <a:avLst/>
          </a:prstGeom>
          <a:noFill/>
          <a:ln/>
        </p:spPr>
        <p:txBody>
          <a:bodyPr wrap="square" lIns="0" tIns="0" rIns="0" bIns="0" rtlCol="0" anchor="ctr"/>
          <a:lstStyle/>
          <a:p>
            <a:pPr defTabSz="1371600"/>
            <a:r>
              <a:rPr lang="en-US" sz="2400" b="1" dirty="0">
                <a:solidFill>
                  <a:srgbClr val="B8C1C3"/>
                </a:solidFill>
                <a:latin typeface="Aptos" pitchFamily="34" charset="0"/>
                <a:ea typeface="Aptos" pitchFamily="34" charset="-122"/>
                <a:cs typeface="Aptos" pitchFamily="34" charset="-120"/>
              </a:rPr>
              <a:t>A rare combination of waterproofing contracting scale, specification insight, system knowledge and execution realism.</a:t>
            </a:r>
            <a:endParaRPr lang="en-US" sz="2400" b="1" dirty="0">
              <a:solidFill>
                <a:prstClr val="black"/>
              </a:solidFill>
              <a:latin typeface="Aptos"/>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91540" y="1165860"/>
            <a:ext cx="16047720" cy="617220"/>
          </a:xfrm>
          <a:prstGeom prst="rect">
            <a:avLst/>
          </a:prstGeom>
          <a:noFill/>
          <a:ln/>
        </p:spPr>
        <p:txBody>
          <a:bodyPr wrap="square" lIns="0" tIns="0" rIns="0" bIns="0" rtlCol="0" anchor="ctr"/>
          <a:lstStyle/>
          <a:p>
            <a:r>
              <a:rPr lang="en-US" sz="3750" b="1" dirty="0">
                <a:solidFill>
                  <a:srgbClr val="0B1F33"/>
                </a:solidFill>
                <a:latin typeface="Aptos Display" pitchFamily="34" charset="0"/>
                <a:ea typeface="Aptos Display" pitchFamily="34" charset="-122"/>
                <a:cs typeface="Aptos Display" pitchFamily="34" charset="-120"/>
              </a:rPr>
              <a:t>Mehul Parikh’s Professional credibility and Relevance</a:t>
            </a:r>
            <a:endParaRPr lang="en-US" sz="3750" dirty="0"/>
          </a:p>
        </p:txBody>
      </p:sp>
      <p:sp>
        <p:nvSpPr>
          <p:cNvPr id="5" name="Text 3"/>
          <p:cNvSpPr/>
          <p:nvPr/>
        </p:nvSpPr>
        <p:spPr>
          <a:xfrm>
            <a:off x="918972" y="1851660"/>
            <a:ext cx="15910560" cy="384048"/>
          </a:xfrm>
          <a:prstGeom prst="rect">
            <a:avLst/>
          </a:prstGeom>
          <a:noFill/>
          <a:ln/>
        </p:spPr>
        <p:txBody>
          <a:bodyPr wrap="square" lIns="0" tIns="0" rIns="0" bIns="0" rtlCol="0" anchor="ctr"/>
          <a:lstStyle/>
          <a:p>
            <a:r>
              <a:rPr lang="en-US" sz="2000" b="1" dirty="0">
                <a:solidFill>
                  <a:srgbClr val="6B7477"/>
                </a:solidFill>
                <a:latin typeface="Aptos" pitchFamily="34" charset="0"/>
                <a:ea typeface="Aptos" pitchFamily="34" charset="-122"/>
                <a:cs typeface="Aptos" pitchFamily="34" charset="-120"/>
              </a:rPr>
              <a:t>Experience-led independent judgement for high-stakes building-envelope decisions.</a:t>
            </a:r>
            <a:endParaRPr lang="en-US" sz="2000" b="1" dirty="0"/>
          </a:p>
        </p:txBody>
      </p:sp>
      <p:sp>
        <p:nvSpPr>
          <p:cNvPr id="6" name="Shape 4"/>
          <p:cNvSpPr/>
          <p:nvPr/>
        </p:nvSpPr>
        <p:spPr>
          <a:xfrm>
            <a:off x="822960" y="9710928"/>
            <a:ext cx="16596360" cy="0"/>
          </a:xfrm>
          <a:prstGeom prst="line">
            <a:avLst/>
          </a:prstGeom>
          <a:noFill/>
          <a:ln w="8890">
            <a:solidFill>
              <a:srgbClr val="E9ECEC"/>
            </a:solidFill>
            <a:prstDash val="solid"/>
          </a:ln>
        </p:spPr>
        <p:txBody>
          <a:bodyPr/>
          <a:lstStyle/>
          <a:p>
            <a:endParaRPr sz="2700"/>
          </a:p>
        </p:txBody>
      </p:sp>
      <p:sp>
        <p:nvSpPr>
          <p:cNvPr id="8" name="Text 6"/>
          <p:cNvSpPr/>
          <p:nvPr/>
        </p:nvSpPr>
        <p:spPr>
          <a:xfrm>
            <a:off x="13990320" y="9820656"/>
            <a:ext cx="3291840" cy="205740"/>
          </a:xfrm>
          <a:prstGeom prst="rect">
            <a:avLst/>
          </a:prstGeom>
          <a:noFill/>
          <a:ln/>
        </p:spPr>
        <p:txBody>
          <a:bodyPr wrap="square" lIns="0" tIns="0" rIns="0" bIns="0" rtlCol="0" anchor="ctr"/>
          <a:lstStyle/>
          <a:p>
            <a:pPr algn="r"/>
            <a:r>
              <a:rPr lang="en-US" sz="1020" dirty="0">
                <a:solidFill>
                  <a:srgbClr val="6B7477"/>
                </a:solidFill>
                <a:latin typeface="Aptos" pitchFamily="34" charset="0"/>
                <a:ea typeface="Aptos" pitchFamily="34" charset="-122"/>
                <a:cs typeface="Aptos" pitchFamily="34" charset="-120"/>
              </a:rPr>
              <a:t>Confidential discussion draft</a:t>
            </a:r>
            <a:endParaRPr lang="en-US" sz="1020" dirty="0"/>
          </a:p>
        </p:txBody>
      </p:sp>
      <p:sp>
        <p:nvSpPr>
          <p:cNvPr id="9" name="Shape 7"/>
          <p:cNvSpPr/>
          <p:nvPr/>
        </p:nvSpPr>
        <p:spPr>
          <a:xfrm>
            <a:off x="1303020" y="2468880"/>
            <a:ext cx="3497580" cy="2263140"/>
          </a:xfrm>
          <a:prstGeom prst="roundRect">
            <a:avLst>
              <a:gd name="adj" fmla="val 4848"/>
            </a:avLst>
          </a:prstGeom>
          <a:solidFill>
            <a:srgbClr val="0B1F33"/>
          </a:solidFill>
          <a:ln w="12700">
            <a:solidFill>
              <a:srgbClr val="0B1F33"/>
            </a:solidFill>
            <a:prstDash val="solid"/>
          </a:ln>
        </p:spPr>
        <p:txBody>
          <a:bodyPr/>
          <a:lstStyle/>
          <a:p>
            <a:endParaRPr sz="2700"/>
          </a:p>
        </p:txBody>
      </p:sp>
      <p:sp>
        <p:nvSpPr>
          <p:cNvPr id="10" name="Text 8"/>
          <p:cNvSpPr/>
          <p:nvPr/>
        </p:nvSpPr>
        <p:spPr>
          <a:xfrm>
            <a:off x="1508760" y="2638588"/>
            <a:ext cx="3086100" cy="754380"/>
          </a:xfrm>
          <a:prstGeom prst="rect">
            <a:avLst/>
          </a:prstGeom>
          <a:noFill/>
          <a:ln/>
        </p:spPr>
        <p:txBody>
          <a:bodyPr wrap="square" lIns="0" tIns="0" rIns="0" bIns="0" rtlCol="0" anchor="ctr"/>
          <a:lstStyle/>
          <a:p>
            <a:pPr algn="ctr"/>
            <a:r>
              <a:rPr lang="en-US" sz="3600" b="1" dirty="0">
                <a:solidFill>
                  <a:srgbClr val="FFFFFF"/>
                </a:solidFill>
                <a:latin typeface="Aptos Display" pitchFamily="34" charset="0"/>
                <a:ea typeface="Aptos Display" pitchFamily="34" charset="-122"/>
                <a:cs typeface="Aptos Display" pitchFamily="34" charset="-120"/>
              </a:rPr>
              <a:t>30+ yrs</a:t>
            </a:r>
            <a:endParaRPr lang="en-US" sz="3600" dirty="0"/>
          </a:p>
        </p:txBody>
      </p:sp>
      <p:sp>
        <p:nvSpPr>
          <p:cNvPr id="11" name="Text 9"/>
          <p:cNvSpPr/>
          <p:nvPr/>
        </p:nvSpPr>
        <p:spPr>
          <a:xfrm>
            <a:off x="1536627" y="3641598"/>
            <a:ext cx="3058668" cy="754380"/>
          </a:xfrm>
          <a:prstGeom prst="rect">
            <a:avLst/>
          </a:prstGeom>
          <a:noFill/>
          <a:ln/>
        </p:spPr>
        <p:txBody>
          <a:bodyPr wrap="square" lIns="0" tIns="0" rIns="0" bIns="0" rtlCol="0" anchor="ctr">
            <a:normAutofit lnSpcReduction="10000"/>
          </a:bodyPr>
          <a:lstStyle/>
          <a:p>
            <a:pPr algn="ctr"/>
            <a:r>
              <a:rPr lang="en-US" b="1" dirty="0">
                <a:solidFill>
                  <a:srgbClr val="B8C1C3"/>
                </a:solidFill>
                <a:latin typeface="Aptos" pitchFamily="34" charset="0"/>
                <a:ea typeface="Aptos" pitchFamily="34" charset="-122"/>
                <a:cs typeface="Aptos" pitchFamily="34" charset="-120"/>
              </a:rPr>
              <a:t>Led a </a:t>
            </a:r>
            <a:r>
              <a:rPr lang="en-US" b="1" dirty="0" err="1">
                <a:solidFill>
                  <a:srgbClr val="B8C1C3"/>
                </a:solidFill>
                <a:latin typeface="Aptos" pitchFamily="34" charset="0"/>
                <a:ea typeface="Aptos" pitchFamily="34" charset="-122"/>
                <a:cs typeface="Aptos" pitchFamily="34" charset="-120"/>
              </a:rPr>
              <a:t>Specialised</a:t>
            </a:r>
            <a:r>
              <a:rPr lang="en-US" b="1" dirty="0">
                <a:solidFill>
                  <a:srgbClr val="B8C1C3"/>
                </a:solidFill>
                <a:latin typeface="Aptos" pitchFamily="34" charset="0"/>
                <a:ea typeface="Aptos" pitchFamily="34" charset="-122"/>
                <a:cs typeface="Aptos" pitchFamily="34" charset="-120"/>
              </a:rPr>
              <a:t> Waterproofing Contracting  Business</a:t>
            </a:r>
            <a:endParaRPr lang="en-US" b="1" dirty="0"/>
          </a:p>
        </p:txBody>
      </p:sp>
      <p:sp>
        <p:nvSpPr>
          <p:cNvPr id="12" name="Text 10"/>
          <p:cNvSpPr/>
          <p:nvPr/>
        </p:nvSpPr>
        <p:spPr>
          <a:xfrm>
            <a:off x="1522476" y="4430268"/>
            <a:ext cx="3058668" cy="205740"/>
          </a:xfrm>
          <a:prstGeom prst="rect">
            <a:avLst/>
          </a:prstGeom>
          <a:noFill/>
          <a:ln/>
        </p:spPr>
        <p:txBody>
          <a:bodyPr wrap="square" lIns="0" tIns="0" rIns="0" bIns="0" rtlCol="0" anchor="ctr"/>
          <a:lstStyle/>
          <a:p>
            <a:pPr algn="ctr"/>
            <a:r>
              <a:rPr lang="en-US" sz="1050" dirty="0">
                <a:solidFill>
                  <a:srgbClr val="B8C1C3"/>
                </a:solidFill>
                <a:latin typeface="Aptos" pitchFamily="34" charset="0"/>
                <a:ea typeface="Aptos" pitchFamily="34" charset="-122"/>
                <a:cs typeface="Aptos" pitchFamily="34" charset="-120"/>
              </a:rPr>
              <a:t>Profile</a:t>
            </a:r>
            <a:endParaRPr lang="en-US" sz="1050" dirty="0"/>
          </a:p>
        </p:txBody>
      </p:sp>
      <p:sp>
        <p:nvSpPr>
          <p:cNvPr id="13" name="Shape 11"/>
          <p:cNvSpPr/>
          <p:nvPr/>
        </p:nvSpPr>
        <p:spPr>
          <a:xfrm>
            <a:off x="5143500" y="2468880"/>
            <a:ext cx="3497580" cy="2263140"/>
          </a:xfrm>
          <a:prstGeom prst="roundRect">
            <a:avLst>
              <a:gd name="adj" fmla="val 4848"/>
            </a:avLst>
          </a:prstGeom>
          <a:solidFill>
            <a:srgbClr val="0B1F33"/>
          </a:solidFill>
          <a:ln w="12700">
            <a:solidFill>
              <a:srgbClr val="0B1F33"/>
            </a:solidFill>
            <a:prstDash val="solid"/>
          </a:ln>
        </p:spPr>
        <p:txBody>
          <a:bodyPr/>
          <a:lstStyle/>
          <a:p>
            <a:endParaRPr sz="2700"/>
          </a:p>
        </p:txBody>
      </p:sp>
      <p:sp>
        <p:nvSpPr>
          <p:cNvPr id="14" name="Text 12"/>
          <p:cNvSpPr/>
          <p:nvPr/>
        </p:nvSpPr>
        <p:spPr>
          <a:xfrm>
            <a:off x="5335524" y="2664061"/>
            <a:ext cx="3086100" cy="754380"/>
          </a:xfrm>
          <a:prstGeom prst="rect">
            <a:avLst/>
          </a:prstGeom>
          <a:noFill/>
          <a:ln/>
        </p:spPr>
        <p:txBody>
          <a:bodyPr wrap="square" lIns="0" tIns="0" rIns="0" bIns="0" rtlCol="0" anchor="ctr"/>
          <a:lstStyle/>
          <a:p>
            <a:pPr algn="ctr"/>
            <a:r>
              <a:rPr lang="en-US" sz="3600" b="1" dirty="0">
                <a:solidFill>
                  <a:srgbClr val="FFFFFF"/>
                </a:solidFill>
                <a:latin typeface="Aptos Display" pitchFamily="34" charset="0"/>
                <a:ea typeface="Aptos Display" pitchFamily="34" charset="-122"/>
                <a:cs typeface="Aptos Display" pitchFamily="34" charset="-120"/>
              </a:rPr>
              <a:t>₹300 Cr</a:t>
            </a:r>
            <a:endParaRPr lang="en-US" sz="3600" dirty="0"/>
          </a:p>
        </p:txBody>
      </p:sp>
      <p:sp>
        <p:nvSpPr>
          <p:cNvPr id="15" name="Text 13"/>
          <p:cNvSpPr/>
          <p:nvPr/>
        </p:nvSpPr>
        <p:spPr>
          <a:xfrm>
            <a:off x="5362956" y="3634740"/>
            <a:ext cx="3171444" cy="754380"/>
          </a:xfrm>
          <a:prstGeom prst="rect">
            <a:avLst/>
          </a:prstGeom>
          <a:noFill/>
          <a:ln/>
        </p:spPr>
        <p:txBody>
          <a:bodyPr wrap="square" lIns="0" tIns="0" rIns="0" bIns="0" rtlCol="0" anchor="ctr">
            <a:normAutofit/>
          </a:bodyPr>
          <a:lstStyle/>
          <a:p>
            <a:pPr algn="ctr"/>
            <a:r>
              <a:rPr lang="en-US" b="1" dirty="0">
                <a:solidFill>
                  <a:srgbClr val="B8C1C3"/>
                </a:solidFill>
                <a:latin typeface="Aptos" pitchFamily="34" charset="0"/>
                <a:ea typeface="Aptos" pitchFamily="34" charset="-122"/>
                <a:cs typeface="Aptos" pitchFamily="34" charset="-120"/>
              </a:rPr>
              <a:t>annual turnover scaled from ~₹1 Cr over leadership period</a:t>
            </a:r>
            <a:endParaRPr lang="en-US" b="1" dirty="0"/>
          </a:p>
        </p:txBody>
      </p:sp>
      <p:sp>
        <p:nvSpPr>
          <p:cNvPr id="16" name="Text 14"/>
          <p:cNvSpPr/>
          <p:nvPr/>
        </p:nvSpPr>
        <p:spPr>
          <a:xfrm>
            <a:off x="5362956" y="4430268"/>
            <a:ext cx="3058668" cy="205740"/>
          </a:xfrm>
          <a:prstGeom prst="rect">
            <a:avLst/>
          </a:prstGeom>
          <a:noFill/>
          <a:ln/>
        </p:spPr>
        <p:txBody>
          <a:bodyPr wrap="square" lIns="0" tIns="0" rIns="0" bIns="0" rtlCol="0" anchor="ctr"/>
          <a:lstStyle/>
          <a:p>
            <a:pPr algn="ctr"/>
            <a:r>
              <a:rPr lang="en-US" sz="1000" dirty="0">
                <a:solidFill>
                  <a:srgbClr val="B8C1C3"/>
                </a:solidFill>
                <a:latin typeface="Aptos" pitchFamily="34" charset="0"/>
                <a:ea typeface="Aptos" pitchFamily="34" charset="-122"/>
                <a:cs typeface="Aptos" pitchFamily="34" charset="-120"/>
              </a:rPr>
              <a:t>Profile</a:t>
            </a:r>
            <a:endParaRPr lang="en-US" sz="1000" dirty="0"/>
          </a:p>
        </p:txBody>
      </p:sp>
      <p:sp>
        <p:nvSpPr>
          <p:cNvPr id="17" name="Shape 15"/>
          <p:cNvSpPr/>
          <p:nvPr/>
        </p:nvSpPr>
        <p:spPr>
          <a:xfrm>
            <a:off x="8983980" y="2468880"/>
            <a:ext cx="3497580" cy="2263140"/>
          </a:xfrm>
          <a:prstGeom prst="roundRect">
            <a:avLst>
              <a:gd name="adj" fmla="val 4848"/>
            </a:avLst>
          </a:prstGeom>
          <a:solidFill>
            <a:srgbClr val="0B1F33"/>
          </a:solidFill>
          <a:ln w="12700">
            <a:solidFill>
              <a:srgbClr val="0B1F33"/>
            </a:solidFill>
            <a:prstDash val="solid"/>
          </a:ln>
        </p:spPr>
        <p:txBody>
          <a:bodyPr/>
          <a:lstStyle/>
          <a:p>
            <a:endParaRPr sz="2700"/>
          </a:p>
        </p:txBody>
      </p:sp>
      <p:sp>
        <p:nvSpPr>
          <p:cNvPr id="18" name="Text 16"/>
          <p:cNvSpPr/>
          <p:nvPr/>
        </p:nvSpPr>
        <p:spPr>
          <a:xfrm>
            <a:off x="9121140" y="2626614"/>
            <a:ext cx="3086100" cy="754380"/>
          </a:xfrm>
          <a:prstGeom prst="rect">
            <a:avLst/>
          </a:prstGeom>
          <a:noFill/>
          <a:ln/>
        </p:spPr>
        <p:txBody>
          <a:bodyPr wrap="square" lIns="0" tIns="0" rIns="0" bIns="0" rtlCol="0" anchor="ctr"/>
          <a:lstStyle/>
          <a:p>
            <a:pPr algn="ctr"/>
            <a:r>
              <a:rPr lang="en-US" sz="3600" b="1" dirty="0">
                <a:solidFill>
                  <a:srgbClr val="FFFFFF"/>
                </a:solidFill>
                <a:latin typeface="Aptos Display" pitchFamily="34" charset="0"/>
                <a:ea typeface="Aptos Display" pitchFamily="34" charset="-122"/>
                <a:cs typeface="Aptos Display" pitchFamily="34" charset="-120"/>
              </a:rPr>
              <a:t>3000+</a:t>
            </a:r>
            <a:endParaRPr lang="en-US" sz="3600" dirty="0"/>
          </a:p>
        </p:txBody>
      </p:sp>
      <p:sp>
        <p:nvSpPr>
          <p:cNvPr id="19" name="Text 17"/>
          <p:cNvSpPr/>
          <p:nvPr/>
        </p:nvSpPr>
        <p:spPr>
          <a:xfrm>
            <a:off x="8983980" y="3634740"/>
            <a:ext cx="3497580" cy="795528"/>
          </a:xfrm>
          <a:prstGeom prst="rect">
            <a:avLst/>
          </a:prstGeom>
          <a:noFill/>
          <a:ln/>
        </p:spPr>
        <p:txBody>
          <a:bodyPr wrap="square" lIns="0" tIns="0" rIns="0" bIns="0" rtlCol="0" anchor="ctr">
            <a:noAutofit/>
          </a:bodyPr>
          <a:lstStyle/>
          <a:p>
            <a:pPr algn="ctr"/>
            <a:r>
              <a:rPr lang="en-US" b="1" dirty="0">
                <a:solidFill>
                  <a:srgbClr val="B8C1C3"/>
                </a:solidFill>
                <a:latin typeface="Aptos" pitchFamily="34" charset="0"/>
                <a:ea typeface="Aptos" pitchFamily="34" charset="-122"/>
                <a:cs typeface="Aptos" pitchFamily="34" charset="-120"/>
              </a:rPr>
              <a:t>Pan India Projects exposure across Construction Industry Segments </a:t>
            </a:r>
            <a:endParaRPr lang="en-US" b="1" dirty="0"/>
          </a:p>
        </p:txBody>
      </p:sp>
      <p:sp>
        <p:nvSpPr>
          <p:cNvPr id="20" name="Text 18"/>
          <p:cNvSpPr/>
          <p:nvPr/>
        </p:nvSpPr>
        <p:spPr>
          <a:xfrm>
            <a:off x="9203436" y="4430268"/>
            <a:ext cx="3058668" cy="205740"/>
          </a:xfrm>
          <a:prstGeom prst="rect">
            <a:avLst/>
          </a:prstGeom>
          <a:noFill/>
          <a:ln/>
        </p:spPr>
        <p:txBody>
          <a:bodyPr wrap="square" lIns="0" tIns="0" rIns="0" bIns="0" rtlCol="0" anchor="ctr"/>
          <a:lstStyle/>
          <a:p>
            <a:pPr algn="ctr"/>
            <a:r>
              <a:rPr lang="en-US" sz="1000" dirty="0">
                <a:solidFill>
                  <a:srgbClr val="B8C1C3"/>
                </a:solidFill>
                <a:latin typeface="Aptos" pitchFamily="34" charset="0"/>
                <a:ea typeface="Aptos" pitchFamily="34" charset="-122"/>
                <a:cs typeface="Aptos" pitchFamily="34" charset="-120"/>
              </a:rPr>
              <a:t>Profile</a:t>
            </a:r>
            <a:endParaRPr lang="en-US" sz="1000" dirty="0"/>
          </a:p>
        </p:txBody>
      </p:sp>
      <p:sp>
        <p:nvSpPr>
          <p:cNvPr id="21" name="Shape 19"/>
          <p:cNvSpPr/>
          <p:nvPr/>
        </p:nvSpPr>
        <p:spPr>
          <a:xfrm>
            <a:off x="12824460" y="2468880"/>
            <a:ext cx="3497580" cy="2263140"/>
          </a:xfrm>
          <a:prstGeom prst="roundRect">
            <a:avLst>
              <a:gd name="adj" fmla="val 4848"/>
            </a:avLst>
          </a:prstGeom>
          <a:solidFill>
            <a:srgbClr val="0B1F33"/>
          </a:solidFill>
          <a:ln w="12700">
            <a:solidFill>
              <a:srgbClr val="0B1F33"/>
            </a:solidFill>
            <a:prstDash val="solid"/>
          </a:ln>
        </p:spPr>
        <p:txBody>
          <a:bodyPr/>
          <a:lstStyle/>
          <a:p>
            <a:endParaRPr sz="2700"/>
          </a:p>
        </p:txBody>
      </p:sp>
      <p:sp>
        <p:nvSpPr>
          <p:cNvPr id="22" name="Text 20"/>
          <p:cNvSpPr/>
          <p:nvPr/>
        </p:nvSpPr>
        <p:spPr>
          <a:xfrm>
            <a:off x="12863649" y="2626614"/>
            <a:ext cx="3086100" cy="754380"/>
          </a:xfrm>
          <a:prstGeom prst="rect">
            <a:avLst/>
          </a:prstGeom>
          <a:noFill/>
          <a:ln/>
        </p:spPr>
        <p:txBody>
          <a:bodyPr wrap="square" lIns="0" tIns="0" rIns="0" bIns="0" rtlCol="0" anchor="ctr"/>
          <a:lstStyle/>
          <a:p>
            <a:pPr algn="ctr"/>
            <a:r>
              <a:rPr lang="en-US" sz="3600" b="1" dirty="0">
                <a:solidFill>
                  <a:srgbClr val="FFFFFF"/>
                </a:solidFill>
                <a:latin typeface="Aptos Display" pitchFamily="34" charset="0"/>
                <a:ea typeface="Aptos Display" pitchFamily="34" charset="-122"/>
                <a:cs typeface="Aptos Display" pitchFamily="34" charset="-120"/>
              </a:rPr>
              <a:t>India</a:t>
            </a:r>
            <a:endParaRPr lang="en-US" sz="3600" dirty="0"/>
          </a:p>
        </p:txBody>
      </p:sp>
      <p:sp>
        <p:nvSpPr>
          <p:cNvPr id="23" name="Text 21"/>
          <p:cNvSpPr/>
          <p:nvPr/>
        </p:nvSpPr>
        <p:spPr>
          <a:xfrm>
            <a:off x="12878344" y="3634740"/>
            <a:ext cx="3352256" cy="754380"/>
          </a:xfrm>
          <a:prstGeom prst="rect">
            <a:avLst/>
          </a:prstGeom>
          <a:noFill/>
          <a:ln/>
        </p:spPr>
        <p:txBody>
          <a:bodyPr wrap="square" lIns="0" tIns="0" rIns="0" bIns="0" rtlCol="0" anchor="ctr">
            <a:noAutofit/>
          </a:bodyPr>
          <a:lstStyle/>
          <a:p>
            <a:pPr algn="ctr"/>
            <a:r>
              <a:rPr lang="en-US" b="1" dirty="0">
                <a:solidFill>
                  <a:srgbClr val="B8C1C3"/>
                </a:solidFill>
                <a:latin typeface="Aptos" pitchFamily="34" charset="0"/>
                <a:ea typeface="Aptos" pitchFamily="34" charset="-122"/>
                <a:cs typeface="Aptos" pitchFamily="34" charset="-120"/>
              </a:rPr>
              <a:t>Deep contextual experience of Indian site conditions, execution practices &amp; client expectations</a:t>
            </a:r>
            <a:endParaRPr lang="en-US" b="1" dirty="0"/>
          </a:p>
        </p:txBody>
      </p:sp>
      <p:sp>
        <p:nvSpPr>
          <p:cNvPr id="24" name="Text 22"/>
          <p:cNvSpPr/>
          <p:nvPr/>
        </p:nvSpPr>
        <p:spPr>
          <a:xfrm>
            <a:off x="13043916" y="4430268"/>
            <a:ext cx="3058668" cy="205740"/>
          </a:xfrm>
          <a:prstGeom prst="rect">
            <a:avLst/>
          </a:prstGeom>
          <a:noFill/>
          <a:ln/>
        </p:spPr>
        <p:txBody>
          <a:bodyPr wrap="square" lIns="0" tIns="0" rIns="0" bIns="0" rtlCol="0" anchor="ctr"/>
          <a:lstStyle/>
          <a:p>
            <a:pPr algn="ctr"/>
            <a:r>
              <a:rPr lang="en-US" sz="855" dirty="0">
                <a:solidFill>
                  <a:srgbClr val="B8C1C3"/>
                </a:solidFill>
                <a:latin typeface="Aptos" pitchFamily="34" charset="0"/>
                <a:ea typeface="Aptos" pitchFamily="34" charset="-122"/>
                <a:cs typeface="Aptos" pitchFamily="34" charset="-120"/>
              </a:rPr>
              <a:t>Profile</a:t>
            </a:r>
            <a:endParaRPr lang="en-US" sz="855" dirty="0"/>
          </a:p>
        </p:txBody>
      </p:sp>
      <p:sp>
        <p:nvSpPr>
          <p:cNvPr id="25" name="Shape 23"/>
          <p:cNvSpPr/>
          <p:nvPr/>
        </p:nvSpPr>
        <p:spPr>
          <a:xfrm>
            <a:off x="1143000" y="5568695"/>
            <a:ext cx="7924800" cy="2549647"/>
          </a:xfrm>
          <a:prstGeom prst="roundRect">
            <a:avLst>
              <a:gd name="adj" fmla="val 4848"/>
            </a:avLst>
          </a:prstGeom>
          <a:solidFill>
            <a:srgbClr val="F6F7F4"/>
          </a:solidFill>
          <a:ln w="8890">
            <a:solidFill>
              <a:srgbClr val="E9ECEC"/>
            </a:solidFill>
            <a:prstDash val="solid"/>
          </a:ln>
        </p:spPr>
        <p:txBody>
          <a:bodyPr/>
          <a:lstStyle/>
          <a:p>
            <a:endParaRPr sz="2700"/>
          </a:p>
        </p:txBody>
      </p:sp>
      <p:sp>
        <p:nvSpPr>
          <p:cNvPr id="26" name="Text 24"/>
          <p:cNvSpPr/>
          <p:nvPr/>
        </p:nvSpPr>
        <p:spPr>
          <a:xfrm>
            <a:off x="1618488" y="5705856"/>
            <a:ext cx="7050024" cy="356616"/>
          </a:xfrm>
          <a:prstGeom prst="rect">
            <a:avLst/>
          </a:prstGeom>
          <a:noFill/>
          <a:ln/>
        </p:spPr>
        <p:txBody>
          <a:bodyPr wrap="square" lIns="0" tIns="0" rIns="0" bIns="0" rtlCol="0" anchor="ctr"/>
          <a:lstStyle/>
          <a:p>
            <a:r>
              <a:rPr lang="en-US" sz="2400" b="1" dirty="0">
                <a:solidFill>
                  <a:schemeClr val="accent6">
                    <a:lumMod val="75000"/>
                  </a:schemeClr>
                </a:solidFill>
                <a:latin typeface="Aptos" pitchFamily="34" charset="0"/>
                <a:ea typeface="Aptos" pitchFamily="34" charset="-122"/>
                <a:cs typeface="Aptos" pitchFamily="34" charset="-120"/>
              </a:rPr>
              <a:t>What this means for clients</a:t>
            </a:r>
            <a:endParaRPr lang="en-US" sz="2400" dirty="0">
              <a:solidFill>
                <a:schemeClr val="accent6">
                  <a:lumMod val="75000"/>
                </a:schemeClr>
              </a:solidFill>
            </a:endParaRPr>
          </a:p>
        </p:txBody>
      </p:sp>
      <p:sp>
        <p:nvSpPr>
          <p:cNvPr id="27" name="Text 25"/>
          <p:cNvSpPr/>
          <p:nvPr/>
        </p:nvSpPr>
        <p:spPr>
          <a:xfrm>
            <a:off x="1303020" y="6070665"/>
            <a:ext cx="7395256" cy="1895980"/>
          </a:xfrm>
          <a:prstGeom prst="rect">
            <a:avLst/>
          </a:prstGeom>
          <a:noFill/>
          <a:ln/>
        </p:spPr>
        <p:txBody>
          <a:bodyPr wrap="square" lIns="0" tIns="0" rIns="0" bIns="0" rtlCol="0" anchor="t">
            <a:noAutofit/>
          </a:bodyPr>
          <a:lstStyle/>
          <a:p>
            <a:pPr marL="285750" indent="-285750">
              <a:lnSpc>
                <a:spcPct val="150000"/>
              </a:lnSpc>
              <a:buFont typeface="Arial" panose="020B0604020202020204" pitchFamily="34" charset="0"/>
              <a:buChar char="•"/>
            </a:pPr>
            <a:r>
              <a:rPr lang="en-US" sz="2000" b="1" dirty="0">
                <a:solidFill>
                  <a:srgbClr val="2E383A"/>
                </a:solidFill>
                <a:latin typeface="Aptos" pitchFamily="34" charset="0"/>
                <a:ea typeface="Aptos" pitchFamily="34" charset="-122"/>
                <a:cs typeface="Aptos" pitchFamily="34" charset="-120"/>
              </a:rPr>
              <a:t>Advice grounded in real project constructability, not theory alone</a:t>
            </a:r>
            <a:endParaRPr lang="en-US" sz="2000" b="1" dirty="0"/>
          </a:p>
          <a:p>
            <a:pPr marL="285750" indent="-285750">
              <a:lnSpc>
                <a:spcPct val="150000"/>
              </a:lnSpc>
              <a:buFont typeface="Arial" panose="020B0604020202020204" pitchFamily="34" charset="0"/>
              <a:buChar char="•"/>
            </a:pPr>
            <a:r>
              <a:rPr lang="en-US" sz="2000" b="1" dirty="0">
                <a:solidFill>
                  <a:srgbClr val="2E383A"/>
                </a:solidFill>
                <a:latin typeface="Aptos" pitchFamily="34" charset="0"/>
                <a:ea typeface="Aptos" pitchFamily="34" charset="-122"/>
                <a:cs typeface="Aptos" pitchFamily="34" charset="-120"/>
              </a:rPr>
              <a:t>Ability to anticipate failure modes across design, tender, execution and warranty stages for risk mitigation </a:t>
            </a:r>
            <a:endParaRPr lang="en-US" sz="2000" b="1" dirty="0"/>
          </a:p>
        </p:txBody>
      </p:sp>
      <p:sp>
        <p:nvSpPr>
          <p:cNvPr id="28" name="Shape 26"/>
          <p:cNvSpPr/>
          <p:nvPr/>
        </p:nvSpPr>
        <p:spPr>
          <a:xfrm>
            <a:off x="9411164" y="5612547"/>
            <a:ext cx="6873829" cy="2475737"/>
          </a:xfrm>
          <a:prstGeom prst="roundRect">
            <a:avLst>
              <a:gd name="adj" fmla="val 4848"/>
            </a:avLst>
          </a:prstGeom>
          <a:solidFill>
            <a:srgbClr val="F6F7F4"/>
          </a:solidFill>
          <a:ln w="8890">
            <a:solidFill>
              <a:srgbClr val="E9ECEC"/>
            </a:solidFill>
            <a:prstDash val="solid"/>
          </a:ln>
        </p:spPr>
        <p:txBody>
          <a:bodyPr/>
          <a:lstStyle/>
          <a:p>
            <a:endParaRPr sz="2700"/>
          </a:p>
        </p:txBody>
      </p:sp>
      <p:sp>
        <p:nvSpPr>
          <p:cNvPr id="29" name="Text 27"/>
          <p:cNvSpPr/>
          <p:nvPr/>
        </p:nvSpPr>
        <p:spPr>
          <a:xfrm>
            <a:off x="9596021" y="5579738"/>
            <a:ext cx="6432804" cy="356616"/>
          </a:xfrm>
          <a:prstGeom prst="rect">
            <a:avLst/>
          </a:prstGeom>
          <a:noFill/>
          <a:ln/>
        </p:spPr>
        <p:txBody>
          <a:bodyPr wrap="square" lIns="0" tIns="0" rIns="0" bIns="0" rtlCol="0" anchor="ctr"/>
          <a:lstStyle/>
          <a:p>
            <a:r>
              <a:rPr lang="en-US" sz="2400" b="1" dirty="0">
                <a:solidFill>
                  <a:srgbClr val="0E7C7B"/>
                </a:solidFill>
                <a:latin typeface="Aptos" pitchFamily="34" charset="0"/>
                <a:ea typeface="Aptos" pitchFamily="34" charset="-122"/>
                <a:cs typeface="Aptos" pitchFamily="34" charset="-120"/>
              </a:rPr>
              <a:t>Why it is different</a:t>
            </a:r>
            <a:endParaRPr lang="en-US" sz="2400" dirty="0"/>
          </a:p>
        </p:txBody>
      </p:sp>
      <p:sp>
        <p:nvSpPr>
          <p:cNvPr id="30" name="Text 28"/>
          <p:cNvSpPr/>
          <p:nvPr/>
        </p:nvSpPr>
        <p:spPr>
          <a:xfrm>
            <a:off x="9504130" y="5992569"/>
            <a:ext cx="6761988" cy="1881763"/>
          </a:xfrm>
          <a:prstGeom prst="rect">
            <a:avLst/>
          </a:prstGeom>
          <a:noFill/>
          <a:ln/>
        </p:spPr>
        <p:txBody>
          <a:bodyPr wrap="square" lIns="0" tIns="0" rIns="0" bIns="0" rtlCol="0" anchor="t">
            <a:noAutofit/>
          </a:bodyPr>
          <a:lstStyle/>
          <a:p>
            <a:pPr marL="285750" indent="-285750">
              <a:lnSpc>
                <a:spcPct val="150000"/>
              </a:lnSpc>
              <a:buFont typeface="Arial" panose="020B0604020202020204" pitchFamily="34" charset="0"/>
              <a:buChar char="•"/>
            </a:pPr>
            <a:r>
              <a:rPr lang="en-US" sz="2000" b="1" dirty="0">
                <a:solidFill>
                  <a:srgbClr val="2E383A"/>
                </a:solidFill>
                <a:latin typeface="Aptos" pitchFamily="34" charset="0"/>
                <a:ea typeface="Aptos" pitchFamily="34" charset="-122"/>
                <a:cs typeface="Aptos" pitchFamily="34" charset="-120"/>
              </a:rPr>
              <a:t>Independent, brand-agnostic specifications engineered with a practical execution lens</a:t>
            </a:r>
            <a:endParaRPr lang="en-US" sz="2000" b="1" dirty="0"/>
          </a:p>
          <a:p>
            <a:pPr marL="285750" indent="-285750">
              <a:lnSpc>
                <a:spcPct val="150000"/>
              </a:lnSpc>
              <a:buFont typeface="Arial" panose="020B0604020202020204" pitchFamily="34" charset="0"/>
              <a:buChar char="•"/>
            </a:pPr>
            <a:r>
              <a:rPr lang="en-US" sz="2000" b="1" dirty="0">
                <a:solidFill>
                  <a:srgbClr val="2E383A"/>
                </a:solidFill>
                <a:latin typeface="Aptos" pitchFamily="34" charset="0"/>
                <a:ea typeface="Aptos" pitchFamily="34" charset="-122"/>
                <a:cs typeface="Aptos" pitchFamily="34" charset="-120"/>
              </a:rPr>
              <a:t>Collaborative expert support to architects, structural consultants, PMCs and Project Owners</a:t>
            </a:r>
            <a:endParaRPr lang="en-US" sz="2000" b="1" dirty="0"/>
          </a:p>
        </p:txBody>
      </p:sp>
      <p:grpSp>
        <p:nvGrpSpPr>
          <p:cNvPr id="31" name="Group 2">
            <a:extLst>
              <a:ext uri="{FF2B5EF4-FFF2-40B4-BE49-F238E27FC236}">
                <a16:creationId xmlns:a16="http://schemas.microsoft.com/office/drawing/2014/main" id="{FA3DA604-1A66-3865-847F-CA23AA9F8335}"/>
              </a:ext>
            </a:extLst>
          </p:cNvPr>
          <p:cNvGrpSpPr/>
          <p:nvPr/>
        </p:nvGrpSpPr>
        <p:grpSpPr>
          <a:xfrm>
            <a:off x="0" y="0"/>
            <a:ext cx="18288000" cy="190500"/>
            <a:chOff x="0" y="0"/>
            <a:chExt cx="4816593" cy="884197"/>
          </a:xfrm>
        </p:grpSpPr>
        <p:sp>
          <p:nvSpPr>
            <p:cNvPr id="32" name="Freeform 3">
              <a:extLst>
                <a:ext uri="{FF2B5EF4-FFF2-40B4-BE49-F238E27FC236}">
                  <a16:creationId xmlns:a16="http://schemas.microsoft.com/office/drawing/2014/main" id="{B68D6D19-8810-2A51-E32F-BDE9890878A6}"/>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33" name="TextBox 4">
              <a:extLst>
                <a:ext uri="{FF2B5EF4-FFF2-40B4-BE49-F238E27FC236}">
                  <a16:creationId xmlns:a16="http://schemas.microsoft.com/office/drawing/2014/main" id="{494B6781-8404-54C5-E368-854424F2EF9C}"/>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34" name="Group 5">
            <a:extLst>
              <a:ext uri="{FF2B5EF4-FFF2-40B4-BE49-F238E27FC236}">
                <a16:creationId xmlns:a16="http://schemas.microsoft.com/office/drawing/2014/main" id="{10E0FBC4-9F8F-C714-CC02-DAD4FA53349E}"/>
              </a:ext>
            </a:extLst>
          </p:cNvPr>
          <p:cNvGrpSpPr/>
          <p:nvPr/>
        </p:nvGrpSpPr>
        <p:grpSpPr>
          <a:xfrm rot="-10800000">
            <a:off x="-1447800" y="-8209"/>
            <a:ext cx="3810000" cy="387116"/>
            <a:chOff x="0" y="0"/>
            <a:chExt cx="24122064" cy="6379210"/>
          </a:xfrm>
        </p:grpSpPr>
        <p:sp>
          <p:nvSpPr>
            <p:cNvPr id="35" name="Freeform 6">
              <a:extLst>
                <a:ext uri="{FF2B5EF4-FFF2-40B4-BE49-F238E27FC236}">
                  <a16:creationId xmlns:a16="http://schemas.microsoft.com/office/drawing/2014/main" id="{A658A01D-0525-2B81-36CE-ED55F8E26366}"/>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37" name="Freeform 7">
            <a:extLst>
              <a:ext uri="{FF2B5EF4-FFF2-40B4-BE49-F238E27FC236}">
                <a16:creationId xmlns:a16="http://schemas.microsoft.com/office/drawing/2014/main" id="{590E4C86-8867-C801-9500-CADAB7F3E00F}"/>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endParaRPr lang="en-IN"/>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E5070-986E-0CB3-DB0C-778B1684B8C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FB3C9E0-5125-DD2F-7FB4-CA4A33C00A60}"/>
              </a:ext>
            </a:extLst>
          </p:cNvPr>
          <p:cNvSpPr/>
          <p:nvPr/>
        </p:nvSpPr>
        <p:spPr>
          <a:xfrm>
            <a:off x="511646" y="595954"/>
            <a:ext cx="16047720" cy="617220"/>
          </a:xfrm>
          <a:prstGeom prst="rect">
            <a:avLst/>
          </a:prstGeom>
          <a:noFill/>
          <a:ln/>
        </p:spPr>
        <p:txBody>
          <a:bodyPr wrap="square" lIns="0" tIns="0" rIns="0" bIns="0" rtlCol="0" anchor="ctr"/>
          <a:lstStyle/>
          <a:p>
            <a:r>
              <a:rPr lang="en-US" sz="3750" b="1" dirty="0">
                <a:solidFill>
                  <a:srgbClr val="0B1F33"/>
                </a:solidFill>
                <a:latin typeface="Aptos Display" pitchFamily="34" charset="0"/>
                <a:ea typeface="Aptos Display" pitchFamily="34" charset="-122"/>
                <a:cs typeface="Aptos Display" pitchFamily="34" charset="-120"/>
              </a:rPr>
              <a:t>A Brief BIO of our Principal Consultant : Mehul Parikh</a:t>
            </a:r>
            <a:endParaRPr lang="en-US" sz="3750" dirty="0"/>
          </a:p>
        </p:txBody>
      </p:sp>
      <p:sp>
        <p:nvSpPr>
          <p:cNvPr id="6" name="Shape 4">
            <a:extLst>
              <a:ext uri="{FF2B5EF4-FFF2-40B4-BE49-F238E27FC236}">
                <a16:creationId xmlns:a16="http://schemas.microsoft.com/office/drawing/2014/main" id="{7E926093-15F8-8D78-E45E-1C59054D2299}"/>
              </a:ext>
            </a:extLst>
          </p:cNvPr>
          <p:cNvSpPr/>
          <p:nvPr/>
        </p:nvSpPr>
        <p:spPr>
          <a:xfrm>
            <a:off x="822960" y="9710928"/>
            <a:ext cx="16596360" cy="0"/>
          </a:xfrm>
          <a:prstGeom prst="line">
            <a:avLst/>
          </a:prstGeom>
          <a:noFill/>
          <a:ln w="8890">
            <a:solidFill>
              <a:srgbClr val="E9ECEC"/>
            </a:solidFill>
            <a:prstDash val="solid"/>
          </a:ln>
        </p:spPr>
        <p:txBody>
          <a:bodyPr/>
          <a:lstStyle/>
          <a:p>
            <a:endParaRPr sz="2700"/>
          </a:p>
        </p:txBody>
      </p:sp>
      <p:sp>
        <p:nvSpPr>
          <p:cNvPr id="8" name="Text 6">
            <a:extLst>
              <a:ext uri="{FF2B5EF4-FFF2-40B4-BE49-F238E27FC236}">
                <a16:creationId xmlns:a16="http://schemas.microsoft.com/office/drawing/2014/main" id="{FF5ED976-F54B-135E-B929-4C4812324D45}"/>
              </a:ext>
            </a:extLst>
          </p:cNvPr>
          <p:cNvSpPr/>
          <p:nvPr/>
        </p:nvSpPr>
        <p:spPr>
          <a:xfrm>
            <a:off x="13990320" y="9820656"/>
            <a:ext cx="3291840" cy="205740"/>
          </a:xfrm>
          <a:prstGeom prst="rect">
            <a:avLst/>
          </a:prstGeom>
          <a:noFill/>
          <a:ln/>
        </p:spPr>
        <p:txBody>
          <a:bodyPr wrap="square" lIns="0" tIns="0" rIns="0" bIns="0" rtlCol="0" anchor="ctr"/>
          <a:lstStyle/>
          <a:p>
            <a:pPr algn="r"/>
            <a:r>
              <a:rPr lang="en-US" sz="1020" dirty="0">
                <a:solidFill>
                  <a:srgbClr val="6B7477"/>
                </a:solidFill>
                <a:latin typeface="Aptos" pitchFamily="34" charset="0"/>
                <a:ea typeface="Aptos" pitchFamily="34" charset="-122"/>
                <a:cs typeface="Aptos" pitchFamily="34" charset="-120"/>
              </a:rPr>
              <a:t>Confidential discussion draft</a:t>
            </a:r>
            <a:endParaRPr lang="en-US" sz="1020" dirty="0"/>
          </a:p>
        </p:txBody>
      </p:sp>
      <p:sp>
        <p:nvSpPr>
          <p:cNvPr id="13" name="Text 11">
            <a:extLst>
              <a:ext uri="{FF2B5EF4-FFF2-40B4-BE49-F238E27FC236}">
                <a16:creationId xmlns:a16="http://schemas.microsoft.com/office/drawing/2014/main" id="{AE8AA34C-8BD8-7CDB-E9B5-AAA1CE4A3466}"/>
              </a:ext>
            </a:extLst>
          </p:cNvPr>
          <p:cNvSpPr/>
          <p:nvPr/>
        </p:nvSpPr>
        <p:spPr>
          <a:xfrm>
            <a:off x="276532" y="1586554"/>
            <a:ext cx="17678400" cy="8026317"/>
          </a:xfrm>
          <a:prstGeom prst="rect">
            <a:avLst/>
          </a:prstGeom>
          <a:solidFill>
            <a:schemeClr val="bg1">
              <a:lumMod val="85000"/>
            </a:schemeClr>
          </a:solidFill>
          <a:ln/>
        </p:spPr>
        <p:txBody>
          <a:bodyPr wrap="square" lIns="0" tIns="0" rIns="0" bIns="0" rtlCol="0" anchor="ctr"/>
          <a:lstStyle/>
          <a:p>
            <a:pPr marL="342900" indent="-342900">
              <a:lnSpc>
                <a:spcPct val="150000"/>
              </a:lnSpc>
              <a:buFont typeface="Arial" panose="020B0604020202020204" pitchFamily="34" charset="0"/>
              <a:buChar char="•"/>
            </a:pPr>
            <a:r>
              <a:rPr lang="en-US" sz="2000" b="1" dirty="0">
                <a:solidFill>
                  <a:srgbClr val="0E7C7B"/>
                </a:solidFill>
                <a:latin typeface="Aptos" pitchFamily="34" charset="0"/>
                <a:ea typeface="Aptos" pitchFamily="34" charset="-122"/>
                <a:cs typeface="Aptos" pitchFamily="34" charset="-120"/>
              </a:rPr>
              <a:t>A BE Civil graduate of 1995 from Pune University. </a:t>
            </a:r>
          </a:p>
          <a:p>
            <a:pPr marL="457200" indent="-457200">
              <a:lnSpc>
                <a:spcPct val="150000"/>
              </a:lnSpc>
              <a:buFont typeface="Arial" panose="020B0604020202020204" pitchFamily="34" charset="0"/>
              <a:buChar char="•"/>
            </a:pPr>
            <a:r>
              <a:rPr lang="en-US" sz="2000" b="1" dirty="0">
                <a:solidFill>
                  <a:srgbClr val="0E7C7B"/>
                </a:solidFill>
                <a:latin typeface="Aptos" pitchFamily="34" charset="0"/>
                <a:ea typeface="Aptos" pitchFamily="34" charset="-122"/>
                <a:cs typeface="Aptos" pitchFamily="34" charset="-120"/>
              </a:rPr>
              <a:t>Former Owner and MD of Nina Percept – India’s largest specialized waterproofing contracting company </a:t>
            </a:r>
          </a:p>
          <a:p>
            <a:pPr marL="457200" indent="-457200">
              <a:lnSpc>
                <a:spcPct val="150000"/>
              </a:lnSpc>
              <a:buFont typeface="Arial" panose="020B0604020202020204" pitchFamily="34" charset="0"/>
              <a:buChar char="•"/>
            </a:pPr>
            <a:r>
              <a:rPr lang="en-US" sz="2000" b="1" dirty="0">
                <a:solidFill>
                  <a:srgbClr val="0E7C7B"/>
                </a:solidFill>
                <a:latin typeface="Aptos" pitchFamily="34" charset="0"/>
                <a:ea typeface="Aptos" pitchFamily="34" charset="-122"/>
                <a:cs typeface="Aptos" pitchFamily="34" charset="-120"/>
              </a:rPr>
              <a:t>Successfully pioneered introduction / adoption in India of several global best practices in waterproofing &amp; specialty construction solutions :- </a:t>
            </a:r>
          </a:p>
          <a:p>
            <a:pPr marL="914400" lvl="1" indent="-457200">
              <a:lnSpc>
                <a:spcPct val="150000"/>
              </a:lnSpc>
              <a:buFont typeface="Wingdings" panose="05000000000000000000" pitchFamily="2" charset="2"/>
              <a:buChar char="Ø"/>
            </a:pPr>
            <a:r>
              <a:rPr lang="en-US" sz="2000" b="1" dirty="0">
                <a:solidFill>
                  <a:srgbClr val="0E7C7B"/>
                </a:solidFill>
                <a:latin typeface="Aptos" pitchFamily="34" charset="0"/>
                <a:ea typeface="Aptos" pitchFamily="34" charset="-122"/>
                <a:cs typeface="Aptos" pitchFamily="34" charset="-120"/>
              </a:rPr>
              <a:t>Synthetic PP Fibers</a:t>
            </a:r>
          </a:p>
          <a:p>
            <a:pPr marL="914400" lvl="1" indent="-457200">
              <a:lnSpc>
                <a:spcPct val="150000"/>
              </a:lnSpc>
              <a:buFont typeface="Wingdings" panose="05000000000000000000" pitchFamily="2" charset="2"/>
              <a:buChar char="Ø"/>
            </a:pPr>
            <a:r>
              <a:rPr lang="en-US" sz="2000" b="1" dirty="0">
                <a:solidFill>
                  <a:srgbClr val="0E7C7B"/>
                </a:solidFill>
                <a:latin typeface="Aptos" pitchFamily="34" charset="0"/>
                <a:ea typeface="Aptos" pitchFamily="34" charset="-122"/>
                <a:cs typeface="Aptos" pitchFamily="34" charset="-120"/>
              </a:rPr>
              <a:t>Fully bonded HDPE membranes </a:t>
            </a:r>
          </a:p>
          <a:p>
            <a:pPr marL="914400" lvl="1" indent="-457200">
              <a:lnSpc>
                <a:spcPct val="150000"/>
              </a:lnSpc>
              <a:buFont typeface="Wingdings" panose="05000000000000000000" pitchFamily="2" charset="2"/>
              <a:buChar char="Ø"/>
            </a:pPr>
            <a:r>
              <a:rPr lang="en-US" sz="2000" b="1" dirty="0">
                <a:solidFill>
                  <a:srgbClr val="0E7C7B"/>
                </a:solidFill>
                <a:latin typeface="Aptos" pitchFamily="34" charset="0"/>
                <a:ea typeface="Aptos" pitchFamily="34" charset="-122"/>
                <a:cs typeface="Aptos" pitchFamily="34" charset="-120"/>
              </a:rPr>
              <a:t>Waterborne Liquid rubber based Waterproofing membranes </a:t>
            </a:r>
          </a:p>
          <a:p>
            <a:pPr marL="914400" lvl="1" indent="-457200">
              <a:lnSpc>
                <a:spcPct val="150000"/>
              </a:lnSpc>
              <a:buFont typeface="Wingdings" panose="05000000000000000000" pitchFamily="2" charset="2"/>
              <a:buChar char="Ø"/>
            </a:pPr>
            <a:r>
              <a:rPr lang="en-US" sz="2000" b="1" dirty="0">
                <a:solidFill>
                  <a:srgbClr val="0E7C7B"/>
                </a:solidFill>
                <a:latin typeface="Aptos" pitchFamily="34" charset="0"/>
                <a:ea typeface="Aptos" pitchFamily="34" charset="-122"/>
                <a:cs typeface="Aptos" pitchFamily="34" charset="-120"/>
              </a:rPr>
              <a:t>Cold Spray Applied MMA resin based waterproofing </a:t>
            </a:r>
          </a:p>
          <a:p>
            <a:pPr marL="914400" lvl="1" indent="-457200">
              <a:lnSpc>
                <a:spcPct val="150000"/>
              </a:lnSpc>
              <a:buFont typeface="Wingdings" panose="05000000000000000000" pitchFamily="2" charset="2"/>
              <a:buChar char="Ø"/>
            </a:pPr>
            <a:r>
              <a:rPr lang="en-US" sz="2000" b="1" dirty="0">
                <a:solidFill>
                  <a:srgbClr val="0E7C7B"/>
                </a:solidFill>
                <a:latin typeface="Aptos" pitchFamily="34" charset="0"/>
                <a:ea typeface="Aptos" pitchFamily="34" charset="-122"/>
                <a:cs typeface="Aptos" pitchFamily="34" charset="-120"/>
              </a:rPr>
              <a:t>Epoxy-</a:t>
            </a:r>
            <a:r>
              <a:rPr lang="en-US" sz="2000" b="1" dirty="0" err="1">
                <a:solidFill>
                  <a:srgbClr val="0E7C7B"/>
                </a:solidFill>
                <a:latin typeface="Aptos" pitchFamily="34" charset="0"/>
                <a:ea typeface="Aptos" pitchFamily="34" charset="-122"/>
                <a:cs typeface="Aptos" pitchFamily="34" charset="-120"/>
              </a:rPr>
              <a:t>Polysulphide</a:t>
            </a:r>
            <a:r>
              <a:rPr lang="en-US" sz="2000" b="1" dirty="0">
                <a:solidFill>
                  <a:srgbClr val="0E7C7B"/>
                </a:solidFill>
                <a:latin typeface="Aptos" pitchFamily="34" charset="0"/>
                <a:ea typeface="Aptos" pitchFamily="34" charset="-122"/>
                <a:cs typeface="Aptos" pitchFamily="34" charset="-120"/>
              </a:rPr>
              <a:t> coatings for Water retaining structures </a:t>
            </a:r>
          </a:p>
          <a:p>
            <a:pPr marL="914400" lvl="1" indent="-457200">
              <a:lnSpc>
                <a:spcPct val="150000"/>
              </a:lnSpc>
              <a:buFont typeface="Wingdings" panose="05000000000000000000" pitchFamily="2" charset="2"/>
              <a:buChar char="Ø"/>
            </a:pPr>
            <a:r>
              <a:rPr lang="en-US" sz="2000" b="1">
                <a:solidFill>
                  <a:srgbClr val="0E7C7B"/>
                </a:solidFill>
                <a:latin typeface="Aptos" pitchFamily="34" charset="0"/>
                <a:ea typeface="Aptos" pitchFamily="34" charset="-122"/>
                <a:cs typeface="Aptos" pitchFamily="34" charset="-120"/>
              </a:rPr>
              <a:t>EIFS </a:t>
            </a:r>
            <a:endParaRPr lang="en-US" sz="2000" b="1" dirty="0">
              <a:solidFill>
                <a:srgbClr val="0E7C7B"/>
              </a:solidFill>
              <a:latin typeface="Aptos" pitchFamily="34" charset="0"/>
              <a:ea typeface="Aptos" pitchFamily="34" charset="-122"/>
              <a:cs typeface="Aptos" pitchFamily="34" charset="-120"/>
            </a:endParaRPr>
          </a:p>
          <a:p>
            <a:pPr marL="914400" lvl="1" indent="-457200">
              <a:lnSpc>
                <a:spcPct val="150000"/>
              </a:lnSpc>
              <a:buFont typeface="Wingdings" panose="05000000000000000000" pitchFamily="2" charset="2"/>
              <a:buChar char="Ø"/>
            </a:pPr>
            <a:r>
              <a:rPr lang="en-US" sz="2000" b="1" dirty="0">
                <a:solidFill>
                  <a:srgbClr val="0E7C7B"/>
                </a:solidFill>
                <a:latin typeface="Aptos" pitchFamily="34" charset="0"/>
                <a:ea typeface="Aptos" pitchFamily="34" charset="-122"/>
                <a:cs typeface="Aptos" pitchFamily="34" charset="-120"/>
              </a:rPr>
              <a:t>PVC-T lock membranes, </a:t>
            </a:r>
            <a:r>
              <a:rPr lang="en-US" sz="2000" b="1" dirty="0" err="1">
                <a:solidFill>
                  <a:srgbClr val="0E7C7B"/>
                </a:solidFill>
                <a:latin typeface="Aptos" pitchFamily="34" charset="0"/>
                <a:ea typeface="Aptos" pitchFamily="34" charset="-122"/>
                <a:cs typeface="Aptos" pitchFamily="34" charset="-120"/>
              </a:rPr>
              <a:t>etc</a:t>
            </a:r>
            <a:r>
              <a:rPr lang="en-US" sz="2000" b="1" dirty="0">
                <a:solidFill>
                  <a:srgbClr val="0E7C7B"/>
                </a:solidFill>
                <a:latin typeface="Aptos" pitchFamily="34" charset="0"/>
                <a:ea typeface="Aptos" pitchFamily="34" charset="-122"/>
                <a:cs typeface="Aptos" pitchFamily="34" charset="-120"/>
              </a:rPr>
              <a:t>, </a:t>
            </a:r>
            <a:r>
              <a:rPr lang="en-US" sz="2000" b="1" dirty="0" err="1">
                <a:solidFill>
                  <a:srgbClr val="0E7C7B"/>
                </a:solidFill>
                <a:latin typeface="Aptos" pitchFamily="34" charset="0"/>
                <a:ea typeface="Aptos" pitchFamily="34" charset="-122"/>
                <a:cs typeface="Aptos" pitchFamily="34" charset="-120"/>
              </a:rPr>
              <a:t>etc</a:t>
            </a:r>
            <a:r>
              <a:rPr lang="en-US" sz="2000" b="1" dirty="0">
                <a:solidFill>
                  <a:srgbClr val="0E7C7B"/>
                </a:solidFill>
                <a:latin typeface="Aptos" pitchFamily="34" charset="0"/>
                <a:ea typeface="Aptos" pitchFamily="34" charset="-122"/>
                <a:cs typeface="Aptos" pitchFamily="34" charset="-120"/>
              </a:rPr>
              <a:t> . </a:t>
            </a:r>
          </a:p>
          <a:p>
            <a:pPr marL="457200" indent="-457200">
              <a:lnSpc>
                <a:spcPct val="150000"/>
              </a:lnSpc>
              <a:buFont typeface="Arial" panose="020B0604020202020204" pitchFamily="34" charset="0"/>
              <a:buChar char="•"/>
            </a:pPr>
            <a:r>
              <a:rPr lang="en-US" sz="2000" b="1" dirty="0">
                <a:solidFill>
                  <a:srgbClr val="0E7C7B"/>
                </a:solidFill>
                <a:latin typeface="Aptos" pitchFamily="34" charset="0"/>
                <a:ea typeface="Aptos" pitchFamily="34" charset="-122"/>
                <a:cs typeface="Aptos" pitchFamily="34" charset="-120"/>
              </a:rPr>
              <a:t> Authored and secured a Patent in India for an innovative basement waterproofing system </a:t>
            </a:r>
          </a:p>
          <a:p>
            <a:pPr marL="457200" indent="-457200">
              <a:lnSpc>
                <a:spcPct val="150000"/>
              </a:lnSpc>
              <a:buFont typeface="Arial" panose="020B0604020202020204" pitchFamily="34" charset="0"/>
              <a:buChar char="•"/>
            </a:pPr>
            <a:r>
              <a:rPr lang="en-US" sz="2000" b="1" dirty="0">
                <a:solidFill>
                  <a:srgbClr val="0E7C7B"/>
                </a:solidFill>
                <a:latin typeface="Aptos" pitchFamily="34" charset="0"/>
                <a:ea typeface="Aptos" pitchFamily="34" charset="-122"/>
                <a:cs typeface="Aptos" pitchFamily="34" charset="-120"/>
              </a:rPr>
              <a:t>Co Authored the Hand Book on Waterproofing published by ICI </a:t>
            </a:r>
          </a:p>
          <a:p>
            <a:pPr marL="457200" indent="-457200">
              <a:lnSpc>
                <a:spcPct val="150000"/>
              </a:lnSpc>
              <a:buFont typeface="Arial" panose="020B0604020202020204" pitchFamily="34" charset="0"/>
              <a:buChar char="•"/>
            </a:pPr>
            <a:r>
              <a:rPr lang="en-US" sz="2000" b="1" dirty="0">
                <a:solidFill>
                  <a:srgbClr val="0E7C7B"/>
                </a:solidFill>
                <a:latin typeface="Aptos" pitchFamily="34" charset="0"/>
                <a:ea typeface="Aptos" pitchFamily="34" charset="-122"/>
                <a:cs typeface="Aptos" pitchFamily="34" charset="-120"/>
              </a:rPr>
              <a:t>Member of the BIS Sectional Committee on waterproofing- CED41 </a:t>
            </a:r>
          </a:p>
          <a:p>
            <a:pPr marL="457200" indent="-457200">
              <a:lnSpc>
                <a:spcPct val="150000"/>
              </a:lnSpc>
              <a:buFont typeface="Arial" panose="020B0604020202020204" pitchFamily="34" charset="0"/>
              <a:buChar char="•"/>
            </a:pPr>
            <a:r>
              <a:rPr lang="en-US" sz="2000" b="1" dirty="0">
                <a:solidFill>
                  <a:srgbClr val="0E7C7B"/>
                </a:solidFill>
                <a:latin typeface="Aptos" pitchFamily="34" charset="0"/>
                <a:ea typeface="Aptos" pitchFamily="34" charset="-122"/>
                <a:cs typeface="Aptos" pitchFamily="34" charset="-120"/>
              </a:rPr>
              <a:t>Part of a team of industry experts in CIDC drafting essential codes pertaining to waterproofing</a:t>
            </a:r>
          </a:p>
        </p:txBody>
      </p:sp>
      <p:grpSp>
        <p:nvGrpSpPr>
          <p:cNvPr id="15" name="Group 2">
            <a:extLst>
              <a:ext uri="{FF2B5EF4-FFF2-40B4-BE49-F238E27FC236}">
                <a16:creationId xmlns:a16="http://schemas.microsoft.com/office/drawing/2014/main" id="{D4DD79D4-5EB3-930F-1A9E-AAA09442492C}"/>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02D2430B-4261-89C5-4E27-C8F5732F7609}"/>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17" name="TextBox 4">
              <a:extLst>
                <a:ext uri="{FF2B5EF4-FFF2-40B4-BE49-F238E27FC236}">
                  <a16:creationId xmlns:a16="http://schemas.microsoft.com/office/drawing/2014/main" id="{C09C59D0-59CA-4AF7-2718-2849E2A844EE}"/>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18" name="Group 5">
            <a:extLst>
              <a:ext uri="{FF2B5EF4-FFF2-40B4-BE49-F238E27FC236}">
                <a16:creationId xmlns:a16="http://schemas.microsoft.com/office/drawing/2014/main" id="{35EA3E4A-4618-11D0-A466-288E8BBA4E7D}"/>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A4222B71-FFD3-4D04-78A4-A78FF383E811}"/>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21" name="Freeform 7">
            <a:extLst>
              <a:ext uri="{FF2B5EF4-FFF2-40B4-BE49-F238E27FC236}">
                <a16:creationId xmlns:a16="http://schemas.microsoft.com/office/drawing/2014/main" id="{907EF290-AAAE-6E96-8490-6F1F043F4BEC}"/>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endParaRPr lang="en-IN"/>
          </a:p>
        </p:txBody>
      </p:sp>
      <p:sp>
        <p:nvSpPr>
          <p:cNvPr id="3" name="Text 9">
            <a:extLst>
              <a:ext uri="{FF2B5EF4-FFF2-40B4-BE49-F238E27FC236}">
                <a16:creationId xmlns:a16="http://schemas.microsoft.com/office/drawing/2014/main" id="{15821A86-8B4B-80B8-2DE8-2B69014060B5}"/>
              </a:ext>
            </a:extLst>
          </p:cNvPr>
          <p:cNvSpPr/>
          <p:nvPr/>
        </p:nvSpPr>
        <p:spPr>
          <a:xfrm>
            <a:off x="879962" y="4158142"/>
            <a:ext cx="17408038" cy="5878740"/>
          </a:xfrm>
          <a:prstGeom prst="rect">
            <a:avLst/>
          </a:prstGeom>
          <a:noFill/>
          <a:ln/>
        </p:spPr>
        <p:txBody>
          <a:bodyPr wrap="square" lIns="0" tIns="0" rIns="0" bIns="0" rtlCol="0" anchor="t">
            <a:normAutofit/>
          </a:bodyPr>
          <a:lstStyle/>
          <a:p>
            <a:endParaRPr lang="en-IN" sz="2800" dirty="0"/>
          </a:p>
        </p:txBody>
      </p:sp>
    </p:spTree>
    <p:extLst>
      <p:ext uri="{BB962C8B-B14F-4D97-AF65-F5344CB8AC3E}">
        <p14:creationId xmlns:p14="http://schemas.microsoft.com/office/powerpoint/2010/main" val="1696811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a:extLst>
            <a:ext uri="{FF2B5EF4-FFF2-40B4-BE49-F238E27FC236}">
              <a16:creationId xmlns:a16="http://schemas.microsoft.com/office/drawing/2014/main" id="{80DFA6F8-8ED5-D90E-39FB-BE5A3CD3157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E5457B1-39A5-2390-53B5-E45012339E8B}"/>
              </a:ext>
            </a:extLst>
          </p:cNvPr>
          <p:cNvSpPr/>
          <p:nvPr/>
        </p:nvSpPr>
        <p:spPr>
          <a:xfrm>
            <a:off x="1165860" y="3497580"/>
            <a:ext cx="17007840" cy="1165860"/>
          </a:xfrm>
          <a:prstGeom prst="rect">
            <a:avLst/>
          </a:prstGeom>
          <a:noFill/>
          <a:ln/>
        </p:spPr>
        <p:txBody>
          <a:bodyPr wrap="square" lIns="0" tIns="0" rIns="0" bIns="0" rtlCol="0" anchor="ct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Aptos Display" pitchFamily="34" charset="0"/>
                <a:ea typeface="Aptos Display" pitchFamily="34" charset="-122"/>
                <a:cs typeface="Aptos Display" pitchFamily="34" charset="-120"/>
              </a:rPr>
              <a:t>Mehul Parikh – </a:t>
            </a:r>
          </a:p>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Aptos Display" pitchFamily="34" charset="0"/>
                <a:ea typeface="Aptos Display" pitchFamily="34" charset="-122"/>
                <a:cs typeface="Aptos Display" pitchFamily="34" charset="-120"/>
              </a:rPr>
              <a:t>Unmatched Expertise &amp; Experience in Design &amp; Build of Waterproofing Solutions</a:t>
            </a:r>
          </a:p>
        </p:txBody>
      </p:sp>
      <p:sp>
        <p:nvSpPr>
          <p:cNvPr id="3" name="Shape 1">
            <a:extLst>
              <a:ext uri="{FF2B5EF4-FFF2-40B4-BE49-F238E27FC236}">
                <a16:creationId xmlns:a16="http://schemas.microsoft.com/office/drawing/2014/main" id="{B7006473-1CBC-A447-6908-A229D19D0BCF}"/>
              </a:ext>
            </a:extLst>
          </p:cNvPr>
          <p:cNvSpPr/>
          <p:nvPr/>
        </p:nvSpPr>
        <p:spPr>
          <a:xfrm>
            <a:off x="1207008" y="4869180"/>
            <a:ext cx="3017520" cy="0"/>
          </a:xfrm>
          <a:prstGeom prst="line">
            <a:avLst/>
          </a:prstGeom>
          <a:noFill/>
          <a:ln w="38100">
            <a:solidFill>
              <a:srgbClr val="0E7C7B"/>
            </a:solidFill>
            <a:prstDash val="solid"/>
          </a:ln>
        </p:spPr>
        <p: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1A1EB817-4FF0-9DC9-3028-B1237ECAD710}"/>
              </a:ext>
            </a:extLst>
          </p:cNvPr>
          <p:cNvSpPr/>
          <p:nvPr/>
        </p:nvSpPr>
        <p:spPr>
          <a:xfrm>
            <a:off x="1234439" y="5239512"/>
            <a:ext cx="16672561" cy="960120"/>
          </a:xfrm>
          <a:prstGeom prst="rect">
            <a:avLst/>
          </a:prstGeom>
          <a:noFill/>
          <a:ln/>
        </p:spPr>
        <p:txBody>
          <a:bodyPr wrap="square" lIns="0" tIns="0" rIns="0" bIns="0" rtlCol="0" anchor="ctr"/>
          <a:lstStyle/>
          <a:p>
            <a:pPr lvl="0">
              <a:defRPr/>
            </a:pPr>
            <a:r>
              <a:rPr lang="en-US" sz="2400" b="1" dirty="0">
                <a:solidFill>
                  <a:srgbClr val="F79646">
                    <a:lumMod val="75000"/>
                  </a:srgbClr>
                </a:solidFill>
                <a:latin typeface="Aptos" pitchFamily="34" charset="0"/>
                <a:ea typeface="Aptos" pitchFamily="34" charset="-122"/>
                <a:cs typeface="Aptos" pitchFamily="34" charset="-120"/>
              </a:rPr>
              <a:t>A Glimpse of Some Landmark projects that have benefited from Mehul’s Expertise while he led Nina Percept</a:t>
            </a:r>
            <a:endParaRPr lang="en-US" sz="2400" b="1" dirty="0">
              <a:solidFill>
                <a:srgbClr val="F79646">
                  <a:lumMod val="75000"/>
                </a:srgbClr>
              </a:solidFill>
              <a:latin typeface="Calibri"/>
            </a:endParaRPr>
          </a:p>
        </p:txBody>
      </p:sp>
    </p:spTree>
    <p:extLst>
      <p:ext uri="{BB962C8B-B14F-4D97-AF65-F5344CB8AC3E}">
        <p14:creationId xmlns:p14="http://schemas.microsoft.com/office/powerpoint/2010/main" val="40381594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BB1AC-2E9B-B9CB-D353-4ED17F74FC9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0AD1DD01-686E-4884-BD6F-DCD517820AA8}"/>
              </a:ext>
            </a:extLst>
          </p:cNvPr>
          <p:cNvSpPr/>
          <p:nvPr/>
        </p:nvSpPr>
        <p:spPr>
          <a:xfrm>
            <a:off x="422945" y="491490"/>
            <a:ext cx="16047720" cy="6172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0B1F33"/>
                </a:solidFill>
                <a:latin typeface="Aptos Display" pitchFamily="34" charset="0"/>
                <a:ea typeface="Aptos Display" pitchFamily="34" charset="-122"/>
                <a:cs typeface="Aptos Display" pitchFamily="34" charset="-120"/>
              </a:rPr>
              <a:t>Mehul Parikh – An Unmatched Expertise &amp; Experience Design &amp; Build Solutions based approach</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 3">
            <a:extLst>
              <a:ext uri="{FF2B5EF4-FFF2-40B4-BE49-F238E27FC236}">
                <a16:creationId xmlns:a16="http://schemas.microsoft.com/office/drawing/2014/main" id="{3B893D59-30EE-4775-D7F4-F9E85AD34EE5}"/>
              </a:ext>
            </a:extLst>
          </p:cNvPr>
          <p:cNvSpPr/>
          <p:nvPr/>
        </p:nvSpPr>
        <p:spPr>
          <a:xfrm>
            <a:off x="422945" y="1145912"/>
            <a:ext cx="159105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79646">
                    <a:lumMod val="75000"/>
                  </a:srgbClr>
                </a:solidFill>
                <a:effectLst/>
                <a:uLnTx/>
                <a:uFillTx/>
                <a:latin typeface="Aptos" pitchFamily="34" charset="0"/>
                <a:ea typeface="Aptos" pitchFamily="34" charset="-122"/>
                <a:cs typeface="Aptos" pitchFamily="34" charset="-120"/>
              </a:rPr>
              <a:t>Some Landmark </a:t>
            </a:r>
            <a:r>
              <a:rPr lang="en-US" sz="2700" b="1" dirty="0">
                <a:solidFill>
                  <a:srgbClr val="F79646">
                    <a:lumMod val="75000"/>
                  </a:srgbClr>
                </a:solidFill>
                <a:latin typeface="Aptos" pitchFamily="34" charset="0"/>
                <a:ea typeface="Aptos" pitchFamily="34" charset="-122"/>
                <a:cs typeface="Aptos" pitchFamily="34" charset="-120"/>
              </a:rPr>
              <a:t>projects that have benefited from Mehul’s Expertise while he led Nina Percept</a:t>
            </a:r>
            <a:endParaRPr kumimoji="0" lang="en-US" sz="2700" b="1" i="0" u="none" strike="noStrike" kern="1200" cap="none" spc="0" normalizeH="0" baseline="0" noProof="0" dirty="0">
              <a:ln>
                <a:noFill/>
              </a:ln>
              <a:solidFill>
                <a:srgbClr val="F79646">
                  <a:lumMod val="75000"/>
                </a:srgbClr>
              </a:solidFill>
              <a:effectLst/>
              <a:uLnTx/>
              <a:uFillTx/>
              <a:latin typeface="Calibri"/>
              <a:ea typeface="+mn-ea"/>
              <a:cs typeface="+mn-cs"/>
            </a:endParaRPr>
          </a:p>
        </p:txBody>
      </p:sp>
      <p:sp>
        <p:nvSpPr>
          <p:cNvPr id="6" name="Shape 4">
            <a:extLst>
              <a:ext uri="{FF2B5EF4-FFF2-40B4-BE49-F238E27FC236}">
                <a16:creationId xmlns:a16="http://schemas.microsoft.com/office/drawing/2014/main" id="{04B9684C-9140-B138-E087-1E5C8B5DBB9E}"/>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a:extLst>
              <a:ext uri="{FF2B5EF4-FFF2-40B4-BE49-F238E27FC236}">
                <a16:creationId xmlns:a16="http://schemas.microsoft.com/office/drawing/2014/main" id="{5F09613D-82D8-A6B5-ED0D-BB6BB4AB554B}"/>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5" name="Group 2">
            <a:extLst>
              <a:ext uri="{FF2B5EF4-FFF2-40B4-BE49-F238E27FC236}">
                <a16:creationId xmlns:a16="http://schemas.microsoft.com/office/drawing/2014/main" id="{F76D95FA-6F73-5019-A9F7-F8628818CF21}"/>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A3E4F0A2-24A3-51B2-3B39-031FFBB06293}"/>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4">
              <a:extLst>
                <a:ext uri="{FF2B5EF4-FFF2-40B4-BE49-F238E27FC236}">
                  <a16:creationId xmlns:a16="http://schemas.microsoft.com/office/drawing/2014/main" id="{E6DE2F51-93DD-9612-BBB7-6443732CF14D}"/>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5">
            <a:extLst>
              <a:ext uri="{FF2B5EF4-FFF2-40B4-BE49-F238E27FC236}">
                <a16:creationId xmlns:a16="http://schemas.microsoft.com/office/drawing/2014/main" id="{E0BD252B-EFF5-E3D5-1CDD-098C25D43B7A}"/>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CBA4EC75-AB6E-59A3-C9F2-B5B9436D6E3D}"/>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Freeform 7">
            <a:extLst>
              <a:ext uri="{FF2B5EF4-FFF2-40B4-BE49-F238E27FC236}">
                <a16:creationId xmlns:a16="http://schemas.microsoft.com/office/drawing/2014/main" id="{6CC27940-53E5-ACE9-D915-324D6B75FA77}"/>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D6C80577-658F-4093-53DC-4A5ADE809F09}"/>
              </a:ext>
            </a:extLst>
          </p:cNvPr>
          <p:cNvSpPr/>
          <p:nvPr/>
        </p:nvSpPr>
        <p:spPr>
          <a:xfrm>
            <a:off x="6934200" y="1647200"/>
            <a:ext cx="4766305" cy="546269"/>
          </a:xfrm>
          <a:prstGeom prst="rect">
            <a:avLst/>
          </a:prstGeom>
        </p:spPr>
        <p:txBody>
          <a:bodyPr wrap="none" lIns="114268" tIns="57133" rIns="114268" bIns="57133">
            <a:spAutoFit/>
          </a:bodyPr>
          <a:lstStyle/>
          <a:p>
            <a:pPr algn="ctr" defTabSz="816059"/>
            <a:r>
              <a:rPr lang="en-US" sz="2800" b="1" dirty="0">
                <a:solidFill>
                  <a:srgbClr val="1D3482"/>
                </a:solidFill>
                <a:latin typeface="Calibri"/>
              </a:rPr>
              <a:t>Premium Residential Projects  </a:t>
            </a:r>
          </a:p>
        </p:txBody>
      </p:sp>
      <p:pic>
        <p:nvPicPr>
          <p:cNvPr id="20" name="Picture 11" descr="A picture containing text, city&#10;&#10;Description automatically generated">
            <a:extLst>
              <a:ext uri="{FF2B5EF4-FFF2-40B4-BE49-F238E27FC236}">
                <a16:creationId xmlns:a16="http://schemas.microsoft.com/office/drawing/2014/main" id="{A1C35434-FD15-28CB-C72D-9F44662DCFEE}"/>
              </a:ext>
            </a:extLst>
          </p:cNvPr>
          <p:cNvPicPr>
            <a:picLocks noChangeAspect="1"/>
          </p:cNvPicPr>
          <p:nvPr/>
        </p:nvPicPr>
        <p:blipFill>
          <a:blip r:embed="rId4"/>
          <a:stretch>
            <a:fillRect/>
          </a:stretch>
        </p:blipFill>
        <p:spPr>
          <a:xfrm>
            <a:off x="497747" y="2768179"/>
            <a:ext cx="4491789" cy="2877554"/>
          </a:xfrm>
          <a:prstGeom prst="rect">
            <a:avLst/>
          </a:prstGeom>
        </p:spPr>
      </p:pic>
      <p:sp>
        <p:nvSpPr>
          <p:cNvPr id="23" name="Rectangle 22">
            <a:extLst>
              <a:ext uri="{FF2B5EF4-FFF2-40B4-BE49-F238E27FC236}">
                <a16:creationId xmlns:a16="http://schemas.microsoft.com/office/drawing/2014/main" id="{BF12D69F-704B-F717-D09E-914AAE42488D}"/>
              </a:ext>
            </a:extLst>
          </p:cNvPr>
          <p:cNvSpPr/>
          <p:nvPr/>
        </p:nvSpPr>
        <p:spPr>
          <a:xfrm>
            <a:off x="886434" y="5727836"/>
            <a:ext cx="3714414"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Oberoi 360 West Mumbai </a:t>
            </a:r>
          </a:p>
        </p:txBody>
      </p:sp>
      <p:pic>
        <p:nvPicPr>
          <p:cNvPr id="25" name="Picture 24">
            <a:extLst>
              <a:ext uri="{FF2B5EF4-FFF2-40B4-BE49-F238E27FC236}">
                <a16:creationId xmlns:a16="http://schemas.microsoft.com/office/drawing/2014/main" id="{3D12FD31-5189-5C3B-74F7-22E7F36AE247}"/>
              </a:ext>
            </a:extLst>
          </p:cNvPr>
          <p:cNvPicPr>
            <a:picLocks noChangeAspect="1"/>
          </p:cNvPicPr>
          <p:nvPr/>
        </p:nvPicPr>
        <p:blipFill>
          <a:blip r:embed="rId5"/>
          <a:stretch>
            <a:fillRect/>
          </a:stretch>
        </p:blipFill>
        <p:spPr>
          <a:xfrm>
            <a:off x="7010400" y="2998087"/>
            <a:ext cx="5041726" cy="6134100"/>
          </a:xfrm>
          <a:prstGeom prst="rect">
            <a:avLst/>
          </a:prstGeom>
        </p:spPr>
      </p:pic>
      <p:sp>
        <p:nvSpPr>
          <p:cNvPr id="27" name="Rectangle 26">
            <a:extLst>
              <a:ext uri="{FF2B5EF4-FFF2-40B4-BE49-F238E27FC236}">
                <a16:creationId xmlns:a16="http://schemas.microsoft.com/office/drawing/2014/main" id="{CCB09744-96AC-A136-2D29-7144307C8D0C}"/>
              </a:ext>
            </a:extLst>
          </p:cNvPr>
          <p:cNvSpPr/>
          <p:nvPr/>
        </p:nvSpPr>
        <p:spPr>
          <a:xfrm>
            <a:off x="8077200" y="9320553"/>
            <a:ext cx="3053785"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Lodha Park, Mumbai </a:t>
            </a:r>
          </a:p>
        </p:txBody>
      </p:sp>
      <p:pic>
        <p:nvPicPr>
          <p:cNvPr id="29" name="Picture 28">
            <a:extLst>
              <a:ext uri="{FF2B5EF4-FFF2-40B4-BE49-F238E27FC236}">
                <a16:creationId xmlns:a16="http://schemas.microsoft.com/office/drawing/2014/main" id="{F38FBAFE-01B9-86E0-4FBF-2834A3CE8CEA}"/>
              </a:ext>
            </a:extLst>
          </p:cNvPr>
          <p:cNvPicPr>
            <a:picLocks noChangeAspect="1"/>
          </p:cNvPicPr>
          <p:nvPr/>
        </p:nvPicPr>
        <p:blipFill>
          <a:blip r:embed="rId6"/>
          <a:stretch>
            <a:fillRect/>
          </a:stretch>
        </p:blipFill>
        <p:spPr>
          <a:xfrm>
            <a:off x="516622" y="6549179"/>
            <a:ext cx="4493141" cy="2877561"/>
          </a:xfrm>
          <a:prstGeom prst="rect">
            <a:avLst/>
          </a:prstGeom>
        </p:spPr>
      </p:pic>
      <p:sp>
        <p:nvSpPr>
          <p:cNvPr id="31" name="Rectangle 30">
            <a:extLst>
              <a:ext uri="{FF2B5EF4-FFF2-40B4-BE49-F238E27FC236}">
                <a16:creationId xmlns:a16="http://schemas.microsoft.com/office/drawing/2014/main" id="{8A85B165-0AA1-E701-703E-BCF96CF491D8}"/>
              </a:ext>
            </a:extLst>
          </p:cNvPr>
          <p:cNvSpPr/>
          <p:nvPr/>
        </p:nvSpPr>
        <p:spPr>
          <a:xfrm>
            <a:off x="1007238" y="9460876"/>
            <a:ext cx="3331617"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Godrej Planet, Mumbai</a:t>
            </a:r>
          </a:p>
        </p:txBody>
      </p:sp>
      <p:pic>
        <p:nvPicPr>
          <p:cNvPr id="33" name="Picture 32">
            <a:extLst>
              <a:ext uri="{FF2B5EF4-FFF2-40B4-BE49-F238E27FC236}">
                <a16:creationId xmlns:a16="http://schemas.microsoft.com/office/drawing/2014/main" id="{856196DB-AEB4-9F3A-E81E-B751BE395CE3}"/>
              </a:ext>
            </a:extLst>
          </p:cNvPr>
          <p:cNvPicPr>
            <a:picLocks noChangeAspect="1"/>
          </p:cNvPicPr>
          <p:nvPr/>
        </p:nvPicPr>
        <p:blipFill>
          <a:blip r:embed="rId7"/>
          <a:stretch>
            <a:fillRect/>
          </a:stretch>
        </p:blipFill>
        <p:spPr>
          <a:xfrm>
            <a:off x="13326429" y="2640916"/>
            <a:ext cx="4460104" cy="2862342"/>
          </a:xfrm>
          <a:prstGeom prst="rect">
            <a:avLst/>
          </a:prstGeom>
        </p:spPr>
      </p:pic>
      <p:sp>
        <p:nvSpPr>
          <p:cNvPr id="35" name="Rectangle 34">
            <a:extLst>
              <a:ext uri="{FF2B5EF4-FFF2-40B4-BE49-F238E27FC236}">
                <a16:creationId xmlns:a16="http://schemas.microsoft.com/office/drawing/2014/main" id="{115FD58F-7E01-0531-0363-1F143078CD49}"/>
              </a:ext>
            </a:extLst>
          </p:cNvPr>
          <p:cNvSpPr/>
          <p:nvPr/>
        </p:nvSpPr>
        <p:spPr>
          <a:xfrm>
            <a:off x="14166991" y="5650386"/>
            <a:ext cx="2938497"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Aparna Sarovar, </a:t>
            </a:r>
            <a:r>
              <a:rPr lang="en-US" sz="2500" b="1" dirty="0" err="1">
                <a:solidFill>
                  <a:srgbClr val="1D3482"/>
                </a:solidFill>
                <a:latin typeface="Calibri"/>
              </a:rPr>
              <a:t>Hyd</a:t>
            </a:r>
            <a:endParaRPr lang="en-US" sz="2500" b="1" dirty="0">
              <a:solidFill>
                <a:srgbClr val="1D3482"/>
              </a:solidFill>
              <a:latin typeface="Calibri"/>
            </a:endParaRPr>
          </a:p>
        </p:txBody>
      </p:sp>
      <p:pic>
        <p:nvPicPr>
          <p:cNvPr id="37" name="Picture 36">
            <a:extLst>
              <a:ext uri="{FF2B5EF4-FFF2-40B4-BE49-F238E27FC236}">
                <a16:creationId xmlns:a16="http://schemas.microsoft.com/office/drawing/2014/main" id="{0D622D3B-5494-9F7E-A307-C705E5A6CDA9}"/>
              </a:ext>
            </a:extLst>
          </p:cNvPr>
          <p:cNvPicPr>
            <a:picLocks noChangeAspect="1"/>
          </p:cNvPicPr>
          <p:nvPr/>
        </p:nvPicPr>
        <p:blipFill>
          <a:blip r:embed="rId8"/>
          <a:stretch>
            <a:fillRect/>
          </a:stretch>
        </p:blipFill>
        <p:spPr>
          <a:xfrm>
            <a:off x="13286905" y="6276408"/>
            <a:ext cx="4487045" cy="2877561"/>
          </a:xfrm>
          <a:prstGeom prst="rect">
            <a:avLst/>
          </a:prstGeom>
        </p:spPr>
      </p:pic>
      <p:sp>
        <p:nvSpPr>
          <p:cNvPr id="39" name="Rectangle 38">
            <a:extLst>
              <a:ext uri="{FF2B5EF4-FFF2-40B4-BE49-F238E27FC236}">
                <a16:creationId xmlns:a16="http://schemas.microsoft.com/office/drawing/2014/main" id="{12F9199C-1C30-5CAF-33B5-AEA99D601740}"/>
              </a:ext>
            </a:extLst>
          </p:cNvPr>
          <p:cNvSpPr/>
          <p:nvPr/>
        </p:nvSpPr>
        <p:spPr>
          <a:xfrm>
            <a:off x="13974940" y="9200494"/>
            <a:ext cx="3828227"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Lodha World One, Mumbai</a:t>
            </a:r>
          </a:p>
        </p:txBody>
      </p:sp>
    </p:spTree>
    <p:extLst>
      <p:ext uri="{BB962C8B-B14F-4D97-AF65-F5344CB8AC3E}">
        <p14:creationId xmlns:p14="http://schemas.microsoft.com/office/powerpoint/2010/main" val="2346513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BB136-028B-1285-5F3E-CA818354CCC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6F0C618-7D43-680B-89B3-2E427C9B1CB7}"/>
              </a:ext>
            </a:extLst>
          </p:cNvPr>
          <p:cNvSpPr/>
          <p:nvPr/>
        </p:nvSpPr>
        <p:spPr>
          <a:xfrm>
            <a:off x="452306" y="576071"/>
            <a:ext cx="16047720" cy="6172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0B1F33"/>
                </a:solidFill>
                <a:latin typeface="Aptos Display" pitchFamily="34" charset="0"/>
                <a:ea typeface="Aptos Display" pitchFamily="34" charset="-122"/>
                <a:cs typeface="Aptos Display" pitchFamily="34" charset="-120"/>
              </a:rPr>
              <a:t>Mehul Parikh – An Unmatched Expertise &amp; Experience Design &amp; Build Solutions based approach</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 3">
            <a:extLst>
              <a:ext uri="{FF2B5EF4-FFF2-40B4-BE49-F238E27FC236}">
                <a16:creationId xmlns:a16="http://schemas.microsoft.com/office/drawing/2014/main" id="{591A0C02-F36C-5066-0DA3-C132535FC680}"/>
              </a:ext>
            </a:extLst>
          </p:cNvPr>
          <p:cNvSpPr/>
          <p:nvPr/>
        </p:nvSpPr>
        <p:spPr>
          <a:xfrm>
            <a:off x="452306" y="1221002"/>
            <a:ext cx="159105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79646">
                    <a:lumMod val="75000"/>
                  </a:srgbClr>
                </a:solidFill>
                <a:effectLst/>
                <a:uLnTx/>
                <a:uFillTx/>
                <a:latin typeface="Aptos" pitchFamily="34" charset="0"/>
                <a:ea typeface="Aptos" pitchFamily="34" charset="-122"/>
                <a:cs typeface="Aptos" pitchFamily="34" charset="-120"/>
              </a:rPr>
              <a:t>Some Landmark </a:t>
            </a:r>
            <a:r>
              <a:rPr lang="en-US" sz="2700" b="1" dirty="0">
                <a:solidFill>
                  <a:srgbClr val="F79646">
                    <a:lumMod val="75000"/>
                  </a:srgbClr>
                </a:solidFill>
                <a:latin typeface="Aptos" pitchFamily="34" charset="0"/>
                <a:ea typeface="Aptos" pitchFamily="34" charset="-122"/>
                <a:cs typeface="Aptos" pitchFamily="34" charset="-120"/>
              </a:rPr>
              <a:t>projects that have benefited from Mehul’s Expertise while he led Nina Percept</a:t>
            </a:r>
            <a:endParaRPr kumimoji="0" lang="en-US" sz="2700" b="1" i="0" u="none" strike="noStrike" kern="1200" cap="none" spc="0" normalizeH="0" baseline="0" noProof="0" dirty="0">
              <a:ln>
                <a:noFill/>
              </a:ln>
              <a:solidFill>
                <a:srgbClr val="F79646">
                  <a:lumMod val="75000"/>
                </a:srgbClr>
              </a:solidFill>
              <a:effectLst/>
              <a:uLnTx/>
              <a:uFillTx/>
              <a:latin typeface="Calibri"/>
              <a:ea typeface="+mn-ea"/>
              <a:cs typeface="+mn-cs"/>
            </a:endParaRPr>
          </a:p>
        </p:txBody>
      </p:sp>
      <p:sp>
        <p:nvSpPr>
          <p:cNvPr id="6" name="Shape 4">
            <a:extLst>
              <a:ext uri="{FF2B5EF4-FFF2-40B4-BE49-F238E27FC236}">
                <a16:creationId xmlns:a16="http://schemas.microsoft.com/office/drawing/2014/main" id="{121AB318-50AF-AEAA-ADD7-625299DAF92F}"/>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a:extLst>
              <a:ext uri="{FF2B5EF4-FFF2-40B4-BE49-F238E27FC236}">
                <a16:creationId xmlns:a16="http://schemas.microsoft.com/office/drawing/2014/main" id="{E0B955F7-8E35-8ABB-DAD5-070DDA4EEF07}"/>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5" name="Group 2">
            <a:extLst>
              <a:ext uri="{FF2B5EF4-FFF2-40B4-BE49-F238E27FC236}">
                <a16:creationId xmlns:a16="http://schemas.microsoft.com/office/drawing/2014/main" id="{5CBB2FDF-D102-C8CD-EEAA-9D1CF450F805}"/>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0A1B904B-837C-8C72-DD82-A255C1CC93A1}"/>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4">
              <a:extLst>
                <a:ext uri="{FF2B5EF4-FFF2-40B4-BE49-F238E27FC236}">
                  <a16:creationId xmlns:a16="http://schemas.microsoft.com/office/drawing/2014/main" id="{9A8D9CD9-BAFB-E7D1-01A0-27BF0B051D66}"/>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5">
            <a:extLst>
              <a:ext uri="{FF2B5EF4-FFF2-40B4-BE49-F238E27FC236}">
                <a16:creationId xmlns:a16="http://schemas.microsoft.com/office/drawing/2014/main" id="{FD1FCB0F-48F4-9FEE-EA52-6DD4C2FB9F2E}"/>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9C47647A-D949-6A81-55B3-6C0CD05FB891}"/>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Freeform 7">
            <a:extLst>
              <a:ext uri="{FF2B5EF4-FFF2-40B4-BE49-F238E27FC236}">
                <a16:creationId xmlns:a16="http://schemas.microsoft.com/office/drawing/2014/main" id="{5418134D-5FD7-A6E9-9358-D29E3AC94A54}"/>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F2176250-B7FB-6E68-D264-14B17C399B02}"/>
              </a:ext>
            </a:extLst>
          </p:cNvPr>
          <p:cNvSpPr/>
          <p:nvPr/>
        </p:nvSpPr>
        <p:spPr>
          <a:xfrm>
            <a:off x="7103057" y="1744958"/>
            <a:ext cx="3449790" cy="546269"/>
          </a:xfrm>
          <a:prstGeom prst="rect">
            <a:avLst/>
          </a:prstGeom>
        </p:spPr>
        <p:txBody>
          <a:bodyPr wrap="none" lIns="114268" tIns="57133" rIns="114268" bIns="57133">
            <a:spAutoFit/>
          </a:bodyPr>
          <a:lstStyle/>
          <a:p>
            <a:pPr algn="ctr" defTabSz="816059"/>
            <a:r>
              <a:rPr lang="en-US" sz="2800" b="1" dirty="0">
                <a:solidFill>
                  <a:srgbClr val="1D3482"/>
                </a:solidFill>
                <a:latin typeface="Calibri"/>
              </a:rPr>
              <a:t>Commercial Projects  </a:t>
            </a:r>
          </a:p>
        </p:txBody>
      </p:sp>
      <p:pic>
        <p:nvPicPr>
          <p:cNvPr id="7" name="Picture 6">
            <a:extLst>
              <a:ext uri="{FF2B5EF4-FFF2-40B4-BE49-F238E27FC236}">
                <a16:creationId xmlns:a16="http://schemas.microsoft.com/office/drawing/2014/main" id="{136C2C63-AC6C-09F5-F0B8-F19B26721DE8}"/>
              </a:ext>
            </a:extLst>
          </p:cNvPr>
          <p:cNvPicPr>
            <a:picLocks noChangeAspect="1"/>
          </p:cNvPicPr>
          <p:nvPr/>
        </p:nvPicPr>
        <p:blipFill>
          <a:blip r:embed="rId4"/>
          <a:stretch>
            <a:fillRect/>
          </a:stretch>
        </p:blipFill>
        <p:spPr>
          <a:xfrm>
            <a:off x="483066" y="2658192"/>
            <a:ext cx="4493141" cy="2883658"/>
          </a:xfrm>
          <a:prstGeom prst="rect">
            <a:avLst/>
          </a:prstGeom>
        </p:spPr>
      </p:pic>
      <p:pic>
        <p:nvPicPr>
          <p:cNvPr id="10" name="Picture 9">
            <a:extLst>
              <a:ext uri="{FF2B5EF4-FFF2-40B4-BE49-F238E27FC236}">
                <a16:creationId xmlns:a16="http://schemas.microsoft.com/office/drawing/2014/main" id="{34ABE820-41A0-2C22-71B4-DF4766A3C83E}"/>
              </a:ext>
            </a:extLst>
          </p:cNvPr>
          <p:cNvPicPr>
            <a:picLocks noChangeAspect="1"/>
          </p:cNvPicPr>
          <p:nvPr/>
        </p:nvPicPr>
        <p:blipFill>
          <a:blip r:embed="rId5"/>
          <a:stretch>
            <a:fillRect/>
          </a:stretch>
        </p:blipFill>
        <p:spPr>
          <a:xfrm>
            <a:off x="364874" y="5546922"/>
            <a:ext cx="4840644" cy="682811"/>
          </a:xfrm>
          <a:prstGeom prst="rect">
            <a:avLst/>
          </a:prstGeom>
        </p:spPr>
      </p:pic>
      <p:pic>
        <p:nvPicPr>
          <p:cNvPr id="12" name="Picture 11">
            <a:extLst>
              <a:ext uri="{FF2B5EF4-FFF2-40B4-BE49-F238E27FC236}">
                <a16:creationId xmlns:a16="http://schemas.microsoft.com/office/drawing/2014/main" id="{00559106-A0A2-86A5-045B-3EBBC285CDEF}"/>
              </a:ext>
            </a:extLst>
          </p:cNvPr>
          <p:cNvPicPr>
            <a:picLocks noChangeAspect="1"/>
          </p:cNvPicPr>
          <p:nvPr/>
        </p:nvPicPr>
        <p:blipFill>
          <a:blip r:embed="rId6"/>
          <a:stretch>
            <a:fillRect/>
          </a:stretch>
        </p:blipFill>
        <p:spPr>
          <a:xfrm>
            <a:off x="6629400" y="2640365"/>
            <a:ext cx="4493141" cy="2883658"/>
          </a:xfrm>
          <a:prstGeom prst="rect">
            <a:avLst/>
          </a:prstGeom>
        </p:spPr>
      </p:pic>
      <p:sp>
        <p:nvSpPr>
          <p:cNvPr id="14" name="Rectangle 13">
            <a:extLst>
              <a:ext uri="{FF2B5EF4-FFF2-40B4-BE49-F238E27FC236}">
                <a16:creationId xmlns:a16="http://schemas.microsoft.com/office/drawing/2014/main" id="{D7F27C7B-11F4-22EF-3347-3D32C26937E2}"/>
              </a:ext>
            </a:extLst>
          </p:cNvPr>
          <p:cNvSpPr/>
          <p:nvPr/>
        </p:nvSpPr>
        <p:spPr>
          <a:xfrm>
            <a:off x="6338718" y="5638275"/>
            <a:ext cx="5159105"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TCS Various Phases , Hinjewadi, Pune</a:t>
            </a:r>
          </a:p>
        </p:txBody>
      </p:sp>
      <p:pic>
        <p:nvPicPr>
          <p:cNvPr id="22" name="Picture 21">
            <a:extLst>
              <a:ext uri="{FF2B5EF4-FFF2-40B4-BE49-F238E27FC236}">
                <a16:creationId xmlns:a16="http://schemas.microsoft.com/office/drawing/2014/main" id="{BA568F85-5F6A-B3E1-0DC5-352D17721398}"/>
              </a:ext>
            </a:extLst>
          </p:cNvPr>
          <p:cNvPicPr>
            <a:picLocks noChangeAspect="1"/>
          </p:cNvPicPr>
          <p:nvPr/>
        </p:nvPicPr>
        <p:blipFill>
          <a:blip r:embed="rId7"/>
          <a:stretch>
            <a:fillRect/>
          </a:stretch>
        </p:blipFill>
        <p:spPr>
          <a:xfrm>
            <a:off x="12649200" y="2658192"/>
            <a:ext cx="4487045" cy="2883658"/>
          </a:xfrm>
          <a:prstGeom prst="rect">
            <a:avLst/>
          </a:prstGeom>
        </p:spPr>
      </p:pic>
      <p:sp>
        <p:nvSpPr>
          <p:cNvPr id="24" name="Rectangle 23">
            <a:extLst>
              <a:ext uri="{FF2B5EF4-FFF2-40B4-BE49-F238E27FC236}">
                <a16:creationId xmlns:a16="http://schemas.microsoft.com/office/drawing/2014/main" id="{D18CD8FD-205B-1451-EAF0-50B405300647}"/>
              </a:ext>
            </a:extLst>
          </p:cNvPr>
          <p:cNvSpPr/>
          <p:nvPr/>
        </p:nvSpPr>
        <p:spPr>
          <a:xfrm>
            <a:off x="13493270" y="5602116"/>
            <a:ext cx="3066096"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Godrej </a:t>
            </a:r>
            <a:r>
              <a:rPr lang="en-US" sz="2500" b="1" dirty="0" err="1">
                <a:solidFill>
                  <a:srgbClr val="1D3482"/>
                </a:solidFill>
                <a:latin typeface="Calibri"/>
              </a:rPr>
              <a:t>BKC</a:t>
            </a:r>
            <a:r>
              <a:rPr lang="en-US" sz="2500" b="1" dirty="0">
                <a:solidFill>
                  <a:srgbClr val="1D3482"/>
                </a:solidFill>
                <a:latin typeface="Calibri"/>
              </a:rPr>
              <a:t>, Mumbai</a:t>
            </a:r>
          </a:p>
        </p:txBody>
      </p:sp>
      <p:pic>
        <p:nvPicPr>
          <p:cNvPr id="26" name="Picture 25">
            <a:extLst>
              <a:ext uri="{FF2B5EF4-FFF2-40B4-BE49-F238E27FC236}">
                <a16:creationId xmlns:a16="http://schemas.microsoft.com/office/drawing/2014/main" id="{00D5A1D0-535B-2FF8-39A4-CAAB3B797B2C}"/>
              </a:ext>
            </a:extLst>
          </p:cNvPr>
          <p:cNvPicPr>
            <a:picLocks noChangeAspect="1"/>
          </p:cNvPicPr>
          <p:nvPr/>
        </p:nvPicPr>
        <p:blipFill>
          <a:blip r:embed="rId8"/>
          <a:stretch>
            <a:fillRect/>
          </a:stretch>
        </p:blipFill>
        <p:spPr>
          <a:xfrm>
            <a:off x="609600" y="6421608"/>
            <a:ext cx="4487045" cy="2877561"/>
          </a:xfrm>
          <a:prstGeom prst="rect">
            <a:avLst/>
          </a:prstGeom>
        </p:spPr>
      </p:pic>
      <p:pic>
        <p:nvPicPr>
          <p:cNvPr id="28" name="Picture 27">
            <a:extLst>
              <a:ext uri="{FF2B5EF4-FFF2-40B4-BE49-F238E27FC236}">
                <a16:creationId xmlns:a16="http://schemas.microsoft.com/office/drawing/2014/main" id="{36558636-286B-81D5-810F-CF8E876EA265}"/>
              </a:ext>
            </a:extLst>
          </p:cNvPr>
          <p:cNvPicPr>
            <a:picLocks noChangeAspect="1"/>
          </p:cNvPicPr>
          <p:nvPr/>
        </p:nvPicPr>
        <p:blipFill>
          <a:blip r:embed="rId9"/>
          <a:stretch>
            <a:fillRect/>
          </a:stretch>
        </p:blipFill>
        <p:spPr>
          <a:xfrm>
            <a:off x="12649200" y="6182409"/>
            <a:ext cx="4621076" cy="3080717"/>
          </a:xfrm>
          <a:prstGeom prst="rect">
            <a:avLst/>
          </a:prstGeom>
        </p:spPr>
      </p:pic>
      <p:sp>
        <p:nvSpPr>
          <p:cNvPr id="30" name="Rectangle 29">
            <a:extLst>
              <a:ext uri="{FF2B5EF4-FFF2-40B4-BE49-F238E27FC236}">
                <a16:creationId xmlns:a16="http://schemas.microsoft.com/office/drawing/2014/main" id="{D3C1432E-51F4-352A-A949-1D5D8DF56047}"/>
              </a:ext>
            </a:extLst>
          </p:cNvPr>
          <p:cNvSpPr/>
          <p:nvPr/>
        </p:nvSpPr>
        <p:spPr>
          <a:xfrm>
            <a:off x="12785029" y="9355872"/>
            <a:ext cx="4215385"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Various </a:t>
            </a:r>
            <a:r>
              <a:rPr lang="en-US" sz="2500" b="1" dirty="0" err="1">
                <a:solidFill>
                  <a:srgbClr val="1D3482"/>
                </a:solidFill>
                <a:latin typeface="Calibri"/>
              </a:rPr>
              <a:t>Bldgs</a:t>
            </a:r>
            <a:r>
              <a:rPr lang="en-US" sz="2500" b="1" dirty="0">
                <a:solidFill>
                  <a:srgbClr val="1D3482"/>
                </a:solidFill>
                <a:latin typeface="Calibri"/>
              </a:rPr>
              <a:t>, Mindspace </a:t>
            </a:r>
            <a:r>
              <a:rPr lang="en-US" sz="2500" b="1" dirty="0" err="1">
                <a:solidFill>
                  <a:srgbClr val="1D3482"/>
                </a:solidFill>
                <a:latin typeface="Calibri"/>
              </a:rPr>
              <a:t>Hyd</a:t>
            </a:r>
            <a:endParaRPr lang="en-US" sz="2500" b="1" dirty="0">
              <a:solidFill>
                <a:srgbClr val="1D3482"/>
              </a:solidFill>
              <a:latin typeface="Calibri"/>
            </a:endParaRPr>
          </a:p>
        </p:txBody>
      </p:sp>
      <p:sp>
        <p:nvSpPr>
          <p:cNvPr id="32" name="Rectangle 31">
            <a:extLst>
              <a:ext uri="{FF2B5EF4-FFF2-40B4-BE49-F238E27FC236}">
                <a16:creationId xmlns:a16="http://schemas.microsoft.com/office/drawing/2014/main" id="{5EA40B07-C655-54DB-6485-62FAC3C75CB7}"/>
              </a:ext>
            </a:extLst>
          </p:cNvPr>
          <p:cNvSpPr/>
          <p:nvPr/>
        </p:nvSpPr>
        <p:spPr>
          <a:xfrm>
            <a:off x="403797" y="9460876"/>
            <a:ext cx="4898649"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Various </a:t>
            </a:r>
            <a:r>
              <a:rPr lang="en-US" sz="2500" b="1" dirty="0" err="1">
                <a:solidFill>
                  <a:srgbClr val="1D3482"/>
                </a:solidFill>
                <a:latin typeface="Calibri"/>
              </a:rPr>
              <a:t>Bldgs</a:t>
            </a:r>
            <a:r>
              <a:rPr lang="en-US" sz="2500" b="1" dirty="0">
                <a:solidFill>
                  <a:srgbClr val="1D3482"/>
                </a:solidFill>
                <a:latin typeface="Calibri"/>
              </a:rPr>
              <a:t>, Mindspace, Mumbai</a:t>
            </a:r>
          </a:p>
        </p:txBody>
      </p:sp>
      <p:sp>
        <p:nvSpPr>
          <p:cNvPr id="34" name="Rectangle 33">
            <a:extLst>
              <a:ext uri="{FF2B5EF4-FFF2-40B4-BE49-F238E27FC236}">
                <a16:creationId xmlns:a16="http://schemas.microsoft.com/office/drawing/2014/main" id="{4EBAD807-8B60-5100-DE48-AB7815C6491E}"/>
              </a:ext>
            </a:extLst>
          </p:cNvPr>
          <p:cNvSpPr/>
          <p:nvPr/>
        </p:nvSpPr>
        <p:spPr>
          <a:xfrm>
            <a:off x="6292150" y="9423423"/>
            <a:ext cx="5546518" cy="500103"/>
          </a:xfrm>
          <a:prstGeom prst="rect">
            <a:avLst/>
          </a:prstGeom>
        </p:spPr>
        <p:txBody>
          <a:bodyPr wrap="none" lIns="114268" tIns="57133" rIns="114268" bIns="57133">
            <a:spAutoFit/>
          </a:bodyPr>
          <a:lstStyle/>
          <a:p>
            <a:pPr defTabSz="816059"/>
            <a:r>
              <a:rPr lang="en-US" sz="2500" b="1" dirty="0" err="1">
                <a:solidFill>
                  <a:srgbClr val="1D3482"/>
                </a:solidFill>
                <a:latin typeface="Calibri"/>
              </a:rPr>
              <a:t>Inorbit</a:t>
            </a:r>
            <a:r>
              <a:rPr lang="en-US" sz="2500" b="1" dirty="0">
                <a:solidFill>
                  <a:srgbClr val="1D3482"/>
                </a:solidFill>
                <a:latin typeface="Calibri"/>
              </a:rPr>
              <a:t> Malls at Malad &amp; Vashi, Mumbai</a:t>
            </a:r>
          </a:p>
        </p:txBody>
      </p:sp>
      <p:pic>
        <p:nvPicPr>
          <p:cNvPr id="36" name="Picture 35">
            <a:extLst>
              <a:ext uri="{FF2B5EF4-FFF2-40B4-BE49-F238E27FC236}">
                <a16:creationId xmlns:a16="http://schemas.microsoft.com/office/drawing/2014/main" id="{13E21EC6-305A-CDB4-566A-6C8FFD990F12}"/>
              </a:ext>
            </a:extLst>
          </p:cNvPr>
          <p:cNvPicPr>
            <a:picLocks noChangeAspect="1"/>
          </p:cNvPicPr>
          <p:nvPr/>
        </p:nvPicPr>
        <p:blipFill>
          <a:blip r:embed="rId10"/>
          <a:stretch>
            <a:fillRect/>
          </a:stretch>
        </p:blipFill>
        <p:spPr>
          <a:xfrm>
            <a:off x="6629400" y="6436135"/>
            <a:ext cx="4487045" cy="2877561"/>
          </a:xfrm>
          <a:prstGeom prst="rect">
            <a:avLst/>
          </a:prstGeom>
        </p:spPr>
      </p:pic>
    </p:spTree>
    <p:extLst>
      <p:ext uri="{BB962C8B-B14F-4D97-AF65-F5344CB8AC3E}">
        <p14:creationId xmlns:p14="http://schemas.microsoft.com/office/powerpoint/2010/main" val="4263993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033CA-89EA-E115-C659-537C8353B47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FF49604-8B82-D5BA-020D-5564A04EAFB3}"/>
              </a:ext>
            </a:extLst>
          </p:cNvPr>
          <p:cNvSpPr/>
          <p:nvPr/>
        </p:nvSpPr>
        <p:spPr>
          <a:xfrm>
            <a:off x="452306" y="576071"/>
            <a:ext cx="16047720" cy="6172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0B1F33"/>
                </a:solidFill>
                <a:latin typeface="Aptos Display" pitchFamily="34" charset="0"/>
                <a:ea typeface="Aptos Display" pitchFamily="34" charset="-122"/>
                <a:cs typeface="Aptos Display" pitchFamily="34" charset="-120"/>
              </a:rPr>
              <a:t>Mehul Parikh – An Unmatched Expertise &amp; Experience Design &amp; Build Solutions based approach</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 3">
            <a:extLst>
              <a:ext uri="{FF2B5EF4-FFF2-40B4-BE49-F238E27FC236}">
                <a16:creationId xmlns:a16="http://schemas.microsoft.com/office/drawing/2014/main" id="{1B9A00AB-4A75-FEC4-EB26-95D4937595F5}"/>
              </a:ext>
            </a:extLst>
          </p:cNvPr>
          <p:cNvSpPr/>
          <p:nvPr/>
        </p:nvSpPr>
        <p:spPr>
          <a:xfrm>
            <a:off x="452306" y="1221002"/>
            <a:ext cx="159105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79646">
                    <a:lumMod val="75000"/>
                  </a:srgbClr>
                </a:solidFill>
                <a:effectLst/>
                <a:uLnTx/>
                <a:uFillTx/>
                <a:latin typeface="Aptos" pitchFamily="34" charset="0"/>
                <a:ea typeface="Aptos" pitchFamily="34" charset="-122"/>
                <a:cs typeface="Aptos" pitchFamily="34" charset="-120"/>
              </a:rPr>
              <a:t>Some Landmark </a:t>
            </a:r>
            <a:r>
              <a:rPr lang="en-US" sz="2700" b="1" dirty="0">
                <a:solidFill>
                  <a:srgbClr val="F79646">
                    <a:lumMod val="75000"/>
                  </a:srgbClr>
                </a:solidFill>
                <a:latin typeface="Aptos" pitchFamily="34" charset="0"/>
                <a:ea typeface="Aptos" pitchFamily="34" charset="-122"/>
                <a:cs typeface="Aptos" pitchFamily="34" charset="-120"/>
              </a:rPr>
              <a:t>projects that have benefited from Mehul’s Expertise while he led Nina Percept</a:t>
            </a:r>
            <a:endParaRPr kumimoji="0" lang="en-US" sz="2700" b="1" i="0" u="none" strike="noStrike" kern="1200" cap="none" spc="0" normalizeH="0" baseline="0" noProof="0" dirty="0">
              <a:ln>
                <a:noFill/>
              </a:ln>
              <a:solidFill>
                <a:srgbClr val="F79646">
                  <a:lumMod val="75000"/>
                </a:srgbClr>
              </a:solidFill>
              <a:effectLst/>
              <a:uLnTx/>
              <a:uFillTx/>
              <a:latin typeface="Calibri"/>
              <a:ea typeface="+mn-ea"/>
              <a:cs typeface="+mn-cs"/>
            </a:endParaRPr>
          </a:p>
        </p:txBody>
      </p:sp>
      <p:sp>
        <p:nvSpPr>
          <p:cNvPr id="6" name="Shape 4">
            <a:extLst>
              <a:ext uri="{FF2B5EF4-FFF2-40B4-BE49-F238E27FC236}">
                <a16:creationId xmlns:a16="http://schemas.microsoft.com/office/drawing/2014/main" id="{792852B2-40C9-C5C8-7E7B-71DBBB40FADF}"/>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a:extLst>
              <a:ext uri="{FF2B5EF4-FFF2-40B4-BE49-F238E27FC236}">
                <a16:creationId xmlns:a16="http://schemas.microsoft.com/office/drawing/2014/main" id="{2B886988-06B7-88B6-8849-18A9B608C052}"/>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5" name="Group 2">
            <a:extLst>
              <a:ext uri="{FF2B5EF4-FFF2-40B4-BE49-F238E27FC236}">
                <a16:creationId xmlns:a16="http://schemas.microsoft.com/office/drawing/2014/main" id="{BCC4E372-2197-4DD7-D380-79460A411944}"/>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6C8C4635-1B50-5C24-D4A2-5EDD3D52B5BB}"/>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4">
              <a:extLst>
                <a:ext uri="{FF2B5EF4-FFF2-40B4-BE49-F238E27FC236}">
                  <a16:creationId xmlns:a16="http://schemas.microsoft.com/office/drawing/2014/main" id="{F95C737E-9E65-EA6D-827A-A92758CC47F2}"/>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5">
            <a:extLst>
              <a:ext uri="{FF2B5EF4-FFF2-40B4-BE49-F238E27FC236}">
                <a16:creationId xmlns:a16="http://schemas.microsoft.com/office/drawing/2014/main" id="{C87A724A-303D-A99B-C20C-48DC94C0AD52}"/>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2F78C15A-6BB5-237C-105A-76C2CECD3294}"/>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Freeform 7">
            <a:extLst>
              <a:ext uri="{FF2B5EF4-FFF2-40B4-BE49-F238E27FC236}">
                <a16:creationId xmlns:a16="http://schemas.microsoft.com/office/drawing/2014/main" id="{2E14C829-CEED-ABD9-5F7B-C86FE3A08770}"/>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9444671D-6BF7-3DF1-77EB-0275BB62A687}"/>
              </a:ext>
            </a:extLst>
          </p:cNvPr>
          <p:cNvSpPr/>
          <p:nvPr/>
        </p:nvSpPr>
        <p:spPr>
          <a:xfrm>
            <a:off x="7103057" y="1744958"/>
            <a:ext cx="3449790" cy="546269"/>
          </a:xfrm>
          <a:prstGeom prst="rect">
            <a:avLst/>
          </a:prstGeom>
        </p:spPr>
        <p:txBody>
          <a:bodyPr wrap="none" lIns="114268" tIns="57133" rIns="114268" bIns="57133">
            <a:spAutoFit/>
          </a:bodyPr>
          <a:lstStyle/>
          <a:p>
            <a:pPr algn="ctr" defTabSz="816059"/>
            <a:r>
              <a:rPr lang="en-US" sz="2800" b="1" dirty="0">
                <a:solidFill>
                  <a:srgbClr val="1D3482"/>
                </a:solidFill>
                <a:latin typeface="Calibri"/>
              </a:rPr>
              <a:t>Commercial Projects  </a:t>
            </a:r>
          </a:p>
        </p:txBody>
      </p:sp>
      <p:sp>
        <p:nvSpPr>
          <p:cNvPr id="14" name="Rectangle 13">
            <a:extLst>
              <a:ext uri="{FF2B5EF4-FFF2-40B4-BE49-F238E27FC236}">
                <a16:creationId xmlns:a16="http://schemas.microsoft.com/office/drawing/2014/main" id="{C33B43CE-2318-B905-794C-B778724B1A86}"/>
              </a:ext>
            </a:extLst>
          </p:cNvPr>
          <p:cNvSpPr/>
          <p:nvPr/>
        </p:nvSpPr>
        <p:spPr>
          <a:xfrm>
            <a:off x="6712521" y="5470399"/>
            <a:ext cx="4220771"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Surat Diamond Bourse, Surat </a:t>
            </a:r>
          </a:p>
        </p:txBody>
      </p:sp>
      <p:sp>
        <p:nvSpPr>
          <p:cNvPr id="24" name="Rectangle 23">
            <a:extLst>
              <a:ext uri="{FF2B5EF4-FFF2-40B4-BE49-F238E27FC236}">
                <a16:creationId xmlns:a16="http://schemas.microsoft.com/office/drawing/2014/main" id="{11E64F6B-F767-DF29-4150-6DEE46991AF6}"/>
              </a:ext>
            </a:extLst>
          </p:cNvPr>
          <p:cNvSpPr/>
          <p:nvPr/>
        </p:nvSpPr>
        <p:spPr>
          <a:xfrm>
            <a:off x="13089803" y="5517652"/>
            <a:ext cx="3739870"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Candor </a:t>
            </a:r>
            <a:r>
              <a:rPr lang="en-US" sz="2500" b="1" dirty="0" err="1">
                <a:solidFill>
                  <a:srgbClr val="1D3482"/>
                </a:solidFill>
                <a:latin typeface="Calibri"/>
              </a:rPr>
              <a:t>techspace</a:t>
            </a:r>
            <a:r>
              <a:rPr lang="en-US" sz="2500" b="1" dirty="0">
                <a:solidFill>
                  <a:srgbClr val="1D3482"/>
                </a:solidFill>
                <a:latin typeface="Calibri"/>
              </a:rPr>
              <a:t>, Kolkata</a:t>
            </a:r>
          </a:p>
        </p:txBody>
      </p:sp>
      <p:pic>
        <p:nvPicPr>
          <p:cNvPr id="28" name="Picture 27">
            <a:extLst>
              <a:ext uri="{FF2B5EF4-FFF2-40B4-BE49-F238E27FC236}">
                <a16:creationId xmlns:a16="http://schemas.microsoft.com/office/drawing/2014/main" id="{05ABCBA2-DFB0-CD24-41A8-E1E6FCF64527}"/>
              </a:ext>
            </a:extLst>
          </p:cNvPr>
          <p:cNvPicPr>
            <a:picLocks noChangeAspect="1"/>
          </p:cNvPicPr>
          <p:nvPr/>
        </p:nvPicPr>
        <p:blipFill>
          <a:blip r:embed="rId4"/>
          <a:stretch>
            <a:fillRect/>
          </a:stretch>
        </p:blipFill>
        <p:spPr>
          <a:xfrm>
            <a:off x="12531054" y="6073724"/>
            <a:ext cx="4923220" cy="3282146"/>
          </a:xfrm>
          <a:prstGeom prst="rect">
            <a:avLst/>
          </a:prstGeom>
        </p:spPr>
      </p:pic>
      <p:sp>
        <p:nvSpPr>
          <p:cNvPr id="30" name="Rectangle 29">
            <a:extLst>
              <a:ext uri="{FF2B5EF4-FFF2-40B4-BE49-F238E27FC236}">
                <a16:creationId xmlns:a16="http://schemas.microsoft.com/office/drawing/2014/main" id="{B9D01969-673F-4B64-9395-A712827AAA8A}"/>
              </a:ext>
            </a:extLst>
          </p:cNvPr>
          <p:cNvSpPr/>
          <p:nvPr/>
        </p:nvSpPr>
        <p:spPr>
          <a:xfrm>
            <a:off x="13056107" y="9320553"/>
            <a:ext cx="4215385"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Various </a:t>
            </a:r>
            <a:r>
              <a:rPr lang="en-US" sz="2500" b="1" dirty="0" err="1">
                <a:solidFill>
                  <a:srgbClr val="1D3482"/>
                </a:solidFill>
                <a:latin typeface="Calibri"/>
              </a:rPr>
              <a:t>Bldgs</a:t>
            </a:r>
            <a:r>
              <a:rPr lang="en-US" sz="2500" b="1" dirty="0">
                <a:solidFill>
                  <a:srgbClr val="1D3482"/>
                </a:solidFill>
                <a:latin typeface="Calibri"/>
              </a:rPr>
              <a:t>, Mindspace </a:t>
            </a:r>
            <a:r>
              <a:rPr lang="en-US" sz="2500" b="1" dirty="0" err="1">
                <a:solidFill>
                  <a:srgbClr val="1D3482"/>
                </a:solidFill>
                <a:latin typeface="Calibri"/>
              </a:rPr>
              <a:t>Hyd</a:t>
            </a:r>
            <a:endParaRPr lang="en-US" sz="2500" b="1" dirty="0">
              <a:solidFill>
                <a:srgbClr val="1D3482"/>
              </a:solidFill>
              <a:latin typeface="Calibri"/>
            </a:endParaRPr>
          </a:p>
        </p:txBody>
      </p:sp>
      <p:sp>
        <p:nvSpPr>
          <p:cNvPr id="32" name="Rectangle 31">
            <a:extLst>
              <a:ext uri="{FF2B5EF4-FFF2-40B4-BE49-F238E27FC236}">
                <a16:creationId xmlns:a16="http://schemas.microsoft.com/office/drawing/2014/main" id="{3DD191D3-7EBD-C6A4-4939-867FCEDA3EC8}"/>
              </a:ext>
            </a:extLst>
          </p:cNvPr>
          <p:cNvSpPr/>
          <p:nvPr/>
        </p:nvSpPr>
        <p:spPr>
          <a:xfrm>
            <a:off x="1466299" y="9406699"/>
            <a:ext cx="2562112"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ONGC, New Delhi</a:t>
            </a:r>
          </a:p>
        </p:txBody>
      </p:sp>
      <p:sp>
        <p:nvSpPr>
          <p:cNvPr id="34" name="Rectangle 33">
            <a:extLst>
              <a:ext uri="{FF2B5EF4-FFF2-40B4-BE49-F238E27FC236}">
                <a16:creationId xmlns:a16="http://schemas.microsoft.com/office/drawing/2014/main" id="{23056503-4B18-1C97-4B5D-50FEC7DB474C}"/>
              </a:ext>
            </a:extLst>
          </p:cNvPr>
          <p:cNvSpPr/>
          <p:nvPr/>
        </p:nvSpPr>
        <p:spPr>
          <a:xfrm>
            <a:off x="6762536" y="9460875"/>
            <a:ext cx="3999748"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Brigade magnum, Bengaluru</a:t>
            </a:r>
          </a:p>
        </p:txBody>
      </p:sp>
      <p:pic>
        <p:nvPicPr>
          <p:cNvPr id="38" name="Picture 37">
            <a:extLst>
              <a:ext uri="{FF2B5EF4-FFF2-40B4-BE49-F238E27FC236}">
                <a16:creationId xmlns:a16="http://schemas.microsoft.com/office/drawing/2014/main" id="{4F62D200-4055-7F6D-3B26-50701CFCE010}"/>
              </a:ext>
            </a:extLst>
          </p:cNvPr>
          <p:cNvPicPr>
            <a:picLocks noChangeAspect="1"/>
          </p:cNvPicPr>
          <p:nvPr/>
        </p:nvPicPr>
        <p:blipFill>
          <a:blip r:embed="rId5"/>
          <a:stretch>
            <a:fillRect/>
          </a:stretch>
        </p:blipFill>
        <p:spPr>
          <a:xfrm>
            <a:off x="679278" y="2559634"/>
            <a:ext cx="4730922" cy="3054713"/>
          </a:xfrm>
          <a:prstGeom prst="rect">
            <a:avLst/>
          </a:prstGeom>
        </p:spPr>
      </p:pic>
      <p:sp>
        <p:nvSpPr>
          <p:cNvPr id="40" name="Rectangle 39">
            <a:extLst>
              <a:ext uri="{FF2B5EF4-FFF2-40B4-BE49-F238E27FC236}">
                <a16:creationId xmlns:a16="http://schemas.microsoft.com/office/drawing/2014/main" id="{4B68207E-C93E-94B6-E58A-1820145C11EB}"/>
              </a:ext>
            </a:extLst>
          </p:cNvPr>
          <p:cNvSpPr/>
          <p:nvPr/>
        </p:nvSpPr>
        <p:spPr>
          <a:xfrm>
            <a:off x="1748907" y="5551138"/>
            <a:ext cx="2060371"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Amazon , </a:t>
            </a:r>
            <a:r>
              <a:rPr lang="en-US" sz="2500" b="1" dirty="0" err="1">
                <a:solidFill>
                  <a:srgbClr val="1D3482"/>
                </a:solidFill>
                <a:latin typeface="Calibri"/>
              </a:rPr>
              <a:t>Hyd</a:t>
            </a:r>
            <a:endParaRPr lang="en-US" sz="2500" b="1" dirty="0">
              <a:solidFill>
                <a:srgbClr val="1D3482"/>
              </a:solidFill>
              <a:latin typeface="Calibri"/>
            </a:endParaRPr>
          </a:p>
        </p:txBody>
      </p:sp>
      <p:pic>
        <p:nvPicPr>
          <p:cNvPr id="42" name="Picture 41">
            <a:extLst>
              <a:ext uri="{FF2B5EF4-FFF2-40B4-BE49-F238E27FC236}">
                <a16:creationId xmlns:a16="http://schemas.microsoft.com/office/drawing/2014/main" id="{A8FDA0FD-9E11-E0FA-6B38-D0B48B712513}"/>
              </a:ext>
            </a:extLst>
          </p:cNvPr>
          <p:cNvPicPr>
            <a:picLocks noChangeAspect="1"/>
          </p:cNvPicPr>
          <p:nvPr/>
        </p:nvPicPr>
        <p:blipFill>
          <a:blip r:embed="rId6"/>
          <a:stretch>
            <a:fillRect/>
          </a:stretch>
        </p:blipFill>
        <p:spPr>
          <a:xfrm>
            <a:off x="6273506" y="2556258"/>
            <a:ext cx="5345298" cy="3048989"/>
          </a:xfrm>
          <a:prstGeom prst="rect">
            <a:avLst/>
          </a:prstGeom>
        </p:spPr>
      </p:pic>
      <p:pic>
        <p:nvPicPr>
          <p:cNvPr id="44" name="Picture 43">
            <a:extLst>
              <a:ext uri="{FF2B5EF4-FFF2-40B4-BE49-F238E27FC236}">
                <a16:creationId xmlns:a16="http://schemas.microsoft.com/office/drawing/2014/main" id="{7ED76358-67DB-2E47-F40A-210DE5F3B1B1}"/>
              </a:ext>
            </a:extLst>
          </p:cNvPr>
          <p:cNvPicPr>
            <a:picLocks noChangeAspect="1"/>
          </p:cNvPicPr>
          <p:nvPr/>
        </p:nvPicPr>
        <p:blipFill>
          <a:blip r:embed="rId7"/>
          <a:stretch>
            <a:fillRect/>
          </a:stretch>
        </p:blipFill>
        <p:spPr>
          <a:xfrm>
            <a:off x="12531054" y="2440678"/>
            <a:ext cx="4888266" cy="3048989"/>
          </a:xfrm>
          <a:prstGeom prst="rect">
            <a:avLst/>
          </a:prstGeom>
        </p:spPr>
      </p:pic>
      <p:pic>
        <p:nvPicPr>
          <p:cNvPr id="46" name="Picture 45">
            <a:extLst>
              <a:ext uri="{FF2B5EF4-FFF2-40B4-BE49-F238E27FC236}">
                <a16:creationId xmlns:a16="http://schemas.microsoft.com/office/drawing/2014/main" id="{916E9D06-0799-F38B-96D6-85D83A32A53A}"/>
              </a:ext>
            </a:extLst>
          </p:cNvPr>
          <p:cNvPicPr>
            <a:picLocks noChangeAspect="1"/>
          </p:cNvPicPr>
          <p:nvPr/>
        </p:nvPicPr>
        <p:blipFill>
          <a:blip r:embed="rId8"/>
          <a:stretch>
            <a:fillRect/>
          </a:stretch>
        </p:blipFill>
        <p:spPr>
          <a:xfrm>
            <a:off x="6320838" y="6112354"/>
            <a:ext cx="5345297" cy="3294345"/>
          </a:xfrm>
          <a:prstGeom prst="rect">
            <a:avLst/>
          </a:prstGeom>
        </p:spPr>
      </p:pic>
      <p:pic>
        <p:nvPicPr>
          <p:cNvPr id="48" name="Picture 47">
            <a:extLst>
              <a:ext uri="{FF2B5EF4-FFF2-40B4-BE49-F238E27FC236}">
                <a16:creationId xmlns:a16="http://schemas.microsoft.com/office/drawing/2014/main" id="{7FC8C08A-6681-8C31-C057-B0A5743C5679}"/>
              </a:ext>
            </a:extLst>
          </p:cNvPr>
          <p:cNvPicPr>
            <a:picLocks noChangeAspect="1"/>
          </p:cNvPicPr>
          <p:nvPr/>
        </p:nvPicPr>
        <p:blipFill>
          <a:blip r:embed="rId9"/>
          <a:stretch>
            <a:fillRect/>
          </a:stretch>
        </p:blipFill>
        <p:spPr>
          <a:xfrm>
            <a:off x="679278" y="6171556"/>
            <a:ext cx="4880149" cy="3125414"/>
          </a:xfrm>
          <a:prstGeom prst="rect">
            <a:avLst/>
          </a:prstGeom>
        </p:spPr>
      </p:pic>
    </p:spTree>
    <p:extLst>
      <p:ext uri="{BB962C8B-B14F-4D97-AF65-F5344CB8AC3E}">
        <p14:creationId xmlns:p14="http://schemas.microsoft.com/office/powerpoint/2010/main" val="11890755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A18A1-87B5-3290-233A-A04C9A59A16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EA2B22F-8FEF-EDB9-FFCB-6693455606DD}"/>
              </a:ext>
            </a:extLst>
          </p:cNvPr>
          <p:cNvSpPr/>
          <p:nvPr/>
        </p:nvSpPr>
        <p:spPr>
          <a:xfrm>
            <a:off x="452306" y="576071"/>
            <a:ext cx="16047720" cy="6172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0B1F33"/>
                </a:solidFill>
                <a:latin typeface="Aptos Display" pitchFamily="34" charset="0"/>
                <a:ea typeface="Aptos Display" pitchFamily="34" charset="-122"/>
                <a:cs typeface="Aptos Display" pitchFamily="34" charset="-120"/>
              </a:rPr>
              <a:t>Mehul Parikh – An Unmatched Expertise &amp; Experience Design &amp; Build Solutions based approach</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 3">
            <a:extLst>
              <a:ext uri="{FF2B5EF4-FFF2-40B4-BE49-F238E27FC236}">
                <a16:creationId xmlns:a16="http://schemas.microsoft.com/office/drawing/2014/main" id="{EFED2A00-4839-C7A1-378E-6EF92ABE493A}"/>
              </a:ext>
            </a:extLst>
          </p:cNvPr>
          <p:cNvSpPr/>
          <p:nvPr/>
        </p:nvSpPr>
        <p:spPr>
          <a:xfrm>
            <a:off x="452306" y="1221002"/>
            <a:ext cx="159105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79646">
                    <a:lumMod val="75000"/>
                  </a:srgbClr>
                </a:solidFill>
                <a:effectLst/>
                <a:uLnTx/>
                <a:uFillTx/>
                <a:latin typeface="Aptos" pitchFamily="34" charset="0"/>
                <a:ea typeface="Aptos" pitchFamily="34" charset="-122"/>
                <a:cs typeface="Aptos" pitchFamily="34" charset="-120"/>
              </a:rPr>
              <a:t>Some Landmark </a:t>
            </a:r>
            <a:r>
              <a:rPr lang="en-US" sz="2700" b="1" dirty="0">
                <a:solidFill>
                  <a:srgbClr val="F79646">
                    <a:lumMod val="75000"/>
                  </a:srgbClr>
                </a:solidFill>
                <a:latin typeface="Aptos" pitchFamily="34" charset="0"/>
                <a:ea typeface="Aptos" pitchFamily="34" charset="-122"/>
                <a:cs typeface="Aptos" pitchFamily="34" charset="-120"/>
              </a:rPr>
              <a:t>projects that have benefited from Mehul’s Expertise while he led Nina Percept</a:t>
            </a:r>
            <a:endParaRPr kumimoji="0" lang="en-US" sz="2700" b="1" i="0" u="none" strike="noStrike" kern="1200" cap="none" spc="0" normalizeH="0" baseline="0" noProof="0" dirty="0">
              <a:ln>
                <a:noFill/>
              </a:ln>
              <a:solidFill>
                <a:srgbClr val="F79646">
                  <a:lumMod val="75000"/>
                </a:srgbClr>
              </a:solidFill>
              <a:effectLst/>
              <a:uLnTx/>
              <a:uFillTx/>
              <a:latin typeface="Calibri"/>
              <a:ea typeface="+mn-ea"/>
              <a:cs typeface="+mn-cs"/>
            </a:endParaRPr>
          </a:p>
        </p:txBody>
      </p:sp>
      <p:sp>
        <p:nvSpPr>
          <p:cNvPr id="6" name="Shape 4">
            <a:extLst>
              <a:ext uri="{FF2B5EF4-FFF2-40B4-BE49-F238E27FC236}">
                <a16:creationId xmlns:a16="http://schemas.microsoft.com/office/drawing/2014/main" id="{6A0C56D1-702C-396F-B356-0982089BD1B8}"/>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a:extLst>
              <a:ext uri="{FF2B5EF4-FFF2-40B4-BE49-F238E27FC236}">
                <a16:creationId xmlns:a16="http://schemas.microsoft.com/office/drawing/2014/main" id="{8F7D7DCA-0982-418F-ECF4-112E7C36DD9F}"/>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5" name="Group 2">
            <a:extLst>
              <a:ext uri="{FF2B5EF4-FFF2-40B4-BE49-F238E27FC236}">
                <a16:creationId xmlns:a16="http://schemas.microsoft.com/office/drawing/2014/main" id="{F1932922-17A3-A20B-2F83-C0673D4786D0}"/>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7571DA7B-8830-4508-1E91-98329F6A8BC4}"/>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4">
              <a:extLst>
                <a:ext uri="{FF2B5EF4-FFF2-40B4-BE49-F238E27FC236}">
                  <a16:creationId xmlns:a16="http://schemas.microsoft.com/office/drawing/2014/main" id="{F053C31E-2A15-9B00-2284-B64C275F7513}"/>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5">
            <a:extLst>
              <a:ext uri="{FF2B5EF4-FFF2-40B4-BE49-F238E27FC236}">
                <a16:creationId xmlns:a16="http://schemas.microsoft.com/office/drawing/2014/main" id="{95A830E9-19EF-2E06-8A60-DA02BD9ACD7C}"/>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E7742CA4-BD1E-EFFB-28FC-F81E494329C5}"/>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Freeform 7">
            <a:extLst>
              <a:ext uri="{FF2B5EF4-FFF2-40B4-BE49-F238E27FC236}">
                <a16:creationId xmlns:a16="http://schemas.microsoft.com/office/drawing/2014/main" id="{27F56FA7-8A78-69CE-20C8-4079CCD83B38}"/>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F059D7A2-5350-CEE1-AE8E-F62CAD0F9ED7}"/>
              </a:ext>
            </a:extLst>
          </p:cNvPr>
          <p:cNvSpPr/>
          <p:nvPr/>
        </p:nvSpPr>
        <p:spPr>
          <a:xfrm>
            <a:off x="7143967" y="1744958"/>
            <a:ext cx="3367973" cy="546269"/>
          </a:xfrm>
          <a:prstGeom prst="rect">
            <a:avLst/>
          </a:prstGeom>
        </p:spPr>
        <p:txBody>
          <a:bodyPr wrap="none" lIns="114268" tIns="57133" rIns="114268" bIns="57133">
            <a:spAutoFit/>
          </a:bodyPr>
          <a:lstStyle/>
          <a:p>
            <a:pPr algn="ctr" defTabSz="816059"/>
            <a:r>
              <a:rPr lang="en-US" sz="2800" b="1" dirty="0">
                <a:solidFill>
                  <a:srgbClr val="1D3482"/>
                </a:solidFill>
                <a:latin typeface="Calibri"/>
              </a:rPr>
              <a:t>Hospitality  Projects  </a:t>
            </a:r>
          </a:p>
        </p:txBody>
      </p:sp>
      <p:sp>
        <p:nvSpPr>
          <p:cNvPr id="24" name="Rectangle 23">
            <a:extLst>
              <a:ext uri="{FF2B5EF4-FFF2-40B4-BE49-F238E27FC236}">
                <a16:creationId xmlns:a16="http://schemas.microsoft.com/office/drawing/2014/main" id="{31DA0289-E2A2-4506-D435-9BC5ADE967C0}"/>
              </a:ext>
            </a:extLst>
          </p:cNvPr>
          <p:cNvSpPr/>
          <p:nvPr/>
        </p:nvSpPr>
        <p:spPr>
          <a:xfrm>
            <a:off x="13762558" y="5468592"/>
            <a:ext cx="2844625"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ITC  Chola , Chennai</a:t>
            </a:r>
          </a:p>
        </p:txBody>
      </p:sp>
      <p:sp>
        <p:nvSpPr>
          <p:cNvPr id="30" name="Rectangle 29">
            <a:extLst>
              <a:ext uri="{FF2B5EF4-FFF2-40B4-BE49-F238E27FC236}">
                <a16:creationId xmlns:a16="http://schemas.microsoft.com/office/drawing/2014/main" id="{28CA9E6C-847C-AC24-7558-6184E658BE55}"/>
              </a:ext>
            </a:extLst>
          </p:cNvPr>
          <p:cNvSpPr/>
          <p:nvPr/>
        </p:nvSpPr>
        <p:spPr>
          <a:xfrm>
            <a:off x="13480648" y="9320553"/>
            <a:ext cx="3439147"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Oberoi Trident, Mumbai</a:t>
            </a:r>
          </a:p>
        </p:txBody>
      </p:sp>
      <p:sp>
        <p:nvSpPr>
          <p:cNvPr id="32" name="Rectangle 31">
            <a:extLst>
              <a:ext uri="{FF2B5EF4-FFF2-40B4-BE49-F238E27FC236}">
                <a16:creationId xmlns:a16="http://schemas.microsoft.com/office/drawing/2014/main" id="{9424A5D2-355E-F1B7-3423-043B0ECD80D8}"/>
              </a:ext>
            </a:extLst>
          </p:cNvPr>
          <p:cNvSpPr/>
          <p:nvPr/>
        </p:nvSpPr>
        <p:spPr>
          <a:xfrm>
            <a:off x="1398965" y="9392561"/>
            <a:ext cx="3112390" cy="500103"/>
          </a:xfrm>
          <a:prstGeom prst="rect">
            <a:avLst/>
          </a:prstGeom>
        </p:spPr>
        <p:txBody>
          <a:bodyPr wrap="none" lIns="114268" tIns="57133" rIns="114268" bIns="57133">
            <a:spAutoFit/>
          </a:bodyPr>
          <a:lstStyle/>
          <a:p>
            <a:pPr defTabSz="816059"/>
            <a:r>
              <a:rPr lang="en-US" sz="2500" b="1" dirty="0" err="1">
                <a:solidFill>
                  <a:srgbClr val="1D3482"/>
                </a:solidFill>
                <a:latin typeface="Calibri"/>
              </a:rPr>
              <a:t>JW</a:t>
            </a:r>
            <a:r>
              <a:rPr lang="en-US" sz="2500" b="1" dirty="0">
                <a:solidFill>
                  <a:srgbClr val="1D3482"/>
                </a:solidFill>
                <a:latin typeface="Calibri"/>
              </a:rPr>
              <a:t> Marriott, Mumbai</a:t>
            </a:r>
          </a:p>
        </p:txBody>
      </p:sp>
      <p:sp>
        <p:nvSpPr>
          <p:cNvPr id="34" name="Rectangle 33">
            <a:extLst>
              <a:ext uri="{FF2B5EF4-FFF2-40B4-BE49-F238E27FC236}">
                <a16:creationId xmlns:a16="http://schemas.microsoft.com/office/drawing/2014/main" id="{0BD65A41-785A-44BC-B215-85CE54A2DC7A}"/>
              </a:ext>
            </a:extLst>
          </p:cNvPr>
          <p:cNvSpPr/>
          <p:nvPr/>
        </p:nvSpPr>
        <p:spPr>
          <a:xfrm>
            <a:off x="7625461" y="8115622"/>
            <a:ext cx="2532039"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ITC One Colombo</a:t>
            </a:r>
          </a:p>
        </p:txBody>
      </p:sp>
      <p:sp>
        <p:nvSpPr>
          <p:cNvPr id="40" name="Rectangle 39">
            <a:extLst>
              <a:ext uri="{FF2B5EF4-FFF2-40B4-BE49-F238E27FC236}">
                <a16:creationId xmlns:a16="http://schemas.microsoft.com/office/drawing/2014/main" id="{40E620DA-0FD9-47EC-3C4F-9970897F37F0}"/>
              </a:ext>
            </a:extLst>
          </p:cNvPr>
          <p:cNvSpPr/>
          <p:nvPr/>
        </p:nvSpPr>
        <p:spPr>
          <a:xfrm>
            <a:off x="1304111" y="5551139"/>
            <a:ext cx="3471783"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Westin, Powai , Mumbai</a:t>
            </a:r>
          </a:p>
        </p:txBody>
      </p:sp>
      <p:pic>
        <p:nvPicPr>
          <p:cNvPr id="7" name="Picture 6">
            <a:extLst>
              <a:ext uri="{FF2B5EF4-FFF2-40B4-BE49-F238E27FC236}">
                <a16:creationId xmlns:a16="http://schemas.microsoft.com/office/drawing/2014/main" id="{837CDF13-687F-EE4B-4CE8-8EB0866F7817}"/>
              </a:ext>
            </a:extLst>
          </p:cNvPr>
          <p:cNvPicPr>
            <a:picLocks noChangeAspect="1"/>
          </p:cNvPicPr>
          <p:nvPr/>
        </p:nvPicPr>
        <p:blipFill>
          <a:blip r:embed="rId4"/>
          <a:stretch>
            <a:fillRect/>
          </a:stretch>
        </p:blipFill>
        <p:spPr>
          <a:xfrm>
            <a:off x="428230" y="2280053"/>
            <a:ext cx="4900901" cy="3271086"/>
          </a:xfrm>
          <a:prstGeom prst="rect">
            <a:avLst/>
          </a:prstGeom>
        </p:spPr>
      </p:pic>
      <p:pic>
        <p:nvPicPr>
          <p:cNvPr id="10" name="Picture 9">
            <a:extLst>
              <a:ext uri="{FF2B5EF4-FFF2-40B4-BE49-F238E27FC236}">
                <a16:creationId xmlns:a16="http://schemas.microsoft.com/office/drawing/2014/main" id="{058B4FDA-AFA7-C469-4CE5-4B7C0E2BC335}"/>
              </a:ext>
            </a:extLst>
          </p:cNvPr>
          <p:cNvPicPr>
            <a:picLocks noChangeAspect="1"/>
          </p:cNvPicPr>
          <p:nvPr/>
        </p:nvPicPr>
        <p:blipFill>
          <a:blip r:embed="rId5"/>
          <a:stretch>
            <a:fillRect/>
          </a:stretch>
        </p:blipFill>
        <p:spPr>
          <a:xfrm>
            <a:off x="12435144" y="1744958"/>
            <a:ext cx="5049188" cy="3776598"/>
          </a:xfrm>
          <a:prstGeom prst="rect">
            <a:avLst/>
          </a:prstGeom>
        </p:spPr>
      </p:pic>
      <p:pic>
        <p:nvPicPr>
          <p:cNvPr id="12" name="Picture 11">
            <a:extLst>
              <a:ext uri="{FF2B5EF4-FFF2-40B4-BE49-F238E27FC236}">
                <a16:creationId xmlns:a16="http://schemas.microsoft.com/office/drawing/2014/main" id="{CEC26A02-E3C7-4DD8-A99B-A5337276F3D8}"/>
              </a:ext>
            </a:extLst>
          </p:cNvPr>
          <p:cNvPicPr>
            <a:picLocks noChangeAspect="1"/>
          </p:cNvPicPr>
          <p:nvPr/>
        </p:nvPicPr>
        <p:blipFill>
          <a:blip r:embed="rId6"/>
          <a:stretch>
            <a:fillRect/>
          </a:stretch>
        </p:blipFill>
        <p:spPr>
          <a:xfrm>
            <a:off x="452306" y="6166037"/>
            <a:ext cx="4895512" cy="2877561"/>
          </a:xfrm>
          <a:prstGeom prst="rect">
            <a:avLst/>
          </a:prstGeom>
        </p:spPr>
      </p:pic>
      <p:pic>
        <p:nvPicPr>
          <p:cNvPr id="20" name="Picture 19">
            <a:extLst>
              <a:ext uri="{FF2B5EF4-FFF2-40B4-BE49-F238E27FC236}">
                <a16:creationId xmlns:a16="http://schemas.microsoft.com/office/drawing/2014/main" id="{B1769DAB-790E-2888-DD3F-D98291C81B3C}"/>
              </a:ext>
            </a:extLst>
          </p:cNvPr>
          <p:cNvPicPr>
            <a:picLocks noChangeAspect="1"/>
          </p:cNvPicPr>
          <p:nvPr/>
        </p:nvPicPr>
        <p:blipFill>
          <a:blip r:embed="rId7"/>
          <a:stretch>
            <a:fillRect/>
          </a:stretch>
        </p:blipFill>
        <p:spPr>
          <a:xfrm>
            <a:off x="12435144" y="6028522"/>
            <a:ext cx="4984176" cy="3198800"/>
          </a:xfrm>
          <a:prstGeom prst="rect">
            <a:avLst/>
          </a:prstGeom>
        </p:spPr>
      </p:pic>
      <p:pic>
        <p:nvPicPr>
          <p:cNvPr id="23" name="Picture 22">
            <a:extLst>
              <a:ext uri="{FF2B5EF4-FFF2-40B4-BE49-F238E27FC236}">
                <a16:creationId xmlns:a16="http://schemas.microsoft.com/office/drawing/2014/main" id="{D47C7E83-567C-6EA0-BFC9-78D7FB89ADEF}"/>
              </a:ext>
            </a:extLst>
          </p:cNvPr>
          <p:cNvPicPr>
            <a:picLocks noChangeAspect="1"/>
          </p:cNvPicPr>
          <p:nvPr/>
        </p:nvPicPr>
        <p:blipFill>
          <a:blip r:embed="rId8"/>
          <a:stretch>
            <a:fillRect/>
          </a:stretch>
        </p:blipFill>
        <p:spPr>
          <a:xfrm>
            <a:off x="5750360" y="2846402"/>
            <a:ext cx="6215129" cy="4964097"/>
          </a:xfrm>
          <a:prstGeom prst="rect">
            <a:avLst/>
          </a:prstGeom>
        </p:spPr>
      </p:pic>
    </p:spTree>
    <p:extLst>
      <p:ext uri="{BB962C8B-B14F-4D97-AF65-F5344CB8AC3E}">
        <p14:creationId xmlns:p14="http://schemas.microsoft.com/office/powerpoint/2010/main" val="924465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826A9-9741-1D4E-C9F1-B4A44B2A59F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6EFA9B0-40F9-BE5D-8614-7CCA0B70476A}"/>
              </a:ext>
            </a:extLst>
          </p:cNvPr>
          <p:cNvSpPr/>
          <p:nvPr/>
        </p:nvSpPr>
        <p:spPr>
          <a:xfrm>
            <a:off x="452306" y="576071"/>
            <a:ext cx="16047720" cy="6172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0B1F33"/>
                </a:solidFill>
                <a:latin typeface="Aptos Display" pitchFamily="34" charset="0"/>
                <a:ea typeface="Aptos Display" pitchFamily="34" charset="-122"/>
                <a:cs typeface="Aptos Display" pitchFamily="34" charset="-120"/>
              </a:rPr>
              <a:t>Mehul Parikh – An Unmatched Expertise &amp; Experience Design &amp; Build Solutions based approach</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 3">
            <a:extLst>
              <a:ext uri="{FF2B5EF4-FFF2-40B4-BE49-F238E27FC236}">
                <a16:creationId xmlns:a16="http://schemas.microsoft.com/office/drawing/2014/main" id="{0F7E1898-FF4A-E9BC-13A5-004AB716366B}"/>
              </a:ext>
            </a:extLst>
          </p:cNvPr>
          <p:cNvSpPr/>
          <p:nvPr/>
        </p:nvSpPr>
        <p:spPr>
          <a:xfrm>
            <a:off x="452306" y="1221002"/>
            <a:ext cx="159105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79646">
                    <a:lumMod val="75000"/>
                  </a:srgbClr>
                </a:solidFill>
                <a:effectLst/>
                <a:uLnTx/>
                <a:uFillTx/>
                <a:latin typeface="Aptos" pitchFamily="34" charset="0"/>
                <a:ea typeface="Aptos" pitchFamily="34" charset="-122"/>
                <a:cs typeface="Aptos" pitchFamily="34" charset="-120"/>
              </a:rPr>
              <a:t>Some Landmark </a:t>
            </a:r>
            <a:r>
              <a:rPr lang="en-US" sz="2700" b="1" dirty="0">
                <a:solidFill>
                  <a:srgbClr val="F79646">
                    <a:lumMod val="75000"/>
                  </a:srgbClr>
                </a:solidFill>
                <a:latin typeface="Aptos" pitchFamily="34" charset="0"/>
                <a:ea typeface="Aptos" pitchFamily="34" charset="-122"/>
                <a:cs typeface="Aptos" pitchFamily="34" charset="-120"/>
              </a:rPr>
              <a:t>projects that have benefited from Mehul’s Expertise while he led Nina Percept</a:t>
            </a:r>
            <a:endParaRPr kumimoji="0" lang="en-US" sz="2700" b="1" i="0" u="none" strike="noStrike" kern="1200" cap="none" spc="0" normalizeH="0" baseline="0" noProof="0" dirty="0">
              <a:ln>
                <a:noFill/>
              </a:ln>
              <a:solidFill>
                <a:srgbClr val="F79646">
                  <a:lumMod val="75000"/>
                </a:srgbClr>
              </a:solidFill>
              <a:effectLst/>
              <a:uLnTx/>
              <a:uFillTx/>
              <a:latin typeface="Calibri"/>
              <a:ea typeface="+mn-ea"/>
              <a:cs typeface="+mn-cs"/>
            </a:endParaRPr>
          </a:p>
        </p:txBody>
      </p:sp>
      <p:sp>
        <p:nvSpPr>
          <p:cNvPr id="6" name="Shape 4">
            <a:extLst>
              <a:ext uri="{FF2B5EF4-FFF2-40B4-BE49-F238E27FC236}">
                <a16:creationId xmlns:a16="http://schemas.microsoft.com/office/drawing/2014/main" id="{04A5A67E-AFEE-66AF-1214-2FCB1184A0AE}"/>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a:extLst>
              <a:ext uri="{FF2B5EF4-FFF2-40B4-BE49-F238E27FC236}">
                <a16:creationId xmlns:a16="http://schemas.microsoft.com/office/drawing/2014/main" id="{FCA38066-99A3-4953-52CB-ED06195E9AB4}"/>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5" name="Group 2">
            <a:extLst>
              <a:ext uri="{FF2B5EF4-FFF2-40B4-BE49-F238E27FC236}">
                <a16:creationId xmlns:a16="http://schemas.microsoft.com/office/drawing/2014/main" id="{B6C94EC1-CA86-3F8B-2524-4EE1FF3C9481}"/>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B498D2AE-AA5B-FB64-FBD6-EF038CF72C03}"/>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4">
              <a:extLst>
                <a:ext uri="{FF2B5EF4-FFF2-40B4-BE49-F238E27FC236}">
                  <a16:creationId xmlns:a16="http://schemas.microsoft.com/office/drawing/2014/main" id="{31B5CFBF-ECAB-EF09-D3B3-472B9ED180FA}"/>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5">
            <a:extLst>
              <a:ext uri="{FF2B5EF4-FFF2-40B4-BE49-F238E27FC236}">
                <a16:creationId xmlns:a16="http://schemas.microsoft.com/office/drawing/2014/main" id="{9C1A9468-BA46-0852-674B-BFB92519498D}"/>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C1561ED3-F7C5-C916-F60B-B791ACE78A98}"/>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Freeform 7">
            <a:extLst>
              <a:ext uri="{FF2B5EF4-FFF2-40B4-BE49-F238E27FC236}">
                <a16:creationId xmlns:a16="http://schemas.microsoft.com/office/drawing/2014/main" id="{2736A25F-63FD-560F-44BE-FCE26506E84A}"/>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0ACC28A3-B2B7-C0E0-57EC-6C81D3A9CA09}"/>
              </a:ext>
            </a:extLst>
          </p:cNvPr>
          <p:cNvSpPr/>
          <p:nvPr/>
        </p:nvSpPr>
        <p:spPr>
          <a:xfrm>
            <a:off x="7138870" y="1744958"/>
            <a:ext cx="3378169" cy="546269"/>
          </a:xfrm>
          <a:prstGeom prst="rect">
            <a:avLst/>
          </a:prstGeom>
        </p:spPr>
        <p:txBody>
          <a:bodyPr wrap="none" lIns="114268" tIns="57133" rIns="114268" bIns="57133">
            <a:spAutoFit/>
          </a:bodyPr>
          <a:lstStyle/>
          <a:p>
            <a:pPr algn="ctr" defTabSz="816059"/>
            <a:r>
              <a:rPr lang="en-US" sz="2800" b="1" dirty="0">
                <a:solidFill>
                  <a:srgbClr val="1D3482"/>
                </a:solidFill>
                <a:latin typeface="Calibri"/>
              </a:rPr>
              <a:t>Healthcare Projects  </a:t>
            </a:r>
          </a:p>
        </p:txBody>
      </p:sp>
      <p:sp>
        <p:nvSpPr>
          <p:cNvPr id="24" name="Rectangle 23">
            <a:extLst>
              <a:ext uri="{FF2B5EF4-FFF2-40B4-BE49-F238E27FC236}">
                <a16:creationId xmlns:a16="http://schemas.microsoft.com/office/drawing/2014/main" id="{88676CF4-0678-2F35-2214-5AB619D9A18C}"/>
              </a:ext>
            </a:extLst>
          </p:cNvPr>
          <p:cNvSpPr/>
          <p:nvPr/>
        </p:nvSpPr>
        <p:spPr>
          <a:xfrm>
            <a:off x="13182600" y="5462483"/>
            <a:ext cx="3524105" cy="500103"/>
          </a:xfrm>
          <a:prstGeom prst="rect">
            <a:avLst/>
          </a:prstGeom>
        </p:spPr>
        <p:txBody>
          <a:bodyPr wrap="none" lIns="114268" tIns="57133" rIns="114268" bIns="57133">
            <a:spAutoFit/>
          </a:bodyPr>
          <a:lstStyle/>
          <a:p>
            <a:pPr defTabSz="816059"/>
            <a:r>
              <a:rPr lang="en-US" sz="2500" b="1" dirty="0" err="1">
                <a:solidFill>
                  <a:srgbClr val="1D3482"/>
                </a:solidFill>
                <a:latin typeface="Calibri"/>
              </a:rPr>
              <a:t>Medanta</a:t>
            </a:r>
            <a:r>
              <a:rPr lang="en-US" sz="2500" b="1" dirty="0">
                <a:solidFill>
                  <a:srgbClr val="1D3482"/>
                </a:solidFill>
                <a:latin typeface="Calibri"/>
              </a:rPr>
              <a:t> Hospital, Patna</a:t>
            </a:r>
          </a:p>
        </p:txBody>
      </p:sp>
      <p:sp>
        <p:nvSpPr>
          <p:cNvPr id="30" name="Rectangle 29">
            <a:extLst>
              <a:ext uri="{FF2B5EF4-FFF2-40B4-BE49-F238E27FC236}">
                <a16:creationId xmlns:a16="http://schemas.microsoft.com/office/drawing/2014/main" id="{E7339FD1-7EB3-40FA-560F-85751A1EA868}"/>
              </a:ext>
            </a:extLst>
          </p:cNvPr>
          <p:cNvSpPr/>
          <p:nvPr/>
        </p:nvSpPr>
        <p:spPr>
          <a:xfrm>
            <a:off x="13444226" y="9504157"/>
            <a:ext cx="3141180"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Jupiter Hospital, Pune</a:t>
            </a:r>
          </a:p>
        </p:txBody>
      </p:sp>
      <p:sp>
        <p:nvSpPr>
          <p:cNvPr id="32" name="Rectangle 31">
            <a:extLst>
              <a:ext uri="{FF2B5EF4-FFF2-40B4-BE49-F238E27FC236}">
                <a16:creationId xmlns:a16="http://schemas.microsoft.com/office/drawing/2014/main" id="{AFABF59F-F043-876D-BE41-3AC1E23C27CD}"/>
              </a:ext>
            </a:extLst>
          </p:cNvPr>
          <p:cNvSpPr/>
          <p:nvPr/>
        </p:nvSpPr>
        <p:spPr>
          <a:xfrm>
            <a:off x="1110673" y="9534196"/>
            <a:ext cx="3714157"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Hinduja Hospital, Mumbai</a:t>
            </a:r>
          </a:p>
        </p:txBody>
      </p:sp>
      <p:sp>
        <p:nvSpPr>
          <p:cNvPr id="34" name="Rectangle 33">
            <a:extLst>
              <a:ext uri="{FF2B5EF4-FFF2-40B4-BE49-F238E27FC236}">
                <a16:creationId xmlns:a16="http://schemas.microsoft.com/office/drawing/2014/main" id="{931FF8F5-C78A-0E49-879E-C5B8CD2CC0E7}"/>
              </a:ext>
            </a:extLst>
          </p:cNvPr>
          <p:cNvSpPr/>
          <p:nvPr/>
        </p:nvSpPr>
        <p:spPr>
          <a:xfrm>
            <a:off x="6569351" y="8502052"/>
            <a:ext cx="5103577" cy="500103"/>
          </a:xfrm>
          <a:prstGeom prst="rect">
            <a:avLst/>
          </a:prstGeom>
        </p:spPr>
        <p:txBody>
          <a:bodyPr wrap="none" lIns="114268" tIns="57133" rIns="114268" bIns="57133">
            <a:spAutoFit/>
          </a:bodyPr>
          <a:lstStyle/>
          <a:p>
            <a:pPr defTabSz="816059"/>
            <a:r>
              <a:rPr lang="en-US" sz="2500" b="1" dirty="0" err="1">
                <a:solidFill>
                  <a:srgbClr val="1D3482"/>
                </a:solidFill>
                <a:latin typeface="Calibri"/>
              </a:rPr>
              <a:t>Kokilaben</a:t>
            </a:r>
            <a:r>
              <a:rPr lang="en-US" sz="2500" b="1" dirty="0">
                <a:solidFill>
                  <a:srgbClr val="1D3482"/>
                </a:solidFill>
                <a:latin typeface="Calibri"/>
              </a:rPr>
              <a:t> Ambani Hospital, Mumbai</a:t>
            </a:r>
          </a:p>
        </p:txBody>
      </p:sp>
      <p:sp>
        <p:nvSpPr>
          <p:cNvPr id="40" name="Rectangle 39">
            <a:extLst>
              <a:ext uri="{FF2B5EF4-FFF2-40B4-BE49-F238E27FC236}">
                <a16:creationId xmlns:a16="http://schemas.microsoft.com/office/drawing/2014/main" id="{2325154F-BA67-781C-A5EB-7F999B3F4B40}"/>
              </a:ext>
            </a:extLst>
          </p:cNvPr>
          <p:cNvSpPr/>
          <p:nvPr/>
        </p:nvSpPr>
        <p:spPr>
          <a:xfrm>
            <a:off x="1484295" y="5391440"/>
            <a:ext cx="2772810" cy="500103"/>
          </a:xfrm>
          <a:prstGeom prst="rect">
            <a:avLst/>
          </a:prstGeom>
        </p:spPr>
        <p:txBody>
          <a:bodyPr wrap="none" lIns="114268" tIns="57133" rIns="114268" bIns="57133">
            <a:spAutoFit/>
          </a:bodyPr>
          <a:lstStyle/>
          <a:p>
            <a:pPr defTabSz="816059"/>
            <a:r>
              <a:rPr lang="en-US" sz="2500" b="1" dirty="0" err="1">
                <a:solidFill>
                  <a:srgbClr val="1D3482"/>
                </a:solidFill>
                <a:latin typeface="Calibri"/>
              </a:rPr>
              <a:t>Medanta</a:t>
            </a:r>
            <a:r>
              <a:rPr lang="en-US" sz="2500" b="1" dirty="0">
                <a:solidFill>
                  <a:srgbClr val="1D3482"/>
                </a:solidFill>
                <a:latin typeface="Calibri"/>
              </a:rPr>
              <a:t>, Lucknow</a:t>
            </a:r>
          </a:p>
        </p:txBody>
      </p:sp>
      <p:pic>
        <p:nvPicPr>
          <p:cNvPr id="9" name="Picture 8">
            <a:extLst>
              <a:ext uri="{FF2B5EF4-FFF2-40B4-BE49-F238E27FC236}">
                <a16:creationId xmlns:a16="http://schemas.microsoft.com/office/drawing/2014/main" id="{AB017972-CE72-5278-626E-0E1C76C71A73}"/>
              </a:ext>
            </a:extLst>
          </p:cNvPr>
          <p:cNvPicPr>
            <a:picLocks noChangeAspect="1"/>
          </p:cNvPicPr>
          <p:nvPr/>
        </p:nvPicPr>
        <p:blipFill>
          <a:blip r:embed="rId4"/>
          <a:stretch>
            <a:fillRect/>
          </a:stretch>
        </p:blipFill>
        <p:spPr>
          <a:xfrm>
            <a:off x="520636" y="2192501"/>
            <a:ext cx="4700129" cy="3115326"/>
          </a:xfrm>
          <a:prstGeom prst="rect">
            <a:avLst/>
          </a:prstGeom>
        </p:spPr>
      </p:pic>
      <p:pic>
        <p:nvPicPr>
          <p:cNvPr id="13" name="Picture 12">
            <a:extLst>
              <a:ext uri="{FF2B5EF4-FFF2-40B4-BE49-F238E27FC236}">
                <a16:creationId xmlns:a16="http://schemas.microsoft.com/office/drawing/2014/main" id="{E987A88A-C4C4-AFCE-F3B2-5EFDC150C97D}"/>
              </a:ext>
            </a:extLst>
          </p:cNvPr>
          <p:cNvPicPr>
            <a:picLocks noChangeAspect="1"/>
          </p:cNvPicPr>
          <p:nvPr/>
        </p:nvPicPr>
        <p:blipFill>
          <a:blip r:embed="rId5"/>
          <a:stretch>
            <a:fillRect/>
          </a:stretch>
        </p:blipFill>
        <p:spPr>
          <a:xfrm>
            <a:off x="6009618" y="2496907"/>
            <a:ext cx="5877582" cy="5799465"/>
          </a:xfrm>
          <a:prstGeom prst="rect">
            <a:avLst/>
          </a:prstGeom>
        </p:spPr>
      </p:pic>
      <p:pic>
        <p:nvPicPr>
          <p:cNvPr id="22" name="Picture 21">
            <a:extLst>
              <a:ext uri="{FF2B5EF4-FFF2-40B4-BE49-F238E27FC236}">
                <a16:creationId xmlns:a16="http://schemas.microsoft.com/office/drawing/2014/main" id="{9688BB58-5DBF-501B-ADC7-BC665BEC41C3}"/>
              </a:ext>
            </a:extLst>
          </p:cNvPr>
          <p:cNvPicPr>
            <a:picLocks noChangeAspect="1"/>
          </p:cNvPicPr>
          <p:nvPr/>
        </p:nvPicPr>
        <p:blipFill>
          <a:blip r:embed="rId6"/>
          <a:stretch>
            <a:fillRect/>
          </a:stretch>
        </p:blipFill>
        <p:spPr>
          <a:xfrm>
            <a:off x="547273" y="5774165"/>
            <a:ext cx="4700129" cy="3592879"/>
          </a:xfrm>
          <a:prstGeom prst="rect">
            <a:avLst/>
          </a:prstGeom>
        </p:spPr>
      </p:pic>
      <p:pic>
        <p:nvPicPr>
          <p:cNvPr id="26" name="Picture 25">
            <a:extLst>
              <a:ext uri="{FF2B5EF4-FFF2-40B4-BE49-F238E27FC236}">
                <a16:creationId xmlns:a16="http://schemas.microsoft.com/office/drawing/2014/main" id="{F0332164-4ADE-918E-F261-FC72CB44F42B}"/>
              </a:ext>
            </a:extLst>
          </p:cNvPr>
          <p:cNvPicPr>
            <a:picLocks noChangeAspect="1"/>
          </p:cNvPicPr>
          <p:nvPr/>
        </p:nvPicPr>
        <p:blipFill>
          <a:blip r:embed="rId7"/>
          <a:stretch>
            <a:fillRect/>
          </a:stretch>
        </p:blipFill>
        <p:spPr>
          <a:xfrm>
            <a:off x="12568350" y="1992741"/>
            <a:ext cx="4576650" cy="3418448"/>
          </a:xfrm>
          <a:prstGeom prst="rect">
            <a:avLst/>
          </a:prstGeom>
        </p:spPr>
      </p:pic>
      <p:pic>
        <p:nvPicPr>
          <p:cNvPr id="28" name="Picture 27">
            <a:extLst>
              <a:ext uri="{FF2B5EF4-FFF2-40B4-BE49-F238E27FC236}">
                <a16:creationId xmlns:a16="http://schemas.microsoft.com/office/drawing/2014/main" id="{BD7567C3-E961-2387-2064-2F27B94DFE02}"/>
              </a:ext>
            </a:extLst>
          </p:cNvPr>
          <p:cNvPicPr>
            <a:picLocks noChangeAspect="1"/>
          </p:cNvPicPr>
          <p:nvPr/>
        </p:nvPicPr>
        <p:blipFill>
          <a:blip r:embed="rId8"/>
          <a:stretch>
            <a:fillRect/>
          </a:stretch>
        </p:blipFill>
        <p:spPr>
          <a:xfrm>
            <a:off x="12679548" y="5950089"/>
            <a:ext cx="4576650" cy="3519083"/>
          </a:xfrm>
          <a:prstGeom prst="rect">
            <a:avLst/>
          </a:prstGeom>
        </p:spPr>
      </p:pic>
    </p:spTree>
    <p:extLst>
      <p:ext uri="{BB962C8B-B14F-4D97-AF65-F5344CB8AC3E}">
        <p14:creationId xmlns:p14="http://schemas.microsoft.com/office/powerpoint/2010/main" val="3583649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2530E-96F9-EBEC-5399-0E11219DCA6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07B93FF-ACE4-ADC8-83FB-D46F702A7CDA}"/>
              </a:ext>
            </a:extLst>
          </p:cNvPr>
          <p:cNvSpPr/>
          <p:nvPr/>
        </p:nvSpPr>
        <p:spPr>
          <a:xfrm>
            <a:off x="452306" y="576071"/>
            <a:ext cx="16047720" cy="6172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0B1F33"/>
                </a:solidFill>
                <a:latin typeface="Aptos Display" pitchFamily="34" charset="0"/>
                <a:ea typeface="Aptos Display" pitchFamily="34" charset="-122"/>
                <a:cs typeface="Aptos Display" pitchFamily="34" charset="-120"/>
              </a:rPr>
              <a:t>Mehul Parikh – An Unmatched Expertise &amp; Experience Design &amp; Build Solutions based approach</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 3">
            <a:extLst>
              <a:ext uri="{FF2B5EF4-FFF2-40B4-BE49-F238E27FC236}">
                <a16:creationId xmlns:a16="http://schemas.microsoft.com/office/drawing/2014/main" id="{D16A0148-12E7-D968-76F9-2535789C8D70}"/>
              </a:ext>
            </a:extLst>
          </p:cNvPr>
          <p:cNvSpPr/>
          <p:nvPr/>
        </p:nvSpPr>
        <p:spPr>
          <a:xfrm>
            <a:off x="452306" y="1221002"/>
            <a:ext cx="159105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79646">
                    <a:lumMod val="75000"/>
                  </a:srgbClr>
                </a:solidFill>
                <a:effectLst/>
                <a:uLnTx/>
                <a:uFillTx/>
                <a:latin typeface="Aptos" pitchFamily="34" charset="0"/>
                <a:ea typeface="Aptos" pitchFamily="34" charset="-122"/>
                <a:cs typeface="Aptos" pitchFamily="34" charset="-120"/>
              </a:rPr>
              <a:t>Some Landmark </a:t>
            </a:r>
            <a:r>
              <a:rPr lang="en-US" sz="2700" b="1" dirty="0">
                <a:solidFill>
                  <a:srgbClr val="F79646">
                    <a:lumMod val="75000"/>
                  </a:srgbClr>
                </a:solidFill>
                <a:latin typeface="Aptos" pitchFamily="34" charset="0"/>
                <a:ea typeface="Aptos" pitchFamily="34" charset="-122"/>
                <a:cs typeface="Aptos" pitchFamily="34" charset="-120"/>
              </a:rPr>
              <a:t>projects that have benefited from Mehul’s Expertise while he led Nina Percept</a:t>
            </a:r>
            <a:endParaRPr kumimoji="0" lang="en-US" sz="2700" b="1" i="0" u="none" strike="noStrike" kern="1200" cap="none" spc="0" normalizeH="0" baseline="0" noProof="0" dirty="0">
              <a:ln>
                <a:noFill/>
              </a:ln>
              <a:solidFill>
                <a:srgbClr val="F79646">
                  <a:lumMod val="75000"/>
                </a:srgbClr>
              </a:solidFill>
              <a:effectLst/>
              <a:uLnTx/>
              <a:uFillTx/>
              <a:latin typeface="Calibri"/>
              <a:ea typeface="+mn-ea"/>
              <a:cs typeface="+mn-cs"/>
            </a:endParaRPr>
          </a:p>
        </p:txBody>
      </p:sp>
      <p:sp>
        <p:nvSpPr>
          <p:cNvPr id="6" name="Shape 4">
            <a:extLst>
              <a:ext uri="{FF2B5EF4-FFF2-40B4-BE49-F238E27FC236}">
                <a16:creationId xmlns:a16="http://schemas.microsoft.com/office/drawing/2014/main" id="{BFDE9543-12EB-49C0-C807-BBF60E30C1BE}"/>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a:extLst>
              <a:ext uri="{FF2B5EF4-FFF2-40B4-BE49-F238E27FC236}">
                <a16:creationId xmlns:a16="http://schemas.microsoft.com/office/drawing/2014/main" id="{2FEBAFC3-5F6E-53B0-BA9F-5E8D9F2A91C3}"/>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5" name="Group 2">
            <a:extLst>
              <a:ext uri="{FF2B5EF4-FFF2-40B4-BE49-F238E27FC236}">
                <a16:creationId xmlns:a16="http://schemas.microsoft.com/office/drawing/2014/main" id="{8E129CBF-0DEF-D9C6-D8E8-F96541BCB43B}"/>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7FA00796-E96F-96CD-F7AA-4ECE9FEC0A9E}"/>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4">
              <a:extLst>
                <a:ext uri="{FF2B5EF4-FFF2-40B4-BE49-F238E27FC236}">
                  <a16:creationId xmlns:a16="http://schemas.microsoft.com/office/drawing/2014/main" id="{8C00AF22-C792-A414-3A8C-38C64ECB288D}"/>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5">
            <a:extLst>
              <a:ext uri="{FF2B5EF4-FFF2-40B4-BE49-F238E27FC236}">
                <a16:creationId xmlns:a16="http://schemas.microsoft.com/office/drawing/2014/main" id="{8A07D385-D26E-E6EB-7000-CC96E9610CC5}"/>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FB8E6CAC-7BC0-38C3-EFB0-98F454113921}"/>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Freeform 7">
            <a:extLst>
              <a:ext uri="{FF2B5EF4-FFF2-40B4-BE49-F238E27FC236}">
                <a16:creationId xmlns:a16="http://schemas.microsoft.com/office/drawing/2014/main" id="{CC6729C0-C350-40B1-5BCC-12CC12A8C494}"/>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D4B2B1FB-0FAB-AA0F-4BAD-0DC174952394}"/>
              </a:ext>
            </a:extLst>
          </p:cNvPr>
          <p:cNvSpPr/>
          <p:nvPr/>
        </p:nvSpPr>
        <p:spPr>
          <a:xfrm>
            <a:off x="7541642" y="1658322"/>
            <a:ext cx="3093347" cy="546269"/>
          </a:xfrm>
          <a:prstGeom prst="rect">
            <a:avLst/>
          </a:prstGeom>
        </p:spPr>
        <p:txBody>
          <a:bodyPr wrap="none" lIns="114268" tIns="57133" rIns="114268" bIns="57133">
            <a:spAutoFit/>
          </a:bodyPr>
          <a:lstStyle/>
          <a:p>
            <a:pPr algn="ctr" defTabSz="816059"/>
            <a:r>
              <a:rPr lang="en-US" sz="2800" b="1" dirty="0">
                <a:solidFill>
                  <a:srgbClr val="1D3482"/>
                </a:solidFill>
                <a:latin typeface="Calibri"/>
              </a:rPr>
              <a:t>Industrial Projects  </a:t>
            </a:r>
          </a:p>
        </p:txBody>
      </p:sp>
      <p:sp>
        <p:nvSpPr>
          <p:cNvPr id="24" name="Rectangle 23">
            <a:extLst>
              <a:ext uri="{FF2B5EF4-FFF2-40B4-BE49-F238E27FC236}">
                <a16:creationId xmlns:a16="http://schemas.microsoft.com/office/drawing/2014/main" id="{3A4DFD2D-F825-C951-656C-ECBE099FC97D}"/>
              </a:ext>
            </a:extLst>
          </p:cNvPr>
          <p:cNvSpPr/>
          <p:nvPr/>
        </p:nvSpPr>
        <p:spPr>
          <a:xfrm>
            <a:off x="13993815" y="5454156"/>
            <a:ext cx="2721258"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Biocon , Bengaluru</a:t>
            </a:r>
          </a:p>
        </p:txBody>
      </p:sp>
      <p:sp>
        <p:nvSpPr>
          <p:cNvPr id="30" name="Rectangle 29">
            <a:extLst>
              <a:ext uri="{FF2B5EF4-FFF2-40B4-BE49-F238E27FC236}">
                <a16:creationId xmlns:a16="http://schemas.microsoft.com/office/drawing/2014/main" id="{4C533272-F261-10D1-EE53-D3174F86560F}"/>
              </a:ext>
            </a:extLst>
          </p:cNvPr>
          <p:cNvSpPr/>
          <p:nvPr/>
        </p:nvSpPr>
        <p:spPr>
          <a:xfrm>
            <a:off x="13444226" y="9504157"/>
            <a:ext cx="3919535"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Samsung Mobile Plant, NCR</a:t>
            </a:r>
          </a:p>
        </p:txBody>
      </p:sp>
      <p:sp>
        <p:nvSpPr>
          <p:cNvPr id="32" name="Rectangle 31">
            <a:extLst>
              <a:ext uri="{FF2B5EF4-FFF2-40B4-BE49-F238E27FC236}">
                <a16:creationId xmlns:a16="http://schemas.microsoft.com/office/drawing/2014/main" id="{D7110809-C3BA-988F-15EE-E94AABA02897}"/>
              </a:ext>
            </a:extLst>
          </p:cNvPr>
          <p:cNvSpPr/>
          <p:nvPr/>
        </p:nvSpPr>
        <p:spPr>
          <a:xfrm>
            <a:off x="1013530" y="9679867"/>
            <a:ext cx="3879074" cy="500103"/>
          </a:xfrm>
          <a:prstGeom prst="rect">
            <a:avLst/>
          </a:prstGeom>
        </p:spPr>
        <p:txBody>
          <a:bodyPr wrap="none" lIns="114268" tIns="57133" rIns="114268" bIns="57133">
            <a:spAutoFit/>
          </a:bodyPr>
          <a:lstStyle/>
          <a:p>
            <a:pPr defTabSz="816059"/>
            <a:r>
              <a:rPr lang="en-US" sz="2500" b="1" dirty="0" err="1">
                <a:solidFill>
                  <a:srgbClr val="1D3482"/>
                </a:solidFill>
                <a:latin typeface="Calibri"/>
              </a:rPr>
              <a:t>USV</a:t>
            </a:r>
            <a:r>
              <a:rPr lang="en-US" sz="2500" b="1" dirty="0">
                <a:solidFill>
                  <a:srgbClr val="1D3482"/>
                </a:solidFill>
                <a:latin typeface="Calibri"/>
              </a:rPr>
              <a:t> Ltd, Multiple Locations</a:t>
            </a:r>
          </a:p>
        </p:txBody>
      </p:sp>
      <p:sp>
        <p:nvSpPr>
          <p:cNvPr id="34" name="Rectangle 33">
            <a:extLst>
              <a:ext uri="{FF2B5EF4-FFF2-40B4-BE49-F238E27FC236}">
                <a16:creationId xmlns:a16="http://schemas.microsoft.com/office/drawing/2014/main" id="{4BC6C5E8-60C4-5323-582B-7B69F5B158CD}"/>
              </a:ext>
            </a:extLst>
          </p:cNvPr>
          <p:cNvSpPr/>
          <p:nvPr/>
        </p:nvSpPr>
        <p:spPr>
          <a:xfrm>
            <a:off x="7685238" y="5513706"/>
            <a:ext cx="3187218"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Serum Institute , Pune</a:t>
            </a:r>
          </a:p>
        </p:txBody>
      </p:sp>
      <p:sp>
        <p:nvSpPr>
          <p:cNvPr id="40" name="Rectangle 39">
            <a:extLst>
              <a:ext uri="{FF2B5EF4-FFF2-40B4-BE49-F238E27FC236}">
                <a16:creationId xmlns:a16="http://schemas.microsoft.com/office/drawing/2014/main" id="{229FD28C-21EB-03F2-134E-69C21F36F14A}"/>
              </a:ext>
            </a:extLst>
          </p:cNvPr>
          <p:cNvSpPr/>
          <p:nvPr/>
        </p:nvSpPr>
        <p:spPr>
          <a:xfrm>
            <a:off x="959701" y="5584970"/>
            <a:ext cx="4450962"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Tata Motors, Multiple Locations</a:t>
            </a:r>
          </a:p>
        </p:txBody>
      </p:sp>
      <p:pic>
        <p:nvPicPr>
          <p:cNvPr id="7" name="Picture 6">
            <a:extLst>
              <a:ext uri="{FF2B5EF4-FFF2-40B4-BE49-F238E27FC236}">
                <a16:creationId xmlns:a16="http://schemas.microsoft.com/office/drawing/2014/main" id="{1B21FDFD-5632-6F23-9C36-45296B103246}"/>
              </a:ext>
            </a:extLst>
          </p:cNvPr>
          <p:cNvPicPr>
            <a:picLocks noChangeAspect="1"/>
          </p:cNvPicPr>
          <p:nvPr/>
        </p:nvPicPr>
        <p:blipFill>
          <a:blip r:embed="rId4"/>
          <a:stretch>
            <a:fillRect/>
          </a:stretch>
        </p:blipFill>
        <p:spPr>
          <a:xfrm>
            <a:off x="569212" y="2257864"/>
            <a:ext cx="5298188" cy="3404485"/>
          </a:xfrm>
          <a:prstGeom prst="rect">
            <a:avLst/>
          </a:prstGeom>
        </p:spPr>
      </p:pic>
      <p:pic>
        <p:nvPicPr>
          <p:cNvPr id="11" name="Picture 10">
            <a:extLst>
              <a:ext uri="{FF2B5EF4-FFF2-40B4-BE49-F238E27FC236}">
                <a16:creationId xmlns:a16="http://schemas.microsoft.com/office/drawing/2014/main" id="{7E9B62A4-C03C-AA66-DD34-CB22112E4943}"/>
              </a:ext>
            </a:extLst>
          </p:cNvPr>
          <p:cNvPicPr>
            <a:picLocks noChangeAspect="1"/>
          </p:cNvPicPr>
          <p:nvPr/>
        </p:nvPicPr>
        <p:blipFill>
          <a:blip r:embed="rId5"/>
          <a:stretch>
            <a:fillRect/>
          </a:stretch>
        </p:blipFill>
        <p:spPr>
          <a:xfrm>
            <a:off x="461394" y="6140122"/>
            <a:ext cx="5064635" cy="3410103"/>
          </a:xfrm>
          <a:prstGeom prst="rect">
            <a:avLst/>
          </a:prstGeom>
        </p:spPr>
      </p:pic>
      <p:pic>
        <p:nvPicPr>
          <p:cNvPr id="14" name="Picture 13">
            <a:extLst>
              <a:ext uri="{FF2B5EF4-FFF2-40B4-BE49-F238E27FC236}">
                <a16:creationId xmlns:a16="http://schemas.microsoft.com/office/drawing/2014/main" id="{DCB05F83-1AD2-7AF8-2681-48E8F3CFA780}"/>
              </a:ext>
            </a:extLst>
          </p:cNvPr>
          <p:cNvPicPr>
            <a:picLocks noChangeAspect="1"/>
          </p:cNvPicPr>
          <p:nvPr/>
        </p:nvPicPr>
        <p:blipFill>
          <a:blip r:embed="rId6"/>
          <a:stretch>
            <a:fillRect/>
          </a:stretch>
        </p:blipFill>
        <p:spPr>
          <a:xfrm>
            <a:off x="12649202" y="2132741"/>
            <a:ext cx="5265438" cy="3380965"/>
          </a:xfrm>
          <a:prstGeom prst="rect">
            <a:avLst/>
          </a:prstGeom>
        </p:spPr>
      </p:pic>
      <p:pic>
        <p:nvPicPr>
          <p:cNvPr id="23" name="Picture 22">
            <a:extLst>
              <a:ext uri="{FF2B5EF4-FFF2-40B4-BE49-F238E27FC236}">
                <a16:creationId xmlns:a16="http://schemas.microsoft.com/office/drawing/2014/main" id="{9338FDEA-94F0-7114-D6A7-CA02B0427EF7}"/>
              </a:ext>
            </a:extLst>
          </p:cNvPr>
          <p:cNvPicPr>
            <a:picLocks noChangeAspect="1"/>
          </p:cNvPicPr>
          <p:nvPr/>
        </p:nvPicPr>
        <p:blipFill>
          <a:blip r:embed="rId7"/>
          <a:stretch>
            <a:fillRect/>
          </a:stretch>
        </p:blipFill>
        <p:spPr>
          <a:xfrm>
            <a:off x="12725400" y="5954259"/>
            <a:ext cx="5189240" cy="3497386"/>
          </a:xfrm>
          <a:prstGeom prst="rect">
            <a:avLst/>
          </a:prstGeom>
        </p:spPr>
      </p:pic>
      <p:pic>
        <p:nvPicPr>
          <p:cNvPr id="31" name="Picture 30">
            <a:extLst>
              <a:ext uri="{FF2B5EF4-FFF2-40B4-BE49-F238E27FC236}">
                <a16:creationId xmlns:a16="http://schemas.microsoft.com/office/drawing/2014/main" id="{72AE289B-CC55-2AD2-020F-E58A7B1B5C85}"/>
              </a:ext>
            </a:extLst>
          </p:cNvPr>
          <p:cNvPicPr>
            <a:picLocks noChangeAspect="1"/>
          </p:cNvPicPr>
          <p:nvPr/>
        </p:nvPicPr>
        <p:blipFill>
          <a:blip r:embed="rId8"/>
          <a:stretch>
            <a:fillRect/>
          </a:stretch>
        </p:blipFill>
        <p:spPr>
          <a:xfrm>
            <a:off x="6755276" y="2291227"/>
            <a:ext cx="4958846" cy="3305897"/>
          </a:xfrm>
          <a:prstGeom prst="rect">
            <a:avLst/>
          </a:prstGeom>
        </p:spPr>
      </p:pic>
      <p:pic>
        <p:nvPicPr>
          <p:cNvPr id="35" name="Picture 34">
            <a:extLst>
              <a:ext uri="{FF2B5EF4-FFF2-40B4-BE49-F238E27FC236}">
                <a16:creationId xmlns:a16="http://schemas.microsoft.com/office/drawing/2014/main" id="{5861850E-C6D6-991D-0B97-9B23A0DA64C0}"/>
              </a:ext>
            </a:extLst>
          </p:cNvPr>
          <p:cNvPicPr>
            <a:picLocks noChangeAspect="1"/>
          </p:cNvPicPr>
          <p:nvPr/>
        </p:nvPicPr>
        <p:blipFill>
          <a:blip r:embed="rId9"/>
          <a:stretch>
            <a:fillRect/>
          </a:stretch>
        </p:blipFill>
        <p:spPr>
          <a:xfrm>
            <a:off x="6666732" y="6153093"/>
            <a:ext cx="5385329" cy="3319307"/>
          </a:xfrm>
          <a:prstGeom prst="rect">
            <a:avLst/>
          </a:prstGeom>
        </p:spPr>
      </p:pic>
      <p:sp>
        <p:nvSpPr>
          <p:cNvPr id="39" name="Rectangle 38">
            <a:extLst>
              <a:ext uri="{FF2B5EF4-FFF2-40B4-BE49-F238E27FC236}">
                <a16:creationId xmlns:a16="http://schemas.microsoft.com/office/drawing/2014/main" id="{42096DAC-8934-9A7B-B267-28551147C7C3}"/>
              </a:ext>
            </a:extLst>
          </p:cNvPr>
          <p:cNvSpPr/>
          <p:nvPr/>
        </p:nvSpPr>
        <p:spPr>
          <a:xfrm>
            <a:off x="7835919" y="9582129"/>
            <a:ext cx="2885855" cy="477054"/>
          </a:xfrm>
          <a:prstGeom prst="rect">
            <a:avLst/>
          </a:prstGeom>
        </p:spPr>
        <p:txBody>
          <a:bodyPr wrap="none">
            <a:spAutoFit/>
          </a:bodyPr>
          <a:lstStyle/>
          <a:p>
            <a:pPr defTabSz="816059"/>
            <a:r>
              <a:rPr lang="en-US" sz="2500" b="1" dirty="0">
                <a:solidFill>
                  <a:srgbClr val="1D3482"/>
                </a:solidFill>
                <a:latin typeface="Calibri"/>
              </a:rPr>
              <a:t>Tata Cummins, Pune</a:t>
            </a:r>
          </a:p>
        </p:txBody>
      </p:sp>
    </p:spTree>
    <p:extLst>
      <p:ext uri="{BB962C8B-B14F-4D97-AF65-F5344CB8AC3E}">
        <p14:creationId xmlns:p14="http://schemas.microsoft.com/office/powerpoint/2010/main" val="3774599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846E0-9B60-76CA-445C-A0F0A88E2CA6}"/>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E2BE433-5FF9-D5A1-E020-477358BB359C}"/>
              </a:ext>
            </a:extLst>
          </p:cNvPr>
          <p:cNvSpPr/>
          <p:nvPr/>
        </p:nvSpPr>
        <p:spPr>
          <a:xfrm>
            <a:off x="452306" y="576071"/>
            <a:ext cx="16047720" cy="6172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0B1F33"/>
                </a:solidFill>
                <a:latin typeface="Aptos Display" pitchFamily="34" charset="0"/>
                <a:ea typeface="Aptos Display" pitchFamily="34" charset="-122"/>
                <a:cs typeface="Aptos Display" pitchFamily="34" charset="-120"/>
              </a:rPr>
              <a:t>Mehul Parikh – An Unmatched Expertise &amp; Experience Design &amp; Build Solutions based approach</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 3">
            <a:extLst>
              <a:ext uri="{FF2B5EF4-FFF2-40B4-BE49-F238E27FC236}">
                <a16:creationId xmlns:a16="http://schemas.microsoft.com/office/drawing/2014/main" id="{EC520D14-752C-315D-5753-A5F60B90B5C9}"/>
              </a:ext>
            </a:extLst>
          </p:cNvPr>
          <p:cNvSpPr/>
          <p:nvPr/>
        </p:nvSpPr>
        <p:spPr>
          <a:xfrm>
            <a:off x="452306" y="1221002"/>
            <a:ext cx="159105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79646">
                    <a:lumMod val="75000"/>
                  </a:srgbClr>
                </a:solidFill>
                <a:effectLst/>
                <a:uLnTx/>
                <a:uFillTx/>
                <a:latin typeface="Aptos" pitchFamily="34" charset="0"/>
                <a:ea typeface="Aptos" pitchFamily="34" charset="-122"/>
                <a:cs typeface="Aptos" pitchFamily="34" charset="-120"/>
              </a:rPr>
              <a:t>Some Landmark </a:t>
            </a:r>
            <a:r>
              <a:rPr lang="en-US" sz="2700" b="1" dirty="0">
                <a:solidFill>
                  <a:srgbClr val="F79646">
                    <a:lumMod val="75000"/>
                  </a:srgbClr>
                </a:solidFill>
                <a:latin typeface="Aptos" pitchFamily="34" charset="0"/>
                <a:ea typeface="Aptos" pitchFamily="34" charset="-122"/>
                <a:cs typeface="Aptos" pitchFamily="34" charset="-120"/>
              </a:rPr>
              <a:t>projects that have benefited from Mehul’s Expertise while he led Nina Percept</a:t>
            </a:r>
            <a:endParaRPr kumimoji="0" lang="en-US" sz="2700" b="1" i="0" u="none" strike="noStrike" kern="1200" cap="none" spc="0" normalizeH="0" baseline="0" noProof="0" dirty="0">
              <a:ln>
                <a:noFill/>
              </a:ln>
              <a:solidFill>
                <a:srgbClr val="F79646">
                  <a:lumMod val="75000"/>
                </a:srgbClr>
              </a:solidFill>
              <a:effectLst/>
              <a:uLnTx/>
              <a:uFillTx/>
              <a:latin typeface="Calibri"/>
              <a:ea typeface="+mn-ea"/>
              <a:cs typeface="+mn-cs"/>
            </a:endParaRPr>
          </a:p>
        </p:txBody>
      </p:sp>
      <p:sp>
        <p:nvSpPr>
          <p:cNvPr id="6" name="Shape 4">
            <a:extLst>
              <a:ext uri="{FF2B5EF4-FFF2-40B4-BE49-F238E27FC236}">
                <a16:creationId xmlns:a16="http://schemas.microsoft.com/office/drawing/2014/main" id="{FE7E2554-9BD4-4283-7CD4-CEC1E758E8E3}"/>
              </a:ext>
            </a:extLst>
          </p:cNvPr>
          <p:cNvSpPr/>
          <p:nvPr/>
        </p:nvSpPr>
        <p:spPr>
          <a:xfrm>
            <a:off x="822960" y="9710928"/>
            <a:ext cx="16596360" cy="0"/>
          </a:xfrm>
          <a:prstGeom prst="line">
            <a:avLst/>
          </a:prstGeom>
          <a:noFill/>
          <a:ln w="8890">
            <a:solidFill>
              <a:srgbClr val="E9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7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a:extLst>
              <a:ext uri="{FF2B5EF4-FFF2-40B4-BE49-F238E27FC236}">
                <a16:creationId xmlns:a16="http://schemas.microsoft.com/office/drawing/2014/main" id="{6E4044FB-E744-F482-E4E4-BF2399163FEB}"/>
              </a:ext>
            </a:extLst>
          </p:cNvPr>
          <p:cNvSpPr/>
          <p:nvPr/>
        </p:nvSpPr>
        <p:spPr>
          <a:xfrm>
            <a:off x="13990320" y="9820656"/>
            <a:ext cx="3291840" cy="2057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6B7477"/>
                </a:solidFill>
                <a:effectLst/>
                <a:uLnTx/>
                <a:uFillTx/>
                <a:latin typeface="Aptos" pitchFamily="34" charset="0"/>
                <a:ea typeface="Aptos" pitchFamily="34" charset="-122"/>
                <a:cs typeface="Aptos" pitchFamily="34" charset="-120"/>
              </a:rPr>
              <a:t>Confidential discussion draft</a:t>
            </a:r>
            <a:endParaRPr kumimoji="0" lang="en-US" sz="102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5" name="Group 2">
            <a:extLst>
              <a:ext uri="{FF2B5EF4-FFF2-40B4-BE49-F238E27FC236}">
                <a16:creationId xmlns:a16="http://schemas.microsoft.com/office/drawing/2014/main" id="{4DEF453D-3D12-4536-D7BE-00CABD35E8A2}"/>
              </a:ext>
            </a:extLst>
          </p:cNvPr>
          <p:cNvGrpSpPr/>
          <p:nvPr/>
        </p:nvGrpSpPr>
        <p:grpSpPr>
          <a:xfrm>
            <a:off x="0" y="0"/>
            <a:ext cx="18288000" cy="190500"/>
            <a:chOff x="0" y="0"/>
            <a:chExt cx="4816593" cy="884197"/>
          </a:xfrm>
        </p:grpSpPr>
        <p:sp>
          <p:nvSpPr>
            <p:cNvPr id="16" name="Freeform 3">
              <a:extLst>
                <a:ext uri="{FF2B5EF4-FFF2-40B4-BE49-F238E27FC236}">
                  <a16:creationId xmlns:a16="http://schemas.microsoft.com/office/drawing/2014/main" id="{AFD6A25F-1F0F-E4AB-BCB4-9D3E8450A3C0}"/>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4">
              <a:extLst>
                <a:ext uri="{FF2B5EF4-FFF2-40B4-BE49-F238E27FC236}">
                  <a16:creationId xmlns:a16="http://schemas.microsoft.com/office/drawing/2014/main" id="{7573E270-DDB8-4017-D6EA-2BB13AD82561}"/>
                </a:ext>
              </a:extLst>
            </p:cNvPr>
            <p:cNvSpPr txBox="1"/>
            <p:nvPr/>
          </p:nvSpPr>
          <p:spPr>
            <a:xfrm>
              <a:off x="0" y="-38100"/>
              <a:ext cx="4816593" cy="922297"/>
            </a:xfrm>
            <a:prstGeom prst="rect">
              <a:avLst/>
            </a:prstGeom>
          </p:spPr>
          <p:txBody>
            <a:bodyPr lIns="50800" tIns="50800" rIns="50800" bIns="50800" rtlCol="0" anchor="ctr"/>
            <a:lstStyle/>
            <a:p>
              <a:pPr marL="0" marR="0" lvl="0" indent="0" algn="ctr" defTabSz="914400" rtl="0" eaLnBrk="1" fontAlgn="auto" latinLnBrk="0" hangingPunct="1">
                <a:lnSpc>
                  <a:spcPts val="200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5">
            <a:extLst>
              <a:ext uri="{FF2B5EF4-FFF2-40B4-BE49-F238E27FC236}">
                <a16:creationId xmlns:a16="http://schemas.microsoft.com/office/drawing/2014/main" id="{0A63210E-3177-9D09-F29B-4F19B886DC28}"/>
              </a:ext>
            </a:extLst>
          </p:cNvPr>
          <p:cNvGrpSpPr/>
          <p:nvPr/>
        </p:nvGrpSpPr>
        <p:grpSpPr>
          <a:xfrm rot="-10800000">
            <a:off x="-1447800" y="-8209"/>
            <a:ext cx="3810000" cy="387116"/>
            <a:chOff x="0" y="0"/>
            <a:chExt cx="24122064" cy="6379210"/>
          </a:xfrm>
        </p:grpSpPr>
        <p:sp>
          <p:nvSpPr>
            <p:cNvPr id="19" name="Freeform 6">
              <a:extLst>
                <a:ext uri="{FF2B5EF4-FFF2-40B4-BE49-F238E27FC236}">
                  <a16:creationId xmlns:a16="http://schemas.microsoft.com/office/drawing/2014/main" id="{A75C4B7F-B7D4-3A4D-B1B9-9EED9F1AC321}"/>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Freeform 7">
            <a:extLst>
              <a:ext uri="{FF2B5EF4-FFF2-40B4-BE49-F238E27FC236}">
                <a16:creationId xmlns:a16="http://schemas.microsoft.com/office/drawing/2014/main" id="{4F1B88FD-0F1D-8D77-0E60-40D8D228C762}"/>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417062B3-2E6C-6A36-2CBF-13D310FAA260}"/>
              </a:ext>
            </a:extLst>
          </p:cNvPr>
          <p:cNvSpPr/>
          <p:nvPr/>
        </p:nvSpPr>
        <p:spPr>
          <a:xfrm>
            <a:off x="6400800" y="1616931"/>
            <a:ext cx="5092035" cy="546269"/>
          </a:xfrm>
          <a:prstGeom prst="rect">
            <a:avLst/>
          </a:prstGeom>
        </p:spPr>
        <p:txBody>
          <a:bodyPr wrap="none" lIns="114268" tIns="57133" rIns="114268" bIns="57133">
            <a:spAutoFit/>
          </a:bodyPr>
          <a:lstStyle/>
          <a:p>
            <a:pPr algn="ctr" defTabSz="816059"/>
            <a:r>
              <a:rPr lang="en-US" sz="2800" b="1" dirty="0">
                <a:solidFill>
                  <a:srgbClr val="1D3482"/>
                </a:solidFill>
                <a:latin typeface="Calibri"/>
              </a:rPr>
              <a:t>Educational and Sports Projects  </a:t>
            </a:r>
          </a:p>
        </p:txBody>
      </p:sp>
      <p:sp>
        <p:nvSpPr>
          <p:cNvPr id="24" name="Rectangle 23">
            <a:extLst>
              <a:ext uri="{FF2B5EF4-FFF2-40B4-BE49-F238E27FC236}">
                <a16:creationId xmlns:a16="http://schemas.microsoft.com/office/drawing/2014/main" id="{46D1AB19-3BFD-ECB0-FE0E-C599CFB38960}"/>
              </a:ext>
            </a:extLst>
          </p:cNvPr>
          <p:cNvSpPr/>
          <p:nvPr/>
        </p:nvSpPr>
        <p:spPr>
          <a:xfrm>
            <a:off x="13299189" y="5473479"/>
            <a:ext cx="1732782"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IIM Nagpur</a:t>
            </a:r>
          </a:p>
        </p:txBody>
      </p:sp>
      <p:sp>
        <p:nvSpPr>
          <p:cNvPr id="30" name="Rectangle 29">
            <a:extLst>
              <a:ext uri="{FF2B5EF4-FFF2-40B4-BE49-F238E27FC236}">
                <a16:creationId xmlns:a16="http://schemas.microsoft.com/office/drawing/2014/main" id="{2233B1B4-CC26-8F73-0484-D13DEB2496BD}"/>
              </a:ext>
            </a:extLst>
          </p:cNvPr>
          <p:cNvSpPr/>
          <p:nvPr/>
        </p:nvSpPr>
        <p:spPr>
          <a:xfrm>
            <a:off x="13386661" y="9664101"/>
            <a:ext cx="1207317" cy="500103"/>
          </a:xfrm>
          <a:prstGeom prst="rect">
            <a:avLst/>
          </a:prstGeom>
        </p:spPr>
        <p:txBody>
          <a:bodyPr wrap="none" lIns="114268" tIns="57133" rIns="114268" bIns="57133">
            <a:spAutoFit/>
          </a:bodyPr>
          <a:lstStyle/>
          <a:p>
            <a:pPr defTabSz="816059"/>
            <a:r>
              <a:rPr lang="en-US" sz="2500" b="1" dirty="0" err="1">
                <a:solidFill>
                  <a:srgbClr val="1D3482"/>
                </a:solidFill>
                <a:latin typeface="Calibri"/>
              </a:rPr>
              <a:t>IIT</a:t>
            </a:r>
            <a:r>
              <a:rPr lang="en-US" sz="2500" b="1" dirty="0">
                <a:solidFill>
                  <a:srgbClr val="1D3482"/>
                </a:solidFill>
                <a:latin typeface="Calibri"/>
              </a:rPr>
              <a:t>, </a:t>
            </a:r>
            <a:r>
              <a:rPr lang="en-US" sz="2500" b="1" dirty="0" err="1">
                <a:solidFill>
                  <a:srgbClr val="1D3482"/>
                </a:solidFill>
                <a:latin typeface="Calibri"/>
              </a:rPr>
              <a:t>Hyd</a:t>
            </a:r>
            <a:endParaRPr lang="en-US" sz="2500" b="1" dirty="0">
              <a:solidFill>
                <a:srgbClr val="1D3482"/>
              </a:solidFill>
              <a:latin typeface="Calibri"/>
            </a:endParaRPr>
          </a:p>
        </p:txBody>
      </p:sp>
      <p:sp>
        <p:nvSpPr>
          <p:cNvPr id="32" name="Rectangle 31">
            <a:extLst>
              <a:ext uri="{FF2B5EF4-FFF2-40B4-BE49-F238E27FC236}">
                <a16:creationId xmlns:a16="http://schemas.microsoft.com/office/drawing/2014/main" id="{9CD54D03-0FE3-2AA2-8E80-6CB95D1EF710}"/>
              </a:ext>
            </a:extLst>
          </p:cNvPr>
          <p:cNvSpPr/>
          <p:nvPr/>
        </p:nvSpPr>
        <p:spPr>
          <a:xfrm>
            <a:off x="672470" y="9685072"/>
            <a:ext cx="5796907" cy="500103"/>
          </a:xfrm>
          <a:prstGeom prst="rect">
            <a:avLst/>
          </a:prstGeom>
        </p:spPr>
        <p:txBody>
          <a:bodyPr wrap="none" lIns="114268" tIns="57133" rIns="114268" bIns="57133">
            <a:spAutoFit/>
          </a:bodyPr>
          <a:lstStyle/>
          <a:p>
            <a:pPr defTabSz="816059"/>
            <a:r>
              <a:rPr lang="en-US" sz="2500" b="1" dirty="0" err="1">
                <a:solidFill>
                  <a:srgbClr val="1D3482"/>
                </a:solidFill>
                <a:latin typeface="Calibri"/>
              </a:rPr>
              <a:t>MCGM</a:t>
            </a:r>
            <a:r>
              <a:rPr lang="en-US" sz="2500" b="1" dirty="0">
                <a:solidFill>
                  <a:srgbClr val="1D3482"/>
                </a:solidFill>
                <a:latin typeface="Calibri"/>
              </a:rPr>
              <a:t> Swimming Pool Complex, Mumbai</a:t>
            </a:r>
          </a:p>
        </p:txBody>
      </p:sp>
      <p:sp>
        <p:nvSpPr>
          <p:cNvPr id="40" name="Rectangle 39">
            <a:extLst>
              <a:ext uri="{FF2B5EF4-FFF2-40B4-BE49-F238E27FC236}">
                <a16:creationId xmlns:a16="http://schemas.microsoft.com/office/drawing/2014/main" id="{371A4BDC-747C-4EC0-8DC8-0F8B5B360237}"/>
              </a:ext>
            </a:extLst>
          </p:cNvPr>
          <p:cNvSpPr/>
          <p:nvPr/>
        </p:nvSpPr>
        <p:spPr>
          <a:xfrm>
            <a:off x="1752600" y="5443922"/>
            <a:ext cx="2878993" cy="500103"/>
          </a:xfrm>
          <a:prstGeom prst="rect">
            <a:avLst/>
          </a:prstGeom>
        </p:spPr>
        <p:txBody>
          <a:bodyPr wrap="none" lIns="114268" tIns="57133" rIns="114268" bIns="57133">
            <a:spAutoFit/>
          </a:bodyPr>
          <a:lstStyle/>
          <a:p>
            <a:pPr defTabSz="816059"/>
            <a:r>
              <a:rPr lang="en-US" sz="2500" b="1" dirty="0">
                <a:solidFill>
                  <a:srgbClr val="1D3482"/>
                </a:solidFill>
                <a:latin typeface="Calibri"/>
              </a:rPr>
              <a:t>MCA Stadium, Pune</a:t>
            </a:r>
          </a:p>
        </p:txBody>
      </p:sp>
      <p:pic>
        <p:nvPicPr>
          <p:cNvPr id="7" name="Picture 6">
            <a:extLst>
              <a:ext uri="{FF2B5EF4-FFF2-40B4-BE49-F238E27FC236}">
                <a16:creationId xmlns:a16="http://schemas.microsoft.com/office/drawing/2014/main" id="{717D788B-D486-A03B-B759-9C1FF3A039E9}"/>
              </a:ext>
            </a:extLst>
          </p:cNvPr>
          <p:cNvPicPr>
            <a:picLocks noChangeAspect="1"/>
          </p:cNvPicPr>
          <p:nvPr/>
        </p:nvPicPr>
        <p:blipFill>
          <a:blip r:embed="rId4"/>
          <a:stretch>
            <a:fillRect/>
          </a:stretch>
        </p:blipFill>
        <p:spPr>
          <a:xfrm>
            <a:off x="547273" y="2217165"/>
            <a:ext cx="6520730" cy="3226753"/>
          </a:xfrm>
          <a:prstGeom prst="rect">
            <a:avLst/>
          </a:prstGeom>
        </p:spPr>
      </p:pic>
      <p:pic>
        <p:nvPicPr>
          <p:cNvPr id="11" name="Picture 10">
            <a:extLst>
              <a:ext uri="{FF2B5EF4-FFF2-40B4-BE49-F238E27FC236}">
                <a16:creationId xmlns:a16="http://schemas.microsoft.com/office/drawing/2014/main" id="{70CE3567-DCFC-E17C-442C-902D5DD06CA6}"/>
              </a:ext>
            </a:extLst>
          </p:cNvPr>
          <p:cNvPicPr>
            <a:picLocks noChangeAspect="1"/>
          </p:cNvPicPr>
          <p:nvPr/>
        </p:nvPicPr>
        <p:blipFill>
          <a:blip r:embed="rId5"/>
          <a:stretch>
            <a:fillRect/>
          </a:stretch>
        </p:blipFill>
        <p:spPr>
          <a:xfrm>
            <a:off x="577559" y="6015617"/>
            <a:ext cx="6490443" cy="3630865"/>
          </a:xfrm>
          <a:prstGeom prst="rect">
            <a:avLst/>
          </a:prstGeom>
        </p:spPr>
      </p:pic>
      <p:pic>
        <p:nvPicPr>
          <p:cNvPr id="14" name="Picture 13">
            <a:extLst>
              <a:ext uri="{FF2B5EF4-FFF2-40B4-BE49-F238E27FC236}">
                <a16:creationId xmlns:a16="http://schemas.microsoft.com/office/drawing/2014/main" id="{015185F2-E2EC-21A1-0B5D-D9D2425AD2DA}"/>
              </a:ext>
            </a:extLst>
          </p:cNvPr>
          <p:cNvPicPr>
            <a:picLocks noChangeAspect="1"/>
          </p:cNvPicPr>
          <p:nvPr/>
        </p:nvPicPr>
        <p:blipFill>
          <a:blip r:embed="rId6"/>
          <a:stretch>
            <a:fillRect/>
          </a:stretch>
        </p:blipFill>
        <p:spPr>
          <a:xfrm>
            <a:off x="10898590" y="2181154"/>
            <a:ext cx="6520730" cy="3390745"/>
          </a:xfrm>
          <a:prstGeom prst="rect">
            <a:avLst/>
          </a:prstGeom>
        </p:spPr>
      </p:pic>
      <p:pic>
        <p:nvPicPr>
          <p:cNvPr id="23" name="Picture 22">
            <a:extLst>
              <a:ext uri="{FF2B5EF4-FFF2-40B4-BE49-F238E27FC236}">
                <a16:creationId xmlns:a16="http://schemas.microsoft.com/office/drawing/2014/main" id="{FDF649DD-EC73-BD2F-4F81-4890D8FB4DEC}"/>
              </a:ext>
            </a:extLst>
          </p:cNvPr>
          <p:cNvPicPr>
            <a:picLocks noChangeAspect="1"/>
          </p:cNvPicPr>
          <p:nvPr/>
        </p:nvPicPr>
        <p:blipFill>
          <a:blip r:embed="rId7"/>
          <a:stretch>
            <a:fillRect/>
          </a:stretch>
        </p:blipFill>
        <p:spPr>
          <a:xfrm>
            <a:off x="11049000" y="6192343"/>
            <a:ext cx="6233160" cy="3320371"/>
          </a:xfrm>
          <a:prstGeom prst="rect">
            <a:avLst/>
          </a:prstGeom>
        </p:spPr>
      </p:pic>
    </p:spTree>
    <p:extLst>
      <p:ext uri="{BB962C8B-B14F-4D97-AF65-F5344CB8AC3E}">
        <p14:creationId xmlns:p14="http://schemas.microsoft.com/office/powerpoint/2010/main" val="7580505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79093D-3B23-8DF5-72A5-E87006537C4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EECFEE0-E539-CF65-594A-2AABF8DD8142}"/>
              </a:ext>
            </a:extLst>
          </p:cNvPr>
          <p:cNvSpPr/>
          <p:nvPr/>
        </p:nvSpPr>
        <p:spPr>
          <a:xfrm>
            <a:off x="891540" y="1165860"/>
            <a:ext cx="16811670" cy="617220"/>
          </a:xfrm>
          <a:prstGeom prst="rect">
            <a:avLst/>
          </a:prstGeom>
          <a:noFill/>
          <a:ln/>
        </p:spPr>
        <p:txBody>
          <a:bodyPr wrap="square" lIns="0" tIns="0" rIns="0" bIns="0" rtlCol="0" anchor="ctr"/>
          <a:lstStyle/>
          <a:p>
            <a:r>
              <a:rPr lang="en-US" sz="3750" b="1" dirty="0">
                <a:solidFill>
                  <a:srgbClr val="0B1F33"/>
                </a:solidFill>
                <a:latin typeface="Aptos Display" pitchFamily="34" charset="0"/>
                <a:ea typeface="Aptos Display" pitchFamily="34" charset="-122"/>
                <a:cs typeface="Aptos Display" pitchFamily="34" charset="-120"/>
              </a:rPr>
              <a:t>The unique EnvaDure Seven-Dimensional  Specification Design Approach Matrix </a:t>
            </a:r>
          </a:p>
        </p:txBody>
      </p:sp>
      <p:sp>
        <p:nvSpPr>
          <p:cNvPr id="6" name="Shape 4">
            <a:extLst>
              <a:ext uri="{FF2B5EF4-FFF2-40B4-BE49-F238E27FC236}">
                <a16:creationId xmlns:a16="http://schemas.microsoft.com/office/drawing/2014/main" id="{6740EC30-8519-F97C-25C5-432CA553D6BC}"/>
              </a:ext>
            </a:extLst>
          </p:cNvPr>
          <p:cNvSpPr/>
          <p:nvPr/>
        </p:nvSpPr>
        <p:spPr>
          <a:xfrm>
            <a:off x="822960" y="9710928"/>
            <a:ext cx="16596360" cy="0"/>
          </a:xfrm>
          <a:prstGeom prst="line">
            <a:avLst/>
          </a:prstGeom>
          <a:noFill/>
          <a:ln w="8890">
            <a:solidFill>
              <a:srgbClr val="E9ECEC"/>
            </a:solidFill>
            <a:prstDash val="solid"/>
          </a:ln>
        </p:spPr>
        <p:txBody>
          <a:bodyPr/>
          <a:lstStyle/>
          <a:p>
            <a:endParaRPr sz="2700"/>
          </a:p>
        </p:txBody>
      </p:sp>
      <p:sp>
        <p:nvSpPr>
          <p:cNvPr id="8" name="Text 6">
            <a:extLst>
              <a:ext uri="{FF2B5EF4-FFF2-40B4-BE49-F238E27FC236}">
                <a16:creationId xmlns:a16="http://schemas.microsoft.com/office/drawing/2014/main" id="{994C1005-22C5-0C30-16A0-016FB1A2982D}"/>
              </a:ext>
            </a:extLst>
          </p:cNvPr>
          <p:cNvSpPr/>
          <p:nvPr/>
        </p:nvSpPr>
        <p:spPr>
          <a:xfrm>
            <a:off x="13990320" y="9820656"/>
            <a:ext cx="3291840" cy="205740"/>
          </a:xfrm>
          <a:prstGeom prst="rect">
            <a:avLst/>
          </a:prstGeom>
          <a:noFill/>
          <a:ln/>
        </p:spPr>
        <p:txBody>
          <a:bodyPr wrap="square" lIns="0" tIns="0" rIns="0" bIns="0" rtlCol="0" anchor="ctr"/>
          <a:lstStyle/>
          <a:p>
            <a:pPr algn="r"/>
            <a:r>
              <a:rPr lang="en-US" sz="1020" dirty="0">
                <a:solidFill>
                  <a:srgbClr val="6B7477"/>
                </a:solidFill>
                <a:latin typeface="Aptos" pitchFamily="34" charset="0"/>
                <a:ea typeface="Aptos" pitchFamily="34" charset="-122"/>
                <a:cs typeface="Aptos" pitchFamily="34" charset="-120"/>
              </a:rPr>
              <a:t>Confidential discussion draft</a:t>
            </a:r>
            <a:endParaRPr lang="en-US" sz="1020" dirty="0"/>
          </a:p>
        </p:txBody>
      </p:sp>
      <p:sp>
        <p:nvSpPr>
          <p:cNvPr id="9" name="Text 7">
            <a:extLst>
              <a:ext uri="{FF2B5EF4-FFF2-40B4-BE49-F238E27FC236}">
                <a16:creationId xmlns:a16="http://schemas.microsoft.com/office/drawing/2014/main" id="{65570B52-E20C-FA5E-D12A-1D5F0C7201DE}"/>
              </a:ext>
            </a:extLst>
          </p:cNvPr>
          <p:cNvSpPr/>
          <p:nvPr/>
        </p:nvSpPr>
        <p:spPr>
          <a:xfrm>
            <a:off x="1165860" y="2400300"/>
            <a:ext cx="16047720" cy="6446520"/>
          </a:xfrm>
          <a:prstGeom prst="rect">
            <a:avLst/>
          </a:prstGeom>
          <a:noFill/>
          <a:ln/>
        </p:spPr>
        <p:txBody>
          <a:bodyPr wrap="square" lIns="0" tIns="0" rIns="0" bIns="0" rtlCol="0" anchor="ctr">
            <a:normAutofit/>
          </a:bodyPr>
          <a:lstStyle/>
          <a:p>
            <a:endParaRPr lang="en-US" sz="1275" dirty="0"/>
          </a:p>
        </p:txBody>
      </p:sp>
      <p:sp>
        <p:nvSpPr>
          <p:cNvPr id="31" name="TextBox 30">
            <a:extLst>
              <a:ext uri="{FF2B5EF4-FFF2-40B4-BE49-F238E27FC236}">
                <a16:creationId xmlns:a16="http://schemas.microsoft.com/office/drawing/2014/main" id="{247C6995-E8D9-471B-3442-D472E817FB0C}"/>
              </a:ext>
            </a:extLst>
          </p:cNvPr>
          <p:cNvSpPr txBox="1"/>
          <p:nvPr/>
        </p:nvSpPr>
        <p:spPr>
          <a:xfrm>
            <a:off x="854652" y="1783081"/>
            <a:ext cx="17433348" cy="7571303"/>
          </a:xfrm>
          <a:prstGeom prst="rect">
            <a:avLst/>
          </a:prstGeom>
          <a:noFill/>
        </p:spPr>
        <p:txBody>
          <a:bodyPr wrap="square">
            <a:spAutoFit/>
          </a:bodyPr>
          <a:lstStyle/>
          <a:p>
            <a:endParaRPr lang="en-IN" sz="2400" dirty="0"/>
          </a:p>
          <a:p>
            <a:r>
              <a:rPr lang="en-IN" sz="2550" b="1" dirty="0">
                <a:solidFill>
                  <a:srgbClr val="0E7C7B"/>
                </a:solidFill>
                <a:latin typeface="Aptos Display" pitchFamily="34" charset="0"/>
              </a:rPr>
              <a:t>1. Geography &amp; Geotechnical Profile </a:t>
            </a:r>
          </a:p>
          <a:p>
            <a:endParaRPr lang="en-IN" sz="2550" b="1" dirty="0">
              <a:solidFill>
                <a:srgbClr val="0E7C7B"/>
              </a:solidFill>
              <a:latin typeface="Aptos Display" pitchFamily="34" charset="0"/>
            </a:endParaRPr>
          </a:p>
          <a:p>
            <a:pPr marL="428625" indent="-428625">
              <a:buFont typeface="Arial" panose="020B0604020202020204" pitchFamily="34" charset="0"/>
              <a:buChar char="•"/>
            </a:pPr>
            <a:r>
              <a:rPr lang="en-IN" sz="2400" b="1" dirty="0">
                <a:latin typeface="Aptos Display" pitchFamily="34" charset="0"/>
              </a:rPr>
              <a:t>The Science</a:t>
            </a:r>
            <a:r>
              <a:rPr lang="en-IN" sz="2400" dirty="0"/>
              <a:t>: Analysis of soil geochemistry (pH levels, </a:t>
            </a:r>
            <a:r>
              <a:rPr lang="en-IN" sz="2400" dirty="0" err="1"/>
              <a:t>sulfate</a:t>
            </a:r>
            <a:r>
              <a:rPr lang="en-IN" sz="2400" dirty="0"/>
              <a:t>/chloride concentrations, etc  and hydrological dynamics (static hydraulic pressure  vs. dynamic perched water tables).</a:t>
            </a:r>
          </a:p>
          <a:p>
            <a:pPr marL="428625" indent="-428625">
              <a:buFont typeface="Arial" panose="020B0604020202020204" pitchFamily="34" charset="0"/>
              <a:buChar char="•"/>
            </a:pPr>
            <a:r>
              <a:rPr lang="en-IN" sz="2400" b="1" dirty="0"/>
              <a:t>The Specification Impact:</a:t>
            </a:r>
            <a:r>
              <a:rPr lang="en-IN" sz="2400" dirty="0"/>
              <a:t> Choosing a membrane that can withstand high chemical attacks without depolymerizing.</a:t>
            </a:r>
          </a:p>
          <a:p>
            <a:endParaRPr lang="en-IN" sz="2400" dirty="0"/>
          </a:p>
          <a:p>
            <a:r>
              <a:rPr lang="en-IN" sz="2400" b="1" dirty="0">
                <a:solidFill>
                  <a:srgbClr val="0E7C7B"/>
                </a:solidFill>
                <a:latin typeface="Aptos Display" pitchFamily="34" charset="0"/>
              </a:rPr>
              <a:t>2. </a:t>
            </a:r>
            <a:r>
              <a:rPr lang="en-IN" sz="2550" b="1" dirty="0">
                <a:solidFill>
                  <a:srgbClr val="0E7C7B"/>
                </a:solidFill>
                <a:latin typeface="Aptos Display" pitchFamily="34" charset="0"/>
              </a:rPr>
              <a:t>Structural &amp; Asset Usage</a:t>
            </a:r>
          </a:p>
          <a:p>
            <a:endParaRPr lang="en-IN" sz="2400" dirty="0"/>
          </a:p>
          <a:p>
            <a:pPr marL="428625" indent="-428625">
              <a:buFont typeface="Arial" panose="020B0604020202020204" pitchFamily="34" charset="0"/>
              <a:buChar char="•"/>
            </a:pPr>
            <a:r>
              <a:rPr lang="en-IN" sz="2400" b="1" dirty="0"/>
              <a:t>The Science: </a:t>
            </a:r>
            <a:r>
              <a:rPr lang="en-IN" sz="2400" dirty="0"/>
              <a:t>Tailoring the dry-envelope requirement based on interior usage classes (e.g., Grade 1 for basements with open parking structures vs. Grade 3 for hyper-sensitive data </a:t>
            </a:r>
            <a:r>
              <a:rPr lang="en-IN" sz="2400" dirty="0" err="1"/>
              <a:t>centers</a:t>
            </a:r>
            <a:r>
              <a:rPr lang="en-IN" sz="2400" dirty="0"/>
              <a:t> or habitable basements with offices or shops ).</a:t>
            </a:r>
          </a:p>
          <a:p>
            <a:pPr marL="428625" indent="-428625">
              <a:buFont typeface="Arial" panose="020B0604020202020204" pitchFamily="34" charset="0"/>
              <a:buChar char="•"/>
            </a:pPr>
            <a:r>
              <a:rPr lang="en-IN" sz="2400" b="1" dirty="0"/>
              <a:t>The Specification Impact: </a:t>
            </a:r>
            <a:r>
              <a:rPr lang="en-IN" sz="2400" dirty="0"/>
              <a:t>Designing multi-tier redundant barrier systems (Type A barrier + Type B integral + Type C drained protection) for critical zones.</a:t>
            </a:r>
          </a:p>
          <a:p>
            <a:pPr marL="428625" indent="-428625">
              <a:buFont typeface="Arial" panose="020B0604020202020204" pitchFamily="34" charset="0"/>
              <a:buChar char="•"/>
            </a:pPr>
            <a:endParaRPr lang="en-IN" sz="2400" dirty="0"/>
          </a:p>
          <a:p>
            <a:r>
              <a:rPr lang="en-IN" sz="2400" b="1" dirty="0">
                <a:solidFill>
                  <a:srgbClr val="0E7C7B"/>
                </a:solidFill>
                <a:latin typeface="Aptos Display" pitchFamily="34" charset="0"/>
              </a:rPr>
              <a:t>3. Climate </a:t>
            </a:r>
            <a:r>
              <a:rPr lang="en-IN" sz="2550" b="1" dirty="0">
                <a:solidFill>
                  <a:srgbClr val="0E7C7B"/>
                </a:solidFill>
                <a:latin typeface="Aptos Display" pitchFamily="34" charset="0"/>
              </a:rPr>
              <a:t>&amp; Microclimate Dynamics</a:t>
            </a:r>
          </a:p>
          <a:p>
            <a:pPr marL="428625" indent="-428625">
              <a:buFont typeface="Arial" panose="020B0604020202020204" pitchFamily="34" charset="0"/>
              <a:buChar char="•"/>
            </a:pPr>
            <a:r>
              <a:rPr lang="en-IN" sz="2400" b="1" dirty="0"/>
              <a:t>The Science:</a:t>
            </a:r>
            <a:r>
              <a:rPr lang="en-IN" sz="2400" dirty="0"/>
              <a:t> Designing for solar exposure, UV degradation rates, temperature fluctuations ( ), wind-driven rain vectors, and thermal expansion-contraction cycles.</a:t>
            </a:r>
          </a:p>
          <a:p>
            <a:pPr marL="428625" indent="-428625">
              <a:buFont typeface="Arial" panose="020B0604020202020204" pitchFamily="34" charset="0"/>
              <a:buChar char="•"/>
            </a:pPr>
            <a:r>
              <a:rPr lang="en-IN" sz="2400" b="1" dirty="0"/>
              <a:t>The Specification Impact:</a:t>
            </a:r>
            <a:r>
              <a:rPr lang="en-IN" sz="2400" dirty="0"/>
              <a:t> Specifying high-elasticity, crack-bridging liquid membranes in high-thermal fluctuation zones vs. robust sheet membranes for subterranean, temperature-stable basements.</a:t>
            </a:r>
          </a:p>
          <a:p>
            <a:pPr marL="428625" indent="-428625">
              <a:buFont typeface="Arial" panose="020B0604020202020204" pitchFamily="34" charset="0"/>
              <a:buChar char="•"/>
            </a:pPr>
            <a:endParaRPr lang="en-IN" sz="2400" dirty="0"/>
          </a:p>
        </p:txBody>
      </p:sp>
      <p:grpSp>
        <p:nvGrpSpPr>
          <p:cNvPr id="5" name="Group 2">
            <a:extLst>
              <a:ext uri="{FF2B5EF4-FFF2-40B4-BE49-F238E27FC236}">
                <a16:creationId xmlns:a16="http://schemas.microsoft.com/office/drawing/2014/main" id="{3CC8CA2E-97E1-DD39-7374-E529FDC751FD}"/>
              </a:ext>
            </a:extLst>
          </p:cNvPr>
          <p:cNvGrpSpPr/>
          <p:nvPr/>
        </p:nvGrpSpPr>
        <p:grpSpPr>
          <a:xfrm>
            <a:off x="0" y="0"/>
            <a:ext cx="18288000" cy="190500"/>
            <a:chOff x="0" y="0"/>
            <a:chExt cx="4816593" cy="884197"/>
          </a:xfrm>
        </p:grpSpPr>
        <p:sp>
          <p:nvSpPr>
            <p:cNvPr id="10" name="Freeform 3">
              <a:extLst>
                <a:ext uri="{FF2B5EF4-FFF2-40B4-BE49-F238E27FC236}">
                  <a16:creationId xmlns:a16="http://schemas.microsoft.com/office/drawing/2014/main" id="{794F3E2E-27A7-F18F-62D5-19CD9663147A}"/>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11" name="TextBox 4">
              <a:extLst>
                <a:ext uri="{FF2B5EF4-FFF2-40B4-BE49-F238E27FC236}">
                  <a16:creationId xmlns:a16="http://schemas.microsoft.com/office/drawing/2014/main" id="{D1DB54CE-6F7A-C3E8-465F-1D0FF4C26340}"/>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12" name="Group 5">
            <a:extLst>
              <a:ext uri="{FF2B5EF4-FFF2-40B4-BE49-F238E27FC236}">
                <a16:creationId xmlns:a16="http://schemas.microsoft.com/office/drawing/2014/main" id="{CA7C8C04-B3E1-F74F-9A0F-9A1B8085D76E}"/>
              </a:ext>
            </a:extLst>
          </p:cNvPr>
          <p:cNvGrpSpPr/>
          <p:nvPr/>
        </p:nvGrpSpPr>
        <p:grpSpPr>
          <a:xfrm rot="-10800000">
            <a:off x="-1447800" y="-8209"/>
            <a:ext cx="3810000" cy="387116"/>
            <a:chOff x="0" y="0"/>
            <a:chExt cx="24122064" cy="6379210"/>
          </a:xfrm>
        </p:grpSpPr>
        <p:sp>
          <p:nvSpPr>
            <p:cNvPr id="13" name="Freeform 6">
              <a:extLst>
                <a:ext uri="{FF2B5EF4-FFF2-40B4-BE49-F238E27FC236}">
                  <a16:creationId xmlns:a16="http://schemas.microsoft.com/office/drawing/2014/main" id="{5C2FC676-C938-4DB8-AF00-344680E05976}"/>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15" name="Freeform 7">
            <a:extLst>
              <a:ext uri="{FF2B5EF4-FFF2-40B4-BE49-F238E27FC236}">
                <a16:creationId xmlns:a16="http://schemas.microsoft.com/office/drawing/2014/main" id="{98C136BB-DB9A-F5A1-5010-90F6BFE0F552}"/>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endParaRPr lang="en-IN"/>
          </a:p>
        </p:txBody>
      </p:sp>
    </p:spTree>
    <p:extLst>
      <p:ext uri="{BB962C8B-B14F-4D97-AF65-F5344CB8AC3E}">
        <p14:creationId xmlns:p14="http://schemas.microsoft.com/office/powerpoint/2010/main" val="3578189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0D55D1-B520-0FF5-9195-40DA9D2C3664}"/>
            </a:ext>
          </a:extLst>
        </p:cNvPr>
        <p:cNvGrpSpPr/>
        <p:nvPr/>
      </p:nvGrpSpPr>
      <p:grpSpPr>
        <a:xfrm>
          <a:off x="0" y="0"/>
          <a:ext cx="0" cy="0"/>
          <a:chOff x="0" y="0"/>
          <a:chExt cx="0" cy="0"/>
        </a:xfrm>
      </p:grpSpPr>
      <p:sp>
        <p:nvSpPr>
          <p:cNvPr id="6" name="Shape 4">
            <a:extLst>
              <a:ext uri="{FF2B5EF4-FFF2-40B4-BE49-F238E27FC236}">
                <a16:creationId xmlns:a16="http://schemas.microsoft.com/office/drawing/2014/main" id="{852F038B-3FF6-65B5-2C9F-1EF6E3270E58}"/>
              </a:ext>
            </a:extLst>
          </p:cNvPr>
          <p:cNvSpPr/>
          <p:nvPr/>
        </p:nvSpPr>
        <p:spPr>
          <a:xfrm>
            <a:off x="822960" y="9710928"/>
            <a:ext cx="16596360" cy="0"/>
          </a:xfrm>
          <a:prstGeom prst="line">
            <a:avLst/>
          </a:prstGeom>
          <a:noFill/>
          <a:ln w="8890">
            <a:solidFill>
              <a:srgbClr val="E9ECEC"/>
            </a:solidFill>
            <a:prstDash val="solid"/>
          </a:ln>
        </p:spPr>
        <p:txBody>
          <a:bodyPr/>
          <a:lstStyle/>
          <a:p>
            <a:endParaRPr sz="2700"/>
          </a:p>
        </p:txBody>
      </p:sp>
      <p:sp>
        <p:nvSpPr>
          <p:cNvPr id="8" name="Text 6">
            <a:extLst>
              <a:ext uri="{FF2B5EF4-FFF2-40B4-BE49-F238E27FC236}">
                <a16:creationId xmlns:a16="http://schemas.microsoft.com/office/drawing/2014/main" id="{23652CFD-2E38-051F-8C52-3B3640CEEE74}"/>
              </a:ext>
            </a:extLst>
          </p:cNvPr>
          <p:cNvSpPr/>
          <p:nvPr/>
        </p:nvSpPr>
        <p:spPr>
          <a:xfrm>
            <a:off x="13990320" y="9820656"/>
            <a:ext cx="3291840" cy="205740"/>
          </a:xfrm>
          <a:prstGeom prst="rect">
            <a:avLst/>
          </a:prstGeom>
          <a:noFill/>
          <a:ln/>
        </p:spPr>
        <p:txBody>
          <a:bodyPr wrap="square" lIns="0" tIns="0" rIns="0" bIns="0" rtlCol="0" anchor="ctr"/>
          <a:lstStyle/>
          <a:p>
            <a:pPr algn="r"/>
            <a:r>
              <a:rPr lang="en-US" sz="1020" dirty="0">
                <a:solidFill>
                  <a:srgbClr val="6B7477"/>
                </a:solidFill>
                <a:latin typeface="Aptos" pitchFamily="34" charset="0"/>
                <a:ea typeface="Aptos" pitchFamily="34" charset="-122"/>
                <a:cs typeface="Aptos" pitchFamily="34" charset="-120"/>
              </a:rPr>
              <a:t>Confidential discussion draft</a:t>
            </a:r>
            <a:endParaRPr lang="en-US" sz="1020" dirty="0"/>
          </a:p>
        </p:txBody>
      </p:sp>
      <p:sp>
        <p:nvSpPr>
          <p:cNvPr id="9" name="Text 7">
            <a:extLst>
              <a:ext uri="{FF2B5EF4-FFF2-40B4-BE49-F238E27FC236}">
                <a16:creationId xmlns:a16="http://schemas.microsoft.com/office/drawing/2014/main" id="{7840EB31-1C1E-B0A5-EDA7-D5573DFBB23F}"/>
              </a:ext>
            </a:extLst>
          </p:cNvPr>
          <p:cNvSpPr/>
          <p:nvPr/>
        </p:nvSpPr>
        <p:spPr>
          <a:xfrm>
            <a:off x="1165860" y="2400300"/>
            <a:ext cx="16047720" cy="6446520"/>
          </a:xfrm>
          <a:prstGeom prst="rect">
            <a:avLst/>
          </a:prstGeom>
          <a:noFill/>
          <a:ln/>
        </p:spPr>
        <p:txBody>
          <a:bodyPr wrap="square" lIns="0" tIns="0" rIns="0" bIns="0" rtlCol="0" anchor="ctr">
            <a:normAutofit/>
          </a:bodyPr>
          <a:lstStyle/>
          <a:p>
            <a:endParaRPr lang="en-US" sz="1275" dirty="0"/>
          </a:p>
        </p:txBody>
      </p:sp>
      <p:sp>
        <p:nvSpPr>
          <p:cNvPr id="31" name="TextBox 30">
            <a:extLst>
              <a:ext uri="{FF2B5EF4-FFF2-40B4-BE49-F238E27FC236}">
                <a16:creationId xmlns:a16="http://schemas.microsoft.com/office/drawing/2014/main" id="{9E27BFE5-F57F-BAC0-D8B0-ED1570A5E392}"/>
              </a:ext>
            </a:extLst>
          </p:cNvPr>
          <p:cNvSpPr txBox="1"/>
          <p:nvPr/>
        </p:nvSpPr>
        <p:spPr>
          <a:xfrm>
            <a:off x="427326" y="1783081"/>
            <a:ext cx="17433348" cy="7871386"/>
          </a:xfrm>
          <a:prstGeom prst="rect">
            <a:avLst/>
          </a:prstGeom>
          <a:noFill/>
        </p:spPr>
        <p:txBody>
          <a:bodyPr wrap="square">
            <a:spAutoFit/>
          </a:bodyPr>
          <a:lstStyle/>
          <a:p>
            <a:endParaRPr lang="en-IN" sz="2400" dirty="0"/>
          </a:p>
          <a:p>
            <a:r>
              <a:rPr lang="en-IN" sz="2400" b="1" dirty="0">
                <a:solidFill>
                  <a:srgbClr val="0E7C7B"/>
                </a:solidFill>
                <a:latin typeface="Aptos Display" pitchFamily="34" charset="0"/>
              </a:rPr>
              <a:t>4. Energy </a:t>
            </a:r>
            <a:r>
              <a:rPr lang="en-IN" sz="2550" b="1" dirty="0">
                <a:solidFill>
                  <a:srgbClr val="0E7C7B"/>
                </a:solidFill>
                <a:latin typeface="Aptos Display" pitchFamily="34" charset="0"/>
              </a:rPr>
              <a:t>Efficiency &amp; Thermal Synergy</a:t>
            </a:r>
          </a:p>
          <a:p>
            <a:pPr marL="428625" indent="-428625">
              <a:buFont typeface="Arial" panose="020B0604020202020204" pitchFamily="34" charset="0"/>
              <a:buChar char="•"/>
            </a:pPr>
            <a:r>
              <a:rPr lang="en-IN" sz="2400" b="1" dirty="0"/>
              <a:t>The Science: </a:t>
            </a:r>
            <a:r>
              <a:rPr lang="en-IN" sz="2400" dirty="0"/>
              <a:t>Aligning the waterproofing barrier with insulation components (value requirements) and vapor control layers to prevent interstitial condensation.</a:t>
            </a:r>
          </a:p>
          <a:p>
            <a:pPr marL="428625" indent="-428625">
              <a:buFont typeface="Arial" panose="020B0604020202020204" pitchFamily="34" charset="0"/>
              <a:buChar char="•"/>
            </a:pPr>
            <a:r>
              <a:rPr lang="en-IN" sz="2400" b="1" dirty="0"/>
              <a:t>The Specification Impact: </a:t>
            </a:r>
            <a:r>
              <a:rPr lang="en-IN" sz="2400" dirty="0"/>
              <a:t>Specifying cool-roof, highly reflective waterproofing coatings to lower building HVAC energy consumption.</a:t>
            </a:r>
          </a:p>
          <a:p>
            <a:pPr marL="428625" indent="-428625">
              <a:buFont typeface="Arial" panose="020B0604020202020204" pitchFamily="34" charset="0"/>
              <a:buChar char="•"/>
            </a:pPr>
            <a:endParaRPr lang="en-IN" sz="2400" dirty="0"/>
          </a:p>
          <a:p>
            <a:r>
              <a:rPr lang="en-US" sz="2400" b="1" dirty="0">
                <a:solidFill>
                  <a:srgbClr val="0E7C7B"/>
                </a:solidFill>
                <a:latin typeface="Aptos Display" pitchFamily="34" charset="0"/>
              </a:rPr>
              <a:t>5. Value Engineering</a:t>
            </a:r>
          </a:p>
          <a:p>
            <a:pPr marL="428625" indent="-428625">
              <a:buFont typeface="Arial" panose="020B0604020202020204" pitchFamily="34" charset="0"/>
              <a:buChar char="•"/>
            </a:pPr>
            <a:r>
              <a:rPr lang="en-US" sz="2400" b="1" dirty="0"/>
              <a:t>The Science</a:t>
            </a:r>
            <a:r>
              <a:rPr lang="en-US" sz="2400" dirty="0"/>
              <a:t>: Optimizing initial capital expenditure ( ) versus long-term operational and remedial maintenance expenditures.</a:t>
            </a:r>
          </a:p>
          <a:p>
            <a:pPr marL="428625" indent="-428625">
              <a:buFont typeface="Arial" panose="020B0604020202020204" pitchFamily="34" charset="0"/>
              <a:buChar char="•"/>
            </a:pPr>
            <a:r>
              <a:rPr lang="en-US" sz="2400" b="1" dirty="0"/>
              <a:t>The Specification Impact:</a:t>
            </a:r>
            <a:r>
              <a:rPr lang="en-US" sz="2400" dirty="0"/>
              <a:t> Recommending a hybrid system—spending premium dollars on inaccessible, critical below-grade areas while utilizing highly cost-effective, easily repairable systems for above-grade podiums.</a:t>
            </a:r>
          </a:p>
          <a:p>
            <a:pPr marL="428625" indent="-428625">
              <a:buFont typeface="Arial" panose="020B0604020202020204" pitchFamily="34" charset="0"/>
              <a:buChar char="•"/>
            </a:pPr>
            <a:endParaRPr lang="en-US" sz="2400" dirty="0"/>
          </a:p>
          <a:p>
            <a:r>
              <a:rPr lang="en-US" sz="2400" b="1" dirty="0">
                <a:solidFill>
                  <a:srgbClr val="0E7C7B"/>
                </a:solidFill>
                <a:latin typeface="Aptos Display" pitchFamily="34" charset="0"/>
              </a:rPr>
              <a:t>6. Sustainability &amp; Environmental Footprint</a:t>
            </a:r>
          </a:p>
          <a:p>
            <a:pPr marL="428625" indent="-428625">
              <a:buFont typeface="Arial" panose="020B0604020202020204" pitchFamily="34" charset="0"/>
              <a:buChar char="•"/>
            </a:pPr>
            <a:r>
              <a:rPr lang="en-US" sz="2400" b="1" dirty="0"/>
              <a:t>The Science: </a:t>
            </a:r>
            <a:r>
              <a:rPr lang="en-US" sz="2400" dirty="0"/>
              <a:t>Reducing VOC emissions, utilizing recycled polymer content, and optimizing the carbon footprint of the waterproofing system over its lifetime.</a:t>
            </a:r>
          </a:p>
          <a:p>
            <a:pPr marL="428625" indent="-428625">
              <a:buFont typeface="Arial" panose="020B0604020202020204" pitchFamily="34" charset="0"/>
              <a:buChar char="•"/>
            </a:pPr>
            <a:r>
              <a:rPr lang="en-US" sz="2400" b="1" dirty="0"/>
              <a:t>The Specification Impact:</a:t>
            </a:r>
            <a:r>
              <a:rPr lang="en-US" sz="2400" dirty="0"/>
              <a:t> Prioritizing solvent-free, non-toxic, and LEED-compliant systems that do not contaminate local groundwater systems.</a:t>
            </a:r>
          </a:p>
          <a:p>
            <a:pPr marL="428625" indent="-428625">
              <a:buFont typeface="Arial" panose="020B0604020202020204" pitchFamily="34" charset="0"/>
              <a:buChar char="•"/>
            </a:pPr>
            <a:endParaRPr lang="en-US" sz="2400" dirty="0"/>
          </a:p>
          <a:p>
            <a:r>
              <a:rPr lang="en-US" sz="2400" b="1" dirty="0">
                <a:solidFill>
                  <a:srgbClr val="0E7C7B"/>
                </a:solidFill>
                <a:latin typeface="Aptos Display" pitchFamily="34" charset="0"/>
              </a:rPr>
              <a:t>7. Long-Term Durability Criteria</a:t>
            </a:r>
          </a:p>
          <a:p>
            <a:pPr marL="428625" indent="-428625">
              <a:buFont typeface="Arial" panose="020B0604020202020204" pitchFamily="34" charset="0"/>
              <a:buChar char="•"/>
            </a:pPr>
            <a:r>
              <a:rPr lang="en-US" sz="2400" b="1" dirty="0"/>
              <a:t>The Science: </a:t>
            </a:r>
            <a:r>
              <a:rPr lang="en-US" sz="2400" dirty="0"/>
              <a:t>Matching the service life expectancy of the waterproofing system with the design life of the structural concrete</a:t>
            </a:r>
          </a:p>
          <a:p>
            <a:pPr marL="428625" indent="-428625">
              <a:buFont typeface="Arial" panose="020B0604020202020204" pitchFamily="34" charset="0"/>
              <a:buChar char="•"/>
            </a:pPr>
            <a:r>
              <a:rPr lang="en-US" sz="2400" b="1" dirty="0"/>
              <a:t>The Specification Impact:</a:t>
            </a:r>
            <a:r>
              <a:rPr lang="en-US" sz="2400" dirty="0"/>
              <a:t> Eliminating materials with a high rate of early-onset oxidation or embrittlement to prevent premature structural decay.</a:t>
            </a:r>
          </a:p>
        </p:txBody>
      </p:sp>
      <p:sp>
        <p:nvSpPr>
          <p:cNvPr id="5" name="Text 2">
            <a:extLst>
              <a:ext uri="{FF2B5EF4-FFF2-40B4-BE49-F238E27FC236}">
                <a16:creationId xmlns:a16="http://schemas.microsoft.com/office/drawing/2014/main" id="{03D99116-8EB9-46C8-C747-474575A5F7DF}"/>
              </a:ext>
            </a:extLst>
          </p:cNvPr>
          <p:cNvSpPr/>
          <p:nvPr/>
        </p:nvSpPr>
        <p:spPr>
          <a:xfrm>
            <a:off x="891540" y="1165860"/>
            <a:ext cx="16811670" cy="617220"/>
          </a:xfrm>
          <a:prstGeom prst="rect">
            <a:avLst/>
          </a:prstGeom>
          <a:noFill/>
          <a:ln/>
        </p:spPr>
        <p:txBody>
          <a:bodyPr wrap="square" lIns="0" tIns="0" rIns="0" bIns="0" rtlCol="0" anchor="ctr"/>
          <a:lstStyle/>
          <a:p>
            <a:r>
              <a:rPr lang="en-US" sz="3750" b="1" dirty="0">
                <a:solidFill>
                  <a:srgbClr val="0B1F33"/>
                </a:solidFill>
                <a:latin typeface="Aptos Display" pitchFamily="34" charset="0"/>
                <a:ea typeface="Aptos Display" pitchFamily="34" charset="-122"/>
                <a:cs typeface="Aptos Display" pitchFamily="34" charset="-120"/>
              </a:rPr>
              <a:t>The unique EnvaDure Seven-Dimensional  Specification Design Approach Matrix </a:t>
            </a:r>
          </a:p>
        </p:txBody>
      </p:sp>
      <p:grpSp>
        <p:nvGrpSpPr>
          <p:cNvPr id="4" name="Group 2">
            <a:extLst>
              <a:ext uri="{FF2B5EF4-FFF2-40B4-BE49-F238E27FC236}">
                <a16:creationId xmlns:a16="http://schemas.microsoft.com/office/drawing/2014/main" id="{5939AC9C-901B-C96B-A1BF-FA05F0E4D124}"/>
              </a:ext>
            </a:extLst>
          </p:cNvPr>
          <p:cNvGrpSpPr/>
          <p:nvPr/>
        </p:nvGrpSpPr>
        <p:grpSpPr>
          <a:xfrm>
            <a:off x="0" y="0"/>
            <a:ext cx="18288000" cy="190500"/>
            <a:chOff x="0" y="0"/>
            <a:chExt cx="4816593" cy="884197"/>
          </a:xfrm>
        </p:grpSpPr>
        <p:sp>
          <p:nvSpPr>
            <p:cNvPr id="10" name="Freeform 3">
              <a:extLst>
                <a:ext uri="{FF2B5EF4-FFF2-40B4-BE49-F238E27FC236}">
                  <a16:creationId xmlns:a16="http://schemas.microsoft.com/office/drawing/2014/main" id="{8C6253D2-6331-FF1B-B559-A7A862888EFA}"/>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11" name="TextBox 4">
              <a:extLst>
                <a:ext uri="{FF2B5EF4-FFF2-40B4-BE49-F238E27FC236}">
                  <a16:creationId xmlns:a16="http://schemas.microsoft.com/office/drawing/2014/main" id="{0E643DCD-88C5-269A-6048-0B04B0F823D1}"/>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12" name="Group 5">
            <a:extLst>
              <a:ext uri="{FF2B5EF4-FFF2-40B4-BE49-F238E27FC236}">
                <a16:creationId xmlns:a16="http://schemas.microsoft.com/office/drawing/2014/main" id="{1453ED9C-B4C1-1E8F-26F7-9C979DD1FEBC}"/>
              </a:ext>
            </a:extLst>
          </p:cNvPr>
          <p:cNvGrpSpPr/>
          <p:nvPr/>
        </p:nvGrpSpPr>
        <p:grpSpPr>
          <a:xfrm rot="-10800000">
            <a:off x="-1447800" y="-8209"/>
            <a:ext cx="3810000" cy="387116"/>
            <a:chOff x="0" y="0"/>
            <a:chExt cx="24122064" cy="6379210"/>
          </a:xfrm>
        </p:grpSpPr>
        <p:sp>
          <p:nvSpPr>
            <p:cNvPr id="13" name="Freeform 6">
              <a:extLst>
                <a:ext uri="{FF2B5EF4-FFF2-40B4-BE49-F238E27FC236}">
                  <a16:creationId xmlns:a16="http://schemas.microsoft.com/office/drawing/2014/main" id="{DD432B13-F0F1-579C-FDDF-5043C76AD730}"/>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15" name="Freeform 7">
            <a:extLst>
              <a:ext uri="{FF2B5EF4-FFF2-40B4-BE49-F238E27FC236}">
                <a16:creationId xmlns:a16="http://schemas.microsoft.com/office/drawing/2014/main" id="{E8D88CD1-3A99-731F-ED18-B5C9771C0E3D}"/>
              </a:ext>
            </a:extLst>
          </p:cNvPr>
          <p:cNvSpPr/>
          <p:nvPr/>
        </p:nvSpPr>
        <p:spPr>
          <a:xfrm>
            <a:off x="15163800" y="495300"/>
            <a:ext cx="2791132" cy="9906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3"/>
            <a:stretch>
              <a:fillRect t="-103246" b="-111314"/>
            </a:stretch>
          </a:blipFill>
        </p:spPr>
        <p:txBody>
          <a:bodyPr/>
          <a:lstStyle/>
          <a:p>
            <a:endParaRPr lang="en-IN"/>
          </a:p>
        </p:txBody>
      </p:sp>
    </p:spTree>
    <p:extLst>
      <p:ext uri="{BB962C8B-B14F-4D97-AF65-F5344CB8AC3E}">
        <p14:creationId xmlns:p14="http://schemas.microsoft.com/office/powerpoint/2010/main" val="2209449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8ADD3-94D5-27EB-8637-819832A5C83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A73A374-2778-C7D5-D0FD-1AA45BE24667}"/>
              </a:ext>
            </a:extLst>
          </p:cNvPr>
          <p:cNvGrpSpPr/>
          <p:nvPr/>
        </p:nvGrpSpPr>
        <p:grpSpPr>
          <a:xfrm>
            <a:off x="0" y="0"/>
            <a:ext cx="18288000" cy="190500"/>
            <a:chOff x="0" y="0"/>
            <a:chExt cx="4816593" cy="884197"/>
          </a:xfrm>
        </p:grpSpPr>
        <p:sp>
          <p:nvSpPr>
            <p:cNvPr id="3" name="Freeform 3">
              <a:extLst>
                <a:ext uri="{FF2B5EF4-FFF2-40B4-BE49-F238E27FC236}">
                  <a16:creationId xmlns:a16="http://schemas.microsoft.com/office/drawing/2014/main" id="{E71CD5DC-D861-2EAD-080A-8D101C3D1A74}"/>
                </a:ext>
              </a:extLst>
            </p:cNvPr>
            <p:cNvSpPr/>
            <p:nvPr/>
          </p:nvSpPr>
          <p:spPr>
            <a:xfrm>
              <a:off x="0" y="0"/>
              <a:ext cx="4816592" cy="884197"/>
            </a:xfrm>
            <a:custGeom>
              <a:avLst/>
              <a:gdLst/>
              <a:ahLst/>
              <a:cxnLst/>
              <a:rect l="l" t="t" r="r" b="b"/>
              <a:pathLst>
                <a:path w="4816592" h="884197">
                  <a:moveTo>
                    <a:pt x="0" y="0"/>
                  </a:moveTo>
                  <a:lnTo>
                    <a:pt x="4816592" y="0"/>
                  </a:lnTo>
                  <a:lnTo>
                    <a:pt x="4816592" y="884197"/>
                  </a:lnTo>
                  <a:lnTo>
                    <a:pt x="0" y="884197"/>
                  </a:lnTo>
                  <a:close/>
                </a:path>
              </a:pathLst>
            </a:custGeom>
            <a:gradFill rotWithShape="1">
              <a:gsLst>
                <a:gs pos="0">
                  <a:srgbClr val="788D98">
                    <a:alpha val="100000"/>
                  </a:srgbClr>
                </a:gs>
                <a:gs pos="100000">
                  <a:srgbClr val="49576B">
                    <a:alpha val="100000"/>
                  </a:srgbClr>
                </a:gs>
              </a:gsLst>
              <a:lin ang="0"/>
            </a:gradFill>
          </p:spPr>
          <p:txBody>
            <a:bodyPr/>
            <a:lstStyle/>
            <a:p>
              <a:endParaRPr lang="en-IN"/>
            </a:p>
          </p:txBody>
        </p:sp>
        <p:sp>
          <p:nvSpPr>
            <p:cNvPr id="4" name="TextBox 4">
              <a:extLst>
                <a:ext uri="{FF2B5EF4-FFF2-40B4-BE49-F238E27FC236}">
                  <a16:creationId xmlns:a16="http://schemas.microsoft.com/office/drawing/2014/main" id="{9496D2F2-2AEE-2CDA-1225-67AA0DF49647}"/>
                </a:ext>
              </a:extLst>
            </p:cNvPr>
            <p:cNvSpPr txBox="1"/>
            <p:nvPr/>
          </p:nvSpPr>
          <p:spPr>
            <a:xfrm>
              <a:off x="0" y="-38100"/>
              <a:ext cx="4816593" cy="922297"/>
            </a:xfrm>
            <a:prstGeom prst="rect">
              <a:avLst/>
            </a:prstGeom>
          </p:spPr>
          <p:txBody>
            <a:bodyPr lIns="50800" tIns="50800" rIns="50800" bIns="50800" rtlCol="0" anchor="ctr"/>
            <a:lstStyle/>
            <a:p>
              <a:pPr algn="ctr">
                <a:lnSpc>
                  <a:spcPts val="2004"/>
                </a:lnSpc>
              </a:pPr>
              <a:endParaRPr/>
            </a:p>
          </p:txBody>
        </p:sp>
      </p:grpSp>
      <p:grpSp>
        <p:nvGrpSpPr>
          <p:cNvPr id="5" name="Group 5">
            <a:extLst>
              <a:ext uri="{FF2B5EF4-FFF2-40B4-BE49-F238E27FC236}">
                <a16:creationId xmlns:a16="http://schemas.microsoft.com/office/drawing/2014/main" id="{1ABDB32B-FECF-A8BC-9E13-8832ED04BBDD}"/>
              </a:ext>
            </a:extLst>
          </p:cNvPr>
          <p:cNvGrpSpPr/>
          <p:nvPr/>
        </p:nvGrpSpPr>
        <p:grpSpPr>
          <a:xfrm rot="-10800000">
            <a:off x="-1447800" y="-8209"/>
            <a:ext cx="3810000" cy="387116"/>
            <a:chOff x="0" y="0"/>
            <a:chExt cx="24122064" cy="6379210"/>
          </a:xfrm>
        </p:grpSpPr>
        <p:sp>
          <p:nvSpPr>
            <p:cNvPr id="6" name="Freeform 6">
              <a:extLst>
                <a:ext uri="{FF2B5EF4-FFF2-40B4-BE49-F238E27FC236}">
                  <a16:creationId xmlns:a16="http://schemas.microsoft.com/office/drawing/2014/main" id="{4D11CD0B-9379-A46E-3050-EE56550380DC}"/>
                </a:ext>
              </a:extLst>
            </p:cNvPr>
            <p:cNvSpPr/>
            <p:nvPr/>
          </p:nvSpPr>
          <p:spPr>
            <a:xfrm>
              <a:off x="0" y="0"/>
              <a:ext cx="24122064" cy="6379210"/>
            </a:xfrm>
            <a:custGeom>
              <a:avLst/>
              <a:gdLst/>
              <a:ahLst/>
              <a:cxnLst/>
              <a:rect l="l" t="t" r="r" b="b"/>
              <a:pathLst>
                <a:path w="24122064" h="6379210">
                  <a:moveTo>
                    <a:pt x="17445075" y="0"/>
                  </a:moveTo>
                  <a:lnTo>
                    <a:pt x="7445182" y="0"/>
                  </a:lnTo>
                  <a:lnTo>
                    <a:pt x="6695221" y="7620"/>
                  </a:lnTo>
                  <a:lnTo>
                    <a:pt x="0" y="6379210"/>
                  </a:lnTo>
                  <a:lnTo>
                    <a:pt x="17476153" y="6379210"/>
                  </a:lnTo>
                  <a:lnTo>
                    <a:pt x="24122064" y="0"/>
                  </a:lnTo>
                  <a:close/>
                </a:path>
              </a:pathLst>
            </a:custGeom>
            <a:solidFill>
              <a:srgbClr val="29706E"/>
            </a:solidFill>
          </p:spPr>
          <p:txBody>
            <a:bodyPr/>
            <a:lstStyle/>
            <a:p>
              <a:endParaRPr lang="en-IN"/>
            </a:p>
          </p:txBody>
        </p:sp>
      </p:grpSp>
      <p:sp>
        <p:nvSpPr>
          <p:cNvPr id="7" name="Freeform 7">
            <a:extLst>
              <a:ext uri="{FF2B5EF4-FFF2-40B4-BE49-F238E27FC236}">
                <a16:creationId xmlns:a16="http://schemas.microsoft.com/office/drawing/2014/main" id="{F1700596-798B-06D1-5563-BB53C64DA740}"/>
              </a:ext>
            </a:extLst>
          </p:cNvPr>
          <p:cNvSpPr/>
          <p:nvPr/>
        </p:nvSpPr>
        <p:spPr>
          <a:xfrm>
            <a:off x="13335000" y="495300"/>
            <a:ext cx="4619932" cy="2057400"/>
          </a:xfrm>
          <a:custGeom>
            <a:avLst/>
            <a:gdLst/>
            <a:ahLst/>
            <a:cxnLst/>
            <a:rect l="l" t="t" r="r" b="b"/>
            <a:pathLst>
              <a:path w="4162732" h="1294936">
                <a:moveTo>
                  <a:pt x="0" y="0"/>
                </a:moveTo>
                <a:lnTo>
                  <a:pt x="4162731" y="0"/>
                </a:lnTo>
                <a:lnTo>
                  <a:pt x="4162731" y="1294936"/>
                </a:lnTo>
                <a:lnTo>
                  <a:pt x="0" y="1294936"/>
                </a:lnTo>
                <a:lnTo>
                  <a:pt x="0" y="0"/>
                </a:lnTo>
                <a:close/>
              </a:path>
            </a:pathLst>
          </a:custGeom>
          <a:blipFill>
            <a:blip r:embed="rId2"/>
            <a:stretch>
              <a:fillRect t="-103246" b="-111314"/>
            </a:stretch>
          </a:blipFill>
        </p:spPr>
        <p:txBody>
          <a:bodyPr/>
          <a:lstStyle/>
          <a:p>
            <a:endParaRPr lang="en-IN"/>
          </a:p>
        </p:txBody>
      </p:sp>
      <p:sp>
        <p:nvSpPr>
          <p:cNvPr id="8" name="Rectangle 7">
            <a:extLst>
              <a:ext uri="{FF2B5EF4-FFF2-40B4-BE49-F238E27FC236}">
                <a16:creationId xmlns:a16="http://schemas.microsoft.com/office/drawing/2014/main" id="{F633CE61-06A6-1AE3-70D8-FD243B610573}"/>
              </a:ext>
            </a:extLst>
          </p:cNvPr>
          <p:cNvSpPr/>
          <p:nvPr/>
        </p:nvSpPr>
        <p:spPr>
          <a:xfrm>
            <a:off x="6994263" y="2400300"/>
            <a:ext cx="3279744" cy="923330"/>
          </a:xfrm>
          <a:prstGeom prst="rect">
            <a:avLst/>
          </a:prstGeom>
          <a:noFill/>
          <a:ln>
            <a:solidFill>
              <a:schemeClr val="accent1"/>
            </a:solidFill>
          </a:ln>
          <a:effectLst>
            <a:glow rad="228600">
              <a:schemeClr val="accent3">
                <a:satMod val="175000"/>
                <a:alpha val="40000"/>
              </a:schemeClr>
            </a:glow>
          </a:effectLst>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Contact Us</a:t>
            </a:r>
          </a:p>
        </p:txBody>
      </p:sp>
      <p:sp>
        <p:nvSpPr>
          <p:cNvPr id="9" name="TextBox 8">
            <a:extLst>
              <a:ext uri="{FF2B5EF4-FFF2-40B4-BE49-F238E27FC236}">
                <a16:creationId xmlns:a16="http://schemas.microsoft.com/office/drawing/2014/main" id="{334D3877-91F6-EC45-A31C-C65E18B10411}"/>
              </a:ext>
            </a:extLst>
          </p:cNvPr>
          <p:cNvSpPr txBox="1"/>
          <p:nvPr/>
        </p:nvSpPr>
        <p:spPr>
          <a:xfrm>
            <a:off x="4191000" y="4833491"/>
            <a:ext cx="9753602" cy="4031873"/>
          </a:xfrm>
          <a:prstGeom prst="rect">
            <a:avLst/>
          </a:prstGeom>
          <a:effectLst>
            <a:glow rad="139700">
              <a:schemeClr val="accent1">
                <a:satMod val="175000"/>
                <a:alpha val="40000"/>
              </a:schemeClr>
            </a:glow>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IN" sz="3200" b="1" dirty="0"/>
              <a:t>Mehul Parikh</a:t>
            </a:r>
          </a:p>
          <a:p>
            <a:endParaRPr lang="en-IN" sz="2800" b="1" dirty="0"/>
          </a:p>
          <a:p>
            <a:r>
              <a:rPr lang="en-IN" sz="2800" b="1" dirty="0"/>
              <a:t>Cell : +919867524600</a:t>
            </a:r>
          </a:p>
          <a:p>
            <a:endParaRPr lang="en-IN" sz="2800" b="1" dirty="0"/>
          </a:p>
          <a:p>
            <a:r>
              <a:rPr lang="en-IN" sz="2800" b="1" dirty="0">
                <a:hlinkClick r:id="rId3"/>
              </a:rPr>
              <a:t>Email : mehul@envadure.com</a:t>
            </a:r>
            <a:endParaRPr lang="en-IN" sz="2800" b="1" dirty="0"/>
          </a:p>
          <a:p>
            <a:endParaRPr lang="en-IN" sz="2800" b="1" dirty="0"/>
          </a:p>
          <a:p>
            <a:r>
              <a:rPr lang="en-IN" sz="2800" b="1" dirty="0"/>
              <a:t> Linked In : </a:t>
            </a:r>
            <a:r>
              <a:rPr lang="en-IN" sz="2800" b="1" dirty="0">
                <a:hlinkClick r:id="rId4"/>
              </a:rPr>
              <a:t>http://linkedin.com/in/mehul-parikh-47144579</a:t>
            </a:r>
            <a:endParaRPr lang="en-IN" sz="2800" b="1" dirty="0"/>
          </a:p>
          <a:p>
            <a:endParaRPr lang="en-IN" sz="2800" b="1" dirty="0"/>
          </a:p>
          <a:p>
            <a:endParaRPr lang="en-IN" sz="2800" b="1" dirty="0"/>
          </a:p>
        </p:txBody>
      </p:sp>
    </p:spTree>
    <p:extLst>
      <p:ext uri="{BB962C8B-B14F-4D97-AF65-F5344CB8AC3E}">
        <p14:creationId xmlns:p14="http://schemas.microsoft.com/office/powerpoint/2010/main" val="340016986"/>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ea60e84-eaf3-48a4-90ad-795360fb0878}" enabled="0" method="" siteId="{fea60e84-eaf3-48a4-90ad-795360fb0878}" removed="1"/>
</clbl:labelList>
</file>

<file path=docProps/app.xml><?xml version="1.0" encoding="utf-8"?>
<Properties xmlns="http://schemas.openxmlformats.org/officeDocument/2006/extended-properties" xmlns:vt="http://schemas.openxmlformats.org/officeDocument/2006/docPropsVTypes">
  <TotalTime>420</TotalTime>
  <Words>3640</Words>
  <Application>Microsoft Office PowerPoint</Application>
  <PresentationFormat>Custom</PresentationFormat>
  <Paragraphs>460</Paragraphs>
  <Slides>39</Slides>
  <Notes>24</Notes>
  <HiddenSlides>2</HiddenSlides>
  <MMClips>0</MMClips>
  <ScaleCrop>false</ScaleCrop>
  <HeadingPairs>
    <vt:vector size="4" baseType="variant">
      <vt:variant>
        <vt:lpstr>Theme</vt:lpstr>
      </vt:variant>
      <vt:variant>
        <vt:i4>2</vt:i4>
      </vt:variant>
      <vt:variant>
        <vt:lpstr>Slide Titles</vt:lpstr>
      </vt:variant>
      <vt:variant>
        <vt:i4>39</vt:i4>
      </vt:variant>
    </vt:vector>
  </HeadingPairs>
  <TitlesOfParts>
    <vt:vector size="41"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Het bharat-edge PPT</dc:title>
  <cp:lastModifiedBy>Mehul</cp:lastModifiedBy>
  <cp:revision>6</cp:revision>
  <dcterms:created xsi:type="dcterms:W3CDTF">2006-08-16T00:00:00Z</dcterms:created>
  <dcterms:modified xsi:type="dcterms:W3CDTF">2026-09-15T14:24:36Z</dcterms:modified>
  <dc:identifier>DAGiRAaG2qc</dc:identifier>
</cp:coreProperties>
</file>